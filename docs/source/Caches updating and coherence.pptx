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wdp" ContentType="image/vnd.ms-photo"/>
  <Default Extension="rels" ContentType="application/vnd.openxmlformats-package.relationship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32"/>
  </p:handoutMasterIdLst>
  <p:sldIdLst>
    <p:sldId id="450" r:id="rId3"/>
    <p:sldId id="564" r:id="rId4"/>
    <p:sldId id="565" r:id="rId5"/>
    <p:sldId id="595" r:id="rId6"/>
    <p:sldId id="570" r:id="rId7"/>
    <p:sldId id="568" r:id="rId9"/>
    <p:sldId id="567" r:id="rId10"/>
    <p:sldId id="569" r:id="rId11"/>
    <p:sldId id="576" r:id="rId12"/>
    <p:sldId id="574" r:id="rId13"/>
    <p:sldId id="575" r:id="rId14"/>
    <p:sldId id="578" r:id="rId15"/>
    <p:sldId id="573" r:id="rId16"/>
    <p:sldId id="580" r:id="rId17"/>
    <p:sldId id="581" r:id="rId18"/>
    <p:sldId id="582" r:id="rId19"/>
    <p:sldId id="583" r:id="rId20"/>
    <p:sldId id="584" r:id="rId21"/>
    <p:sldId id="585" r:id="rId22"/>
    <p:sldId id="586" r:id="rId23"/>
    <p:sldId id="587" r:id="rId24"/>
    <p:sldId id="588" r:id="rId25"/>
    <p:sldId id="589" r:id="rId26"/>
    <p:sldId id="590" r:id="rId27"/>
    <p:sldId id="591" r:id="rId28"/>
    <p:sldId id="592" r:id="rId29"/>
    <p:sldId id="594" r:id="rId30"/>
    <p:sldId id="28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AF8F19-A98D-4306-8D05-925D693429E1}">
          <p14:sldIdLst>
            <p14:sldId id="450"/>
            <p14:sldId id="564"/>
            <p14:sldId id="565"/>
            <p14:sldId id="595"/>
            <p14:sldId id="570"/>
            <p14:sldId id="568"/>
            <p14:sldId id="567"/>
            <p14:sldId id="569"/>
            <p14:sldId id="576"/>
            <p14:sldId id="574"/>
            <p14:sldId id="575"/>
            <p14:sldId id="578"/>
            <p14:sldId id="573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4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5E2"/>
    <a:srgbClr val="C7D1F6"/>
    <a:srgbClr val="FF0000"/>
    <a:srgbClr val="FFFFFF"/>
    <a:srgbClr val="6A7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60" autoAdjust="0"/>
    <p:restoredTop sz="94830" autoAdjust="0"/>
  </p:normalViewPr>
  <p:slideViewPr>
    <p:cSldViewPr snapToGrid="0">
      <p:cViewPr varScale="1">
        <p:scale>
          <a:sx n="99" d="100"/>
          <a:sy n="99" d="100"/>
        </p:scale>
        <p:origin x="84" y="1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customXml" Target="../customXml/item3.xml"/><Relationship Id="rId37" Type="http://schemas.openxmlformats.org/officeDocument/2006/relationships/customXml" Target="../customXml/item2.xml"/><Relationship Id="rId36" Type="http://schemas.openxmlformats.org/officeDocument/2006/relationships/customXml" Target="../customXml/item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33153-B655-49EB-9F9D-A9ADEAD8C496}" type="datetimeFigureOut">
              <a:rPr lang="en-GB" smtClean="0"/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ECE9A-F9C5-4EAB-9FF4-628C47C65939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C5FB7-0978-4880-BA7C-A0472742D08A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792BD-9991-4432-9E03-07094AD3ECD8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792BD-9991-4432-9E03-07094AD3ECD8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BC60F-F4BF-4EE8-9F02-8A0093F1814F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End Slide - Ful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16467" y="4142424"/>
            <a:ext cx="11159067" cy="612775"/>
          </a:xfrm>
        </p:spPr>
        <p:txBody>
          <a:bodyPr anchor="ctr" anchorCtr="0">
            <a:normAutofit/>
          </a:bodyPr>
          <a:lstStyle>
            <a:lvl1pPr algn="ctr">
              <a:defRPr sz="2400"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Insert URL</a:t>
            </a:r>
            <a:endParaRPr lang="en-US" dirty="0"/>
          </a:p>
        </p:txBody>
      </p:sp>
      <p:pic>
        <p:nvPicPr>
          <p:cNvPr id="2" name="Picture 7" descr="DII-CSU logo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616" y="2983761"/>
            <a:ext cx="4535926" cy="788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End Slide - Sh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63385" y="4232732"/>
            <a:ext cx="5465233" cy="424732"/>
          </a:xfrm>
          <a:prstGeom prst="rect">
            <a:avLst/>
          </a:prstGeom>
        </p:spPr>
        <p:txBody>
          <a:bodyPr vert="horz" lIns="0" tIns="45720" rIns="0" bIns="45720" rtlCol="0" anchor="ctr" anchorCtr="0">
            <a:normAutofit/>
          </a:bodyPr>
          <a:lstStyle>
            <a:lvl1pPr lvl="0" indent="0" algn="ctr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Calibri" panose="020F0502020204030204" pitchFamily="34" charset="0"/>
              <a:buNone/>
              <a:defRPr sz="2400" b="1" baseline="0">
                <a:solidFill>
                  <a:schemeClr val="accent1"/>
                </a:solidFill>
                <a:cs typeface="Arial" panose="020B0604020202020204" pitchFamily="34" charset="0"/>
              </a:defRPr>
            </a:lvl1pPr>
            <a:lvl2pPr marL="0" indent="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None/>
              <a:defRPr sz="2000"/>
            </a:lvl2pPr>
            <a:lvl3pPr marL="713105" indent="-35560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1079500" indent="-36703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  <a:defRPr sz="1600"/>
            </a:lvl4pPr>
            <a:lvl5pPr marL="1435100" indent="-35560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algn="ctr" defTabSz="457200" rtl="0" eaLnBrk="1" latinLnBrk="0" hangingPunct="1"/>
            <a:r>
              <a:rPr lang="en-GB" altLang="zh-CN" sz="24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rPr>
              <a:t>dii.csu.edu.cn</a:t>
            </a:r>
            <a:endParaRPr lang="en-GB" altLang="zh-CN" sz="2400" b="1" kern="1200" dirty="0">
              <a:solidFill>
                <a:schemeClr val="accent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" name="Picture 7" descr="DII-CSU logo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616" y="2983761"/>
            <a:ext cx="4535926" cy="788857"/>
          </a:xfrm>
          <a:prstGeom prst="rect">
            <a:avLst/>
          </a:prstGeom>
        </p:spPr>
      </p:pic>
      <p:sp>
        <p:nvSpPr>
          <p:cNvPr id="3" name="TextBox 4"/>
          <p:cNvSpPr txBox="1"/>
          <p:nvPr userDrawn="1"/>
        </p:nvSpPr>
        <p:spPr>
          <a:xfrm>
            <a:off x="3363388" y="4232732"/>
            <a:ext cx="5465233" cy="424732"/>
          </a:xfrm>
          <a:prstGeom prst="rect">
            <a:avLst/>
          </a:prstGeom>
        </p:spPr>
        <p:txBody>
          <a:bodyPr vert="horz" lIns="0" tIns="45720" rIns="0" bIns="45720" rtlCol="0" anchor="ctr" anchorCtr="0">
            <a:normAutofit/>
          </a:bodyPr>
          <a:lstStyle>
            <a:lvl1pPr lvl="0" indent="0" algn="ctr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Calibri" panose="020F0502020204030204" pitchFamily="34" charset="0"/>
              <a:buNone/>
              <a:defRPr sz="2400" b="1" baseline="0">
                <a:solidFill>
                  <a:schemeClr val="accent1"/>
                </a:solidFill>
                <a:cs typeface="Arial" panose="020B0604020202020204" pitchFamily="34" charset="0"/>
              </a:defRPr>
            </a:lvl1pPr>
            <a:lvl2pPr marL="0" indent="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None/>
              <a:defRPr sz="2000"/>
            </a:lvl2pPr>
            <a:lvl3pPr marL="713105" indent="-35560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1079500" indent="-36703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  <a:defRPr sz="1600"/>
            </a:lvl4pPr>
            <a:lvl5pPr marL="1435100" indent="-35560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2400" dirty="0">
                <a:cs typeface="Arial Unicode MS" panose="020B0604020202020204" pitchFamily="34" charset="-128"/>
              </a:rPr>
              <a:t>dii.csu.edu.cn</a:t>
            </a:r>
            <a:endParaRPr lang="en-GB" sz="2400" dirty="0">
              <a:cs typeface="Arial Unicode MS" panose="020B060402020202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Science &amp; 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  <a:endParaRPr lang="en-US" dirty="0"/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zh-CN" altLang="en-US"/>
              <a:t>单击图标添加图片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8" y="1754189"/>
            <a:ext cx="8061063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zh-CN" altLang="en-US"/>
              <a:t>单击图标添加图片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89BC60F-F4BF-4EE8-9F02-8A0093F1814F}" type="slidenum">
              <a:rPr lang="en-GB" smtClean="0"/>
            </a:fld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TextBox 16"/>
          <p:cNvSpPr txBox="1">
            <a:spLocks noChangeAspect="1"/>
          </p:cNvSpPr>
          <p:nvPr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rPr>
              <a:t>Page</a:t>
            </a:r>
            <a:endParaRPr lang="en-GB" sz="1000" b="1" kern="1200" dirty="0">
              <a:solidFill>
                <a:schemeClr val="accent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TextBox 18"/>
          <p:cNvSpPr txBox="1">
            <a:spLocks noChangeAspect="1"/>
          </p:cNvSpPr>
          <p:nvPr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altLang="zh-CN" sz="10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rPr>
              <a:t>dii.csu.edu.cn</a:t>
            </a:r>
            <a:endParaRPr lang="en-GB" altLang="zh-CN" sz="1000" b="1" kern="1200" dirty="0">
              <a:solidFill>
                <a:schemeClr val="accent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99825" y="2240995"/>
            <a:ext cx="667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chemeClr val="accent2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Dundee International Institute </a:t>
            </a:r>
            <a:endParaRPr lang="en-US" altLang="zh-CN" b="0" i="0" dirty="0">
              <a:solidFill>
                <a:schemeClr val="accent2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0" i="0" dirty="0">
                <a:solidFill>
                  <a:schemeClr val="accent2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of Central South University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</a:fld>
            <a:endParaRPr lang="en-GB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1983085" y="365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End Slide - Ful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16467" y="4142424"/>
            <a:ext cx="11159067" cy="612775"/>
          </a:xfrm>
        </p:spPr>
        <p:txBody>
          <a:bodyPr anchor="ctr" anchorCtr="0">
            <a:normAutofit/>
          </a:bodyPr>
          <a:lstStyle>
            <a:lvl1pPr algn="ctr">
              <a:defRPr sz="2400"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Insert URL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2563" y="2648937"/>
            <a:ext cx="4806420" cy="2733773"/>
          </a:xfrm>
        </p:spPr>
        <p:txBody>
          <a:bodyPr tIns="0" bIns="0" anchor="t" anchorCtr="0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2" name="Picture Placeholder 21"/>
          <p:cNvSpPr>
            <a:spLocks noGrp="1" noChangeAspect="1"/>
          </p:cNvSpPr>
          <p:nvPr>
            <p:ph type="pic" sz="quarter" idx="13"/>
          </p:nvPr>
        </p:nvSpPr>
        <p:spPr>
          <a:xfrm>
            <a:off x="516467" y="1593850"/>
            <a:ext cx="11675533" cy="4686300"/>
          </a:xfrm>
          <a:custGeom>
            <a:avLst/>
            <a:gdLst>
              <a:gd name="connsiteX0" fmla="*/ 2082800 w 8756650"/>
              <a:gd name="connsiteY0" fmla="*/ 692843 h 4686300"/>
              <a:gd name="connsiteX1" fmla="*/ 2082800 w 8756650"/>
              <a:gd name="connsiteY1" fmla="*/ 4120573 h 4686300"/>
              <a:gd name="connsiteX2" fmla="*/ 6276975 w 8756650"/>
              <a:gd name="connsiteY2" fmla="*/ 4120573 h 4686300"/>
              <a:gd name="connsiteX3" fmla="*/ 6276975 w 8756650"/>
              <a:gd name="connsiteY3" fmla="*/ 692843 h 4686300"/>
              <a:gd name="connsiteX4" fmla="*/ 0 w 8756650"/>
              <a:gd name="connsiteY4" fmla="*/ 0 h 4686300"/>
              <a:gd name="connsiteX5" fmla="*/ 8756650 w 8756650"/>
              <a:gd name="connsiteY5" fmla="*/ 0 h 4686300"/>
              <a:gd name="connsiteX6" fmla="*/ 8756650 w 8756650"/>
              <a:gd name="connsiteY6" fmla="*/ 4686300 h 4686300"/>
              <a:gd name="connsiteX7" fmla="*/ 0 w 8756650"/>
              <a:gd name="connsiteY7" fmla="*/ 468630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6650" h="4686300">
                <a:moveTo>
                  <a:pt x="2082800" y="692843"/>
                </a:moveTo>
                <a:lnTo>
                  <a:pt x="2082800" y="4120573"/>
                </a:lnTo>
                <a:lnTo>
                  <a:pt x="6276975" y="4120573"/>
                </a:lnTo>
                <a:lnTo>
                  <a:pt x="6276975" y="692843"/>
                </a:lnTo>
                <a:close/>
                <a:moveTo>
                  <a:pt x="0" y="0"/>
                </a:moveTo>
                <a:lnTo>
                  <a:pt x="8756650" y="0"/>
                </a:lnTo>
                <a:lnTo>
                  <a:pt x="8756650" y="4686300"/>
                </a:lnTo>
                <a:lnTo>
                  <a:pt x="0" y="46863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7" name="TextBox 6"/>
          <p:cNvSpPr txBox="1">
            <a:spLocks noChangeAspect="1"/>
          </p:cNvSpPr>
          <p:nvPr userDrawn="1"/>
        </p:nvSpPr>
        <p:spPr>
          <a:xfrm>
            <a:off x="516469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  <a:endParaRPr lang="en-GB" sz="1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spect="1"/>
          </p:cNvSpPr>
          <p:nvPr userDrawn="1"/>
        </p:nvSpPr>
        <p:spPr>
          <a:xfrm>
            <a:off x="10589100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  <a:endParaRPr lang="en-GB" sz="10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670" y="127000"/>
            <a:ext cx="10529570" cy="90995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255" y="1082040"/>
            <a:ext cx="11158855" cy="51612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4960" y="6388155"/>
            <a:ext cx="902208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1440" y="6386512"/>
            <a:ext cx="34544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fld id="{E89BC60F-F4BF-4EE8-9F02-8A0093F1814F}" type="slidenum">
              <a:rPr lang="en-GB" smtClean="0"/>
            </a:fld>
            <a:endParaRPr lang="en-GB" dirty="0"/>
          </a:p>
        </p:txBody>
      </p:sp>
      <p:sp>
        <p:nvSpPr>
          <p:cNvPr id="10" name="TextBox 9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rPr>
              <a:t>Page</a:t>
            </a:r>
            <a:endParaRPr lang="en-GB" sz="1000" b="1" kern="1200" dirty="0">
              <a:solidFill>
                <a:schemeClr val="accent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altLang="zh-CN" sz="10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rPr>
              <a:t>dii.csu.edu.cn</a:t>
            </a:r>
            <a:endParaRPr lang="en-GB" altLang="zh-CN" sz="1000" b="1" kern="1200" dirty="0">
              <a:solidFill>
                <a:schemeClr val="accent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08456" y="6285984"/>
            <a:ext cx="11175088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1"/>
          <p:cNvCxnSpPr/>
          <p:nvPr userDrawn="1"/>
        </p:nvCxnSpPr>
        <p:spPr>
          <a:xfrm>
            <a:off x="508456" y="6285984"/>
            <a:ext cx="11175088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1"/>
          <p:cNvCxnSpPr/>
          <p:nvPr userDrawn="1"/>
        </p:nvCxnSpPr>
        <p:spPr>
          <a:xfrm>
            <a:off x="533856" y="914519"/>
            <a:ext cx="11175088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00000"/>
        </a:lnSpc>
        <a:spcBef>
          <a:spcPts val="1000"/>
        </a:spcBef>
        <a:buClr>
          <a:schemeClr val="tx1"/>
        </a:buClr>
        <a:buFont typeface="Calibri" panose="020F0502020204030204" pitchFamily="34" charset="0"/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357505" indent="-357505" algn="l" defTabSz="914400" rtl="0" eaLnBrk="1" fontAlgn="auto" latinLnBrk="0" hangingPunct="1">
        <a:lnSpc>
          <a:spcPct val="100000"/>
        </a:lnSpc>
        <a:spcBef>
          <a:spcPts val="500"/>
        </a:spcBef>
        <a:buClr>
          <a:schemeClr val="tx1"/>
        </a:buClr>
        <a:buSzPct val="90000"/>
        <a:buFont typeface="Calibri" panose="020F0502020204030204" pitchFamily="34" charset="0"/>
        <a:buChar char="→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713105" indent="-355600" algn="l" defTabSz="914400" rtl="0" eaLnBrk="1" fontAlgn="auto" latinLnBrk="0" hangingPunct="1">
        <a:lnSpc>
          <a:spcPct val="100000"/>
        </a:lnSpc>
        <a:spcBef>
          <a:spcPts val="500"/>
        </a:spcBef>
        <a:buClr>
          <a:schemeClr val="tx1"/>
        </a:buClr>
        <a:buSzPct val="90000"/>
        <a:buFont typeface="Calibri" panose="020F0502020204030204" pitchFamily="34" charset="0"/>
        <a:buChar char="→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079500" indent="-367030" algn="l" defTabSz="914400" rtl="0" eaLnBrk="1" fontAlgn="auto" latinLnBrk="0" hangingPunct="1">
        <a:lnSpc>
          <a:spcPct val="100000"/>
        </a:lnSpc>
        <a:spcBef>
          <a:spcPts val="500"/>
        </a:spcBef>
        <a:buClr>
          <a:schemeClr val="tx1"/>
        </a:buClr>
        <a:buSzPct val="90000"/>
        <a:buFont typeface="Calibri" panose="020F0502020204030204" pitchFamily="34" charset="0"/>
        <a:buChar char="→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435100" indent="-355600" algn="l" defTabSz="914400" rtl="0" eaLnBrk="1" fontAlgn="auto" latinLnBrk="0" hangingPunct="1">
        <a:lnSpc>
          <a:spcPct val="100000"/>
        </a:lnSpc>
        <a:spcBef>
          <a:spcPts val="500"/>
        </a:spcBef>
        <a:buClr>
          <a:schemeClr val="tx1"/>
        </a:buClr>
        <a:buSzPct val="90000"/>
        <a:buFont typeface="Calibri" panose="020F0502020204030204" pitchFamily="34" charset="0"/>
        <a:buChar char="→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GIF"/><Relationship Id="rId1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Caches Updating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/>
              <a:t>DI22004</a:t>
            </a:r>
            <a:br>
              <a:rPr lang="en-GB" dirty="0"/>
            </a:br>
            <a:r>
              <a:rPr lang="en-US" b="1" dirty="0">
                <a:solidFill>
                  <a:schemeClr val="tx1"/>
                </a:solidFill>
              </a:rPr>
              <a:t>Computer Systems 2B</a:t>
            </a:r>
            <a:endParaRPr lang="en-GB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i="1" dirty="0"/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sz="quarter" idx="2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9" b="12559"/>
          <a:stretch>
            <a:fillRect/>
          </a:stretch>
        </p:blipFill>
        <p:spPr/>
      </p:pic>
      <p:pic>
        <p:nvPicPr>
          <p:cNvPr id="10" name="Picture Placeholder 9"/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208" y="1755152"/>
            <a:ext cx="6045797" cy="4522446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</a:fld>
            <a:endParaRPr lang="en-GB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09503" y="2847689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4365E2"/>
                </a:solidFill>
              </a:rPr>
              <a:t>DII CSU</a:t>
            </a:r>
            <a:endParaRPr lang="zh-CN" altLang="en-US" sz="2800" dirty="0">
              <a:solidFill>
                <a:srgbClr val="4365E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Revision: the cache</a:t>
            </a:r>
            <a:endParaRPr lang="en-GB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800735" y="1127125"/>
            <a:ext cx="10792460" cy="5153025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GB" dirty="0"/>
              <a:t>a </a:t>
            </a:r>
            <a:r>
              <a:rPr lang="en-GB" dirty="0">
                <a:solidFill>
                  <a:srgbClr val="4365E2"/>
                </a:solidFill>
              </a:rPr>
              <a:t>small</a:t>
            </a:r>
            <a:r>
              <a:rPr lang="en-GB" dirty="0"/>
              <a:t> but </a:t>
            </a:r>
            <a:r>
              <a:rPr lang="en-GB" dirty="0">
                <a:solidFill>
                  <a:srgbClr val="4365E2"/>
                </a:solidFill>
              </a:rPr>
              <a:t>very fast </a:t>
            </a:r>
            <a:r>
              <a:rPr lang="en-GB" dirty="0"/>
              <a:t>area of memory close to the processor</a:t>
            </a:r>
            <a:endParaRPr lang="en-GB" dirty="0"/>
          </a:p>
          <a:p>
            <a:pPr lvl="1">
              <a:defRPr/>
            </a:pPr>
            <a:r>
              <a:rPr lang="en-US" dirty="0"/>
              <a:t>multi-level</a:t>
            </a:r>
            <a:endParaRPr lang="en-US" dirty="0"/>
          </a:p>
          <a:p>
            <a:pPr lvl="1">
              <a:defRPr/>
            </a:pPr>
            <a:r>
              <a:rPr lang="en-US" dirty="0"/>
              <a:t>functions </a:t>
            </a:r>
            <a:r>
              <a:rPr lang="en-US" dirty="0">
                <a:solidFill>
                  <a:srgbClr val="4365E2"/>
                </a:solidFill>
              </a:rPr>
              <a:t>automatically</a:t>
            </a:r>
            <a:r>
              <a:rPr lang="en-US" dirty="0"/>
              <a:t>, and is </a:t>
            </a:r>
            <a:r>
              <a:rPr lang="en-US" i="1" dirty="0"/>
              <a:t>invisible</a:t>
            </a:r>
            <a:r>
              <a:rPr lang="en-US" dirty="0"/>
              <a:t> to the processor (</a:t>
            </a:r>
            <a:r>
              <a:rPr lang="en-US" i="1" dirty="0"/>
              <a:t>and</a:t>
            </a:r>
            <a:r>
              <a:rPr lang="en-US" dirty="0"/>
              <a:t> OS </a:t>
            </a:r>
            <a:r>
              <a:rPr lang="en-US" i="1" dirty="0"/>
              <a:t>and</a:t>
            </a:r>
            <a:r>
              <a:rPr lang="en-US" dirty="0"/>
              <a:t> user)</a:t>
            </a:r>
            <a:endParaRPr lang="en-US" dirty="0"/>
          </a:p>
          <a:p>
            <a:pPr lvl="1">
              <a:defRPr/>
            </a:pPr>
            <a:r>
              <a:rPr lang="en-US" dirty="0"/>
              <a:t>main memory is </a:t>
            </a:r>
            <a:r>
              <a:rPr lang="en-US" dirty="0">
                <a:solidFill>
                  <a:srgbClr val="4365E2"/>
                </a:solidFill>
              </a:rPr>
              <a:t>mapped</a:t>
            </a:r>
            <a:r>
              <a:rPr lang="en-US" dirty="0"/>
              <a:t> into the cache in some way – usually </a:t>
            </a:r>
            <a:r>
              <a:rPr lang="en-US" i="1" dirty="0">
                <a:solidFill>
                  <a:srgbClr val="FF0000"/>
                </a:solidFill>
              </a:rPr>
              <a:t>set-associative</a:t>
            </a:r>
            <a:endParaRPr lang="en-US" i="1" dirty="0"/>
          </a:p>
          <a:p>
            <a:pPr lvl="1">
              <a:defRPr/>
            </a:pPr>
            <a:r>
              <a:rPr lang="en-GB" dirty="0"/>
              <a:t>fetches can result in a cache </a:t>
            </a:r>
            <a:r>
              <a:rPr lang="en-GB" dirty="0">
                <a:solidFill>
                  <a:srgbClr val="4365E2"/>
                </a:solidFill>
              </a:rPr>
              <a:t>hit</a:t>
            </a:r>
            <a:r>
              <a:rPr lang="en-GB" dirty="0"/>
              <a:t> (this address already fetched) or </a:t>
            </a:r>
            <a:r>
              <a:rPr lang="en-GB" dirty="0">
                <a:solidFill>
                  <a:srgbClr val="4365E2"/>
                </a:solidFill>
              </a:rPr>
              <a:t>miss</a:t>
            </a:r>
            <a:r>
              <a:rPr lang="en-GB" dirty="0"/>
              <a:t> (not fetched)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Some issues</a:t>
            </a:r>
            <a:endParaRPr lang="en-US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534035" y="1209040"/>
            <a:ext cx="10612755" cy="5118735"/>
          </a:xfrm>
        </p:spPr>
        <p:txBody>
          <a:bodyPr>
            <a:noAutofit/>
          </a:bodyPr>
          <a:lstStyle/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4365E2"/>
                </a:solidFill>
              </a:rPr>
              <a:t>Usage</a:t>
            </a:r>
            <a:r>
              <a:rPr lang="en-US" dirty="0"/>
              <a:t>: </a:t>
            </a:r>
            <a:endParaRPr lang="en-US" dirty="0"/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the cache must function</a:t>
            </a:r>
            <a:r>
              <a:rPr lang="en-US" i="1" dirty="0"/>
              <a:t> automatically</a:t>
            </a:r>
            <a:endParaRPr lang="en-US" i="1" dirty="0"/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CPU performs </a:t>
            </a:r>
            <a:r>
              <a:rPr lang="en-US" i="1" dirty="0"/>
              <a:t>more</a:t>
            </a:r>
            <a:r>
              <a:rPr lang="en-US" dirty="0"/>
              <a:t> </a:t>
            </a:r>
            <a:r>
              <a:rPr lang="en-US" i="1" dirty="0"/>
              <a:t>reads</a:t>
            </a:r>
            <a:r>
              <a:rPr lang="en-US" dirty="0"/>
              <a:t> than writes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4365E2"/>
                </a:solidFill>
              </a:rPr>
              <a:t>Mapping</a:t>
            </a:r>
            <a:r>
              <a:rPr lang="en-US" dirty="0"/>
              <a:t>: the cache is typically &lt;1% of the main memory - so how do we map into it?</a:t>
            </a:r>
            <a:endParaRPr lang="en-US" dirty="0"/>
          </a:p>
          <a:p>
            <a:pPr marL="0" lvl="1">
              <a:lnSpc>
                <a:spcPct val="90000"/>
              </a:lnSpc>
              <a:defRPr/>
            </a:pPr>
            <a:r>
              <a:rPr lang="en-US" dirty="0">
                <a:solidFill>
                  <a:srgbClr val="4365E2"/>
                </a:solidFill>
                <a:sym typeface="+mn-ea"/>
              </a:rPr>
              <a:t>Updating</a:t>
            </a:r>
            <a:r>
              <a:rPr lang="en-US" dirty="0">
                <a:sym typeface="+mn-ea"/>
              </a:rPr>
              <a:t>: Normally the cache is </a:t>
            </a:r>
            <a:r>
              <a:rPr lang="en-US" i="1" dirty="0">
                <a:sym typeface="+mn-ea"/>
              </a:rPr>
              <a:t>full</a:t>
            </a:r>
            <a:r>
              <a:rPr lang="en-US" dirty="0">
                <a:sym typeface="+mn-ea"/>
              </a:rPr>
              <a:t> - so where do we put new data as we read it in?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4365E2"/>
                </a:solidFill>
              </a:rPr>
              <a:t>Coherence</a:t>
            </a:r>
            <a:r>
              <a:rPr lang="en-US" dirty="0"/>
              <a:t>: the cache contains a copy of memory locations, and integrity </a:t>
            </a:r>
            <a:r>
              <a:rPr lang="en-US" i="1" dirty="0"/>
              <a:t>MUST</a:t>
            </a:r>
            <a:r>
              <a:rPr lang="en-US" dirty="0"/>
              <a:t> be maintained in use (with no user intervention)</a:t>
            </a:r>
            <a:endParaRPr lang="en-US" dirty="0"/>
          </a:p>
          <a:p>
            <a:pPr lvl="1"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grpSp>
        <p:nvGrpSpPr>
          <p:cNvPr id="8196" name="Group 36"/>
          <p:cNvGrpSpPr/>
          <p:nvPr/>
        </p:nvGrpSpPr>
        <p:grpSpPr bwMode="auto">
          <a:xfrm>
            <a:off x="474174" y="1472672"/>
            <a:ext cx="431800" cy="442913"/>
            <a:chOff x="3840" y="2208"/>
            <a:chExt cx="239" cy="279"/>
          </a:xfrm>
        </p:grpSpPr>
        <p:sp>
          <p:nvSpPr>
            <p:cNvPr id="8200" name="Freeform 29"/>
            <p:cNvSpPr/>
            <p:nvPr/>
          </p:nvSpPr>
          <p:spPr bwMode="auto">
            <a:xfrm>
              <a:off x="3852" y="2227"/>
              <a:ext cx="227" cy="260"/>
            </a:xfrm>
            <a:custGeom>
              <a:avLst/>
              <a:gdLst>
                <a:gd name="T0" fmla="*/ 0 w 3861"/>
                <a:gd name="T1" fmla="*/ 0 h 4430"/>
                <a:gd name="T2" fmla="*/ 0 w 3861"/>
                <a:gd name="T3" fmla="*/ 0 h 4430"/>
                <a:gd name="T4" fmla="*/ 0 w 3861"/>
                <a:gd name="T5" fmla="*/ 0 h 4430"/>
                <a:gd name="T6" fmla="*/ 0 w 3861"/>
                <a:gd name="T7" fmla="*/ 0 h 4430"/>
                <a:gd name="T8" fmla="*/ 0 w 3861"/>
                <a:gd name="T9" fmla="*/ 0 h 4430"/>
                <a:gd name="T10" fmla="*/ 0 w 3861"/>
                <a:gd name="T11" fmla="*/ 0 h 4430"/>
                <a:gd name="T12" fmla="*/ 0 w 3861"/>
                <a:gd name="T13" fmla="*/ 0 h 4430"/>
                <a:gd name="T14" fmla="*/ 0 w 3861"/>
                <a:gd name="T15" fmla="*/ 0 h 4430"/>
                <a:gd name="T16" fmla="*/ 0 w 3861"/>
                <a:gd name="T17" fmla="*/ 0 h 4430"/>
                <a:gd name="T18" fmla="*/ 0 w 3861"/>
                <a:gd name="T19" fmla="*/ 0 h 4430"/>
                <a:gd name="T20" fmla="*/ 0 w 3861"/>
                <a:gd name="T21" fmla="*/ 0 h 4430"/>
                <a:gd name="T22" fmla="*/ 0 w 3861"/>
                <a:gd name="T23" fmla="*/ 0 h 4430"/>
                <a:gd name="T24" fmla="*/ 0 w 3861"/>
                <a:gd name="T25" fmla="*/ 0 h 4430"/>
                <a:gd name="T26" fmla="*/ 0 w 3861"/>
                <a:gd name="T27" fmla="*/ 0 h 4430"/>
                <a:gd name="T28" fmla="*/ 0 w 3861"/>
                <a:gd name="T29" fmla="*/ 0 h 4430"/>
                <a:gd name="T30" fmla="*/ 0 w 3861"/>
                <a:gd name="T31" fmla="*/ 0 h 4430"/>
                <a:gd name="T32" fmla="*/ 0 w 3861"/>
                <a:gd name="T33" fmla="*/ 0 h 4430"/>
                <a:gd name="T34" fmla="*/ 0 w 3861"/>
                <a:gd name="T35" fmla="*/ 0 h 4430"/>
                <a:gd name="T36" fmla="*/ 0 w 3861"/>
                <a:gd name="T37" fmla="*/ 0 h 4430"/>
                <a:gd name="T38" fmla="*/ 0 w 3861"/>
                <a:gd name="T39" fmla="*/ 0 h 4430"/>
                <a:gd name="T40" fmla="*/ 0 w 3861"/>
                <a:gd name="T41" fmla="*/ 0 h 4430"/>
                <a:gd name="T42" fmla="*/ 0 w 3861"/>
                <a:gd name="T43" fmla="*/ 0 h 4430"/>
                <a:gd name="T44" fmla="*/ 0 w 3861"/>
                <a:gd name="T45" fmla="*/ 0 h 4430"/>
                <a:gd name="T46" fmla="*/ 0 w 3861"/>
                <a:gd name="T47" fmla="*/ 0 h 4430"/>
                <a:gd name="T48" fmla="*/ 0 w 3861"/>
                <a:gd name="T49" fmla="*/ 0 h 4430"/>
                <a:gd name="T50" fmla="*/ 0 w 3861"/>
                <a:gd name="T51" fmla="*/ 0 h 4430"/>
                <a:gd name="T52" fmla="*/ 0 w 3861"/>
                <a:gd name="T53" fmla="*/ 0 h 4430"/>
                <a:gd name="T54" fmla="*/ 0 w 3861"/>
                <a:gd name="T55" fmla="*/ 0 h 4430"/>
                <a:gd name="T56" fmla="*/ 0 w 3861"/>
                <a:gd name="T57" fmla="*/ 0 h 4430"/>
                <a:gd name="T58" fmla="*/ 0 w 3861"/>
                <a:gd name="T59" fmla="*/ 0 h 4430"/>
                <a:gd name="T60" fmla="*/ 0 w 3861"/>
                <a:gd name="T61" fmla="*/ 0 h 4430"/>
                <a:gd name="T62" fmla="*/ 0 w 3861"/>
                <a:gd name="T63" fmla="*/ 0 h 4430"/>
                <a:gd name="T64" fmla="*/ 0 w 3861"/>
                <a:gd name="T65" fmla="*/ 0 h 4430"/>
                <a:gd name="T66" fmla="*/ 0 w 3861"/>
                <a:gd name="T67" fmla="*/ 0 h 4430"/>
                <a:gd name="T68" fmla="*/ 0 w 3861"/>
                <a:gd name="T69" fmla="*/ 0 h 4430"/>
                <a:gd name="T70" fmla="*/ 0 w 3861"/>
                <a:gd name="T71" fmla="*/ 0 h 4430"/>
                <a:gd name="T72" fmla="*/ 0 w 3861"/>
                <a:gd name="T73" fmla="*/ 0 h 4430"/>
                <a:gd name="T74" fmla="*/ 0 w 3861"/>
                <a:gd name="T75" fmla="*/ 0 h 4430"/>
                <a:gd name="T76" fmla="*/ 0 w 3861"/>
                <a:gd name="T77" fmla="*/ 0 h 4430"/>
                <a:gd name="T78" fmla="*/ 0 w 3861"/>
                <a:gd name="T79" fmla="*/ 0 h 4430"/>
                <a:gd name="T80" fmla="*/ 0 w 3861"/>
                <a:gd name="T81" fmla="*/ 0 h 4430"/>
                <a:gd name="T82" fmla="*/ 0 w 3861"/>
                <a:gd name="T83" fmla="*/ 0 h 4430"/>
                <a:gd name="T84" fmla="*/ 0 w 3861"/>
                <a:gd name="T85" fmla="*/ 0 h 4430"/>
                <a:gd name="T86" fmla="*/ 0 w 3861"/>
                <a:gd name="T87" fmla="*/ 0 h 4430"/>
                <a:gd name="T88" fmla="*/ 0 w 3861"/>
                <a:gd name="T89" fmla="*/ 0 h 4430"/>
                <a:gd name="T90" fmla="*/ 0 w 3861"/>
                <a:gd name="T91" fmla="*/ 0 h 4430"/>
                <a:gd name="T92" fmla="*/ 0 w 3861"/>
                <a:gd name="T93" fmla="*/ 0 h 4430"/>
                <a:gd name="T94" fmla="*/ 0 w 3861"/>
                <a:gd name="T95" fmla="*/ 0 h 4430"/>
                <a:gd name="T96" fmla="*/ 0 w 3861"/>
                <a:gd name="T97" fmla="*/ 0 h 4430"/>
                <a:gd name="T98" fmla="*/ 0 w 3861"/>
                <a:gd name="T99" fmla="*/ 0 h 4430"/>
                <a:gd name="T100" fmla="*/ 0 w 3861"/>
                <a:gd name="T101" fmla="*/ 0 h 4430"/>
                <a:gd name="T102" fmla="*/ 0 w 3861"/>
                <a:gd name="T103" fmla="*/ 0 h 4430"/>
                <a:gd name="T104" fmla="*/ 0 w 3861"/>
                <a:gd name="T105" fmla="*/ 0 h 4430"/>
                <a:gd name="T106" fmla="*/ 0 w 3861"/>
                <a:gd name="T107" fmla="*/ 0 h 4430"/>
                <a:gd name="T108" fmla="*/ 0 w 3861"/>
                <a:gd name="T109" fmla="*/ 0 h 4430"/>
                <a:gd name="T110" fmla="*/ 0 w 3861"/>
                <a:gd name="T111" fmla="*/ 0 h 4430"/>
                <a:gd name="T112" fmla="*/ 0 w 3861"/>
                <a:gd name="T113" fmla="*/ 0 h 4430"/>
                <a:gd name="T114" fmla="*/ 0 w 3861"/>
                <a:gd name="T115" fmla="*/ 0 h 44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61"/>
                <a:gd name="T175" fmla="*/ 0 h 4430"/>
                <a:gd name="T176" fmla="*/ 3861 w 3861"/>
                <a:gd name="T177" fmla="*/ 4430 h 443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61" h="4430">
                  <a:moveTo>
                    <a:pt x="3861" y="702"/>
                  </a:moveTo>
                  <a:lnTo>
                    <a:pt x="3637" y="855"/>
                  </a:lnTo>
                  <a:lnTo>
                    <a:pt x="3421" y="1017"/>
                  </a:lnTo>
                  <a:lnTo>
                    <a:pt x="3219" y="1195"/>
                  </a:lnTo>
                  <a:lnTo>
                    <a:pt x="3023" y="1386"/>
                  </a:lnTo>
                  <a:lnTo>
                    <a:pt x="2841" y="1581"/>
                  </a:lnTo>
                  <a:lnTo>
                    <a:pt x="2673" y="1794"/>
                  </a:lnTo>
                  <a:lnTo>
                    <a:pt x="2517" y="2013"/>
                  </a:lnTo>
                  <a:lnTo>
                    <a:pt x="2369" y="2242"/>
                  </a:lnTo>
                  <a:lnTo>
                    <a:pt x="2241" y="2480"/>
                  </a:lnTo>
                  <a:lnTo>
                    <a:pt x="2128" y="2723"/>
                  </a:lnTo>
                  <a:lnTo>
                    <a:pt x="2024" y="2975"/>
                  </a:lnTo>
                  <a:lnTo>
                    <a:pt x="1939" y="3231"/>
                  </a:lnTo>
                  <a:lnTo>
                    <a:pt x="1868" y="3491"/>
                  </a:lnTo>
                  <a:lnTo>
                    <a:pt x="1809" y="3758"/>
                  </a:lnTo>
                  <a:lnTo>
                    <a:pt x="1769" y="4020"/>
                  </a:lnTo>
                  <a:lnTo>
                    <a:pt x="1753" y="4200"/>
                  </a:lnTo>
                  <a:lnTo>
                    <a:pt x="1753" y="4177"/>
                  </a:lnTo>
                  <a:lnTo>
                    <a:pt x="1753" y="4430"/>
                  </a:lnTo>
                  <a:lnTo>
                    <a:pt x="1052" y="4209"/>
                  </a:lnTo>
                  <a:lnTo>
                    <a:pt x="991" y="4058"/>
                  </a:lnTo>
                  <a:lnTo>
                    <a:pt x="924" y="3909"/>
                  </a:lnTo>
                  <a:lnTo>
                    <a:pt x="830" y="3777"/>
                  </a:lnTo>
                  <a:lnTo>
                    <a:pt x="736" y="3647"/>
                  </a:lnTo>
                  <a:lnTo>
                    <a:pt x="619" y="3529"/>
                  </a:lnTo>
                  <a:lnTo>
                    <a:pt x="497" y="3423"/>
                  </a:lnTo>
                  <a:lnTo>
                    <a:pt x="368" y="3328"/>
                  </a:lnTo>
                  <a:lnTo>
                    <a:pt x="224" y="3251"/>
                  </a:lnTo>
                  <a:lnTo>
                    <a:pt x="73" y="3182"/>
                  </a:lnTo>
                  <a:lnTo>
                    <a:pt x="0" y="3156"/>
                  </a:lnTo>
                  <a:lnTo>
                    <a:pt x="484" y="2594"/>
                  </a:lnTo>
                  <a:lnTo>
                    <a:pt x="623" y="2694"/>
                  </a:lnTo>
                  <a:lnTo>
                    <a:pt x="766" y="2823"/>
                  </a:lnTo>
                  <a:lnTo>
                    <a:pt x="901" y="2959"/>
                  </a:lnTo>
                  <a:lnTo>
                    <a:pt x="1015" y="3108"/>
                  </a:lnTo>
                  <a:lnTo>
                    <a:pt x="1124" y="3262"/>
                  </a:lnTo>
                  <a:lnTo>
                    <a:pt x="1218" y="3430"/>
                  </a:lnTo>
                  <a:lnTo>
                    <a:pt x="1296" y="3603"/>
                  </a:lnTo>
                  <a:lnTo>
                    <a:pt x="1360" y="3783"/>
                  </a:lnTo>
                  <a:lnTo>
                    <a:pt x="1365" y="3770"/>
                  </a:lnTo>
                  <a:lnTo>
                    <a:pt x="1406" y="3475"/>
                  </a:lnTo>
                  <a:lnTo>
                    <a:pt x="1462" y="3182"/>
                  </a:lnTo>
                  <a:lnTo>
                    <a:pt x="1536" y="2898"/>
                  </a:lnTo>
                  <a:lnTo>
                    <a:pt x="1624" y="2612"/>
                  </a:lnTo>
                  <a:lnTo>
                    <a:pt x="1728" y="2335"/>
                  </a:lnTo>
                  <a:lnTo>
                    <a:pt x="1845" y="2063"/>
                  </a:lnTo>
                  <a:lnTo>
                    <a:pt x="1980" y="1798"/>
                  </a:lnTo>
                  <a:lnTo>
                    <a:pt x="2128" y="1535"/>
                  </a:lnTo>
                  <a:lnTo>
                    <a:pt x="2284" y="1290"/>
                  </a:lnTo>
                  <a:lnTo>
                    <a:pt x="2462" y="1045"/>
                  </a:lnTo>
                  <a:lnTo>
                    <a:pt x="2648" y="816"/>
                  </a:lnTo>
                  <a:lnTo>
                    <a:pt x="2847" y="593"/>
                  </a:lnTo>
                  <a:lnTo>
                    <a:pt x="3056" y="384"/>
                  </a:lnTo>
                  <a:lnTo>
                    <a:pt x="3278" y="189"/>
                  </a:lnTo>
                  <a:lnTo>
                    <a:pt x="3510" y="0"/>
                  </a:lnTo>
                  <a:lnTo>
                    <a:pt x="3861" y="70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8201" name="Freeform 30"/>
            <p:cNvSpPr/>
            <p:nvPr/>
          </p:nvSpPr>
          <p:spPr bwMode="auto">
            <a:xfrm>
              <a:off x="3840" y="2208"/>
              <a:ext cx="227" cy="260"/>
            </a:xfrm>
            <a:custGeom>
              <a:avLst/>
              <a:gdLst>
                <a:gd name="T0" fmla="*/ 0 w 3859"/>
                <a:gd name="T1" fmla="*/ 0 h 4432"/>
                <a:gd name="T2" fmla="*/ 0 w 3859"/>
                <a:gd name="T3" fmla="*/ 0 h 4432"/>
                <a:gd name="T4" fmla="*/ 0 w 3859"/>
                <a:gd name="T5" fmla="*/ 0 h 4432"/>
                <a:gd name="T6" fmla="*/ 0 w 3859"/>
                <a:gd name="T7" fmla="*/ 0 h 4432"/>
                <a:gd name="T8" fmla="*/ 0 w 3859"/>
                <a:gd name="T9" fmla="*/ 0 h 4432"/>
                <a:gd name="T10" fmla="*/ 0 w 3859"/>
                <a:gd name="T11" fmla="*/ 0 h 4432"/>
                <a:gd name="T12" fmla="*/ 0 w 3859"/>
                <a:gd name="T13" fmla="*/ 0 h 4432"/>
                <a:gd name="T14" fmla="*/ 0 w 3859"/>
                <a:gd name="T15" fmla="*/ 0 h 4432"/>
                <a:gd name="T16" fmla="*/ 0 w 3859"/>
                <a:gd name="T17" fmla="*/ 0 h 4432"/>
                <a:gd name="T18" fmla="*/ 0 w 3859"/>
                <a:gd name="T19" fmla="*/ 0 h 4432"/>
                <a:gd name="T20" fmla="*/ 0 w 3859"/>
                <a:gd name="T21" fmla="*/ 0 h 4432"/>
                <a:gd name="T22" fmla="*/ 0 w 3859"/>
                <a:gd name="T23" fmla="*/ 0 h 4432"/>
                <a:gd name="T24" fmla="*/ 0 w 3859"/>
                <a:gd name="T25" fmla="*/ 0 h 4432"/>
                <a:gd name="T26" fmla="*/ 0 w 3859"/>
                <a:gd name="T27" fmla="*/ 0 h 4432"/>
                <a:gd name="T28" fmla="*/ 0 w 3859"/>
                <a:gd name="T29" fmla="*/ 0 h 4432"/>
                <a:gd name="T30" fmla="*/ 0 w 3859"/>
                <a:gd name="T31" fmla="*/ 0 h 4432"/>
                <a:gd name="T32" fmla="*/ 0 w 3859"/>
                <a:gd name="T33" fmla="*/ 0 h 4432"/>
                <a:gd name="T34" fmla="*/ 0 w 3859"/>
                <a:gd name="T35" fmla="*/ 0 h 4432"/>
                <a:gd name="T36" fmla="*/ 0 w 3859"/>
                <a:gd name="T37" fmla="*/ 0 h 4432"/>
                <a:gd name="T38" fmla="*/ 0 w 3859"/>
                <a:gd name="T39" fmla="*/ 0 h 4432"/>
                <a:gd name="T40" fmla="*/ 0 w 3859"/>
                <a:gd name="T41" fmla="*/ 0 h 4432"/>
                <a:gd name="T42" fmla="*/ 0 w 3859"/>
                <a:gd name="T43" fmla="*/ 0 h 4432"/>
                <a:gd name="T44" fmla="*/ 0 w 3859"/>
                <a:gd name="T45" fmla="*/ 0 h 4432"/>
                <a:gd name="T46" fmla="*/ 0 w 3859"/>
                <a:gd name="T47" fmla="*/ 0 h 4432"/>
                <a:gd name="T48" fmla="*/ 0 w 3859"/>
                <a:gd name="T49" fmla="*/ 0 h 4432"/>
                <a:gd name="T50" fmla="*/ 0 w 3859"/>
                <a:gd name="T51" fmla="*/ 0 h 4432"/>
                <a:gd name="T52" fmla="*/ 0 w 3859"/>
                <a:gd name="T53" fmla="*/ 0 h 4432"/>
                <a:gd name="T54" fmla="*/ 0 w 3859"/>
                <a:gd name="T55" fmla="*/ 0 h 4432"/>
                <a:gd name="T56" fmla="*/ 0 w 3859"/>
                <a:gd name="T57" fmla="*/ 0 h 4432"/>
                <a:gd name="T58" fmla="*/ 0 w 3859"/>
                <a:gd name="T59" fmla="*/ 0 h 4432"/>
                <a:gd name="T60" fmla="*/ 0 w 3859"/>
                <a:gd name="T61" fmla="*/ 0 h 4432"/>
                <a:gd name="T62" fmla="*/ 0 w 3859"/>
                <a:gd name="T63" fmla="*/ 0 h 4432"/>
                <a:gd name="T64" fmla="*/ 0 w 3859"/>
                <a:gd name="T65" fmla="*/ 0 h 4432"/>
                <a:gd name="T66" fmla="*/ 0 w 3859"/>
                <a:gd name="T67" fmla="*/ 0 h 4432"/>
                <a:gd name="T68" fmla="*/ 0 w 3859"/>
                <a:gd name="T69" fmla="*/ 0 h 4432"/>
                <a:gd name="T70" fmla="*/ 0 w 3859"/>
                <a:gd name="T71" fmla="*/ 0 h 4432"/>
                <a:gd name="T72" fmla="*/ 0 w 3859"/>
                <a:gd name="T73" fmla="*/ 0 h 4432"/>
                <a:gd name="T74" fmla="*/ 0 w 3859"/>
                <a:gd name="T75" fmla="*/ 0 h 4432"/>
                <a:gd name="T76" fmla="*/ 0 w 3859"/>
                <a:gd name="T77" fmla="*/ 0 h 4432"/>
                <a:gd name="T78" fmla="*/ 0 w 3859"/>
                <a:gd name="T79" fmla="*/ 0 h 4432"/>
                <a:gd name="T80" fmla="*/ 0 w 3859"/>
                <a:gd name="T81" fmla="*/ 0 h 4432"/>
                <a:gd name="T82" fmla="*/ 0 w 3859"/>
                <a:gd name="T83" fmla="*/ 0 h 4432"/>
                <a:gd name="T84" fmla="*/ 0 w 3859"/>
                <a:gd name="T85" fmla="*/ 0 h 4432"/>
                <a:gd name="T86" fmla="*/ 0 w 3859"/>
                <a:gd name="T87" fmla="*/ 0 h 4432"/>
                <a:gd name="T88" fmla="*/ 0 w 3859"/>
                <a:gd name="T89" fmla="*/ 0 h 4432"/>
                <a:gd name="T90" fmla="*/ 0 w 3859"/>
                <a:gd name="T91" fmla="*/ 0 h 4432"/>
                <a:gd name="T92" fmla="*/ 0 w 3859"/>
                <a:gd name="T93" fmla="*/ 0 h 4432"/>
                <a:gd name="T94" fmla="*/ 0 w 3859"/>
                <a:gd name="T95" fmla="*/ 0 h 4432"/>
                <a:gd name="T96" fmla="*/ 0 w 3859"/>
                <a:gd name="T97" fmla="*/ 0 h 4432"/>
                <a:gd name="T98" fmla="*/ 0 w 3859"/>
                <a:gd name="T99" fmla="*/ 0 h 4432"/>
                <a:gd name="T100" fmla="*/ 0 w 3859"/>
                <a:gd name="T101" fmla="*/ 0 h 4432"/>
                <a:gd name="T102" fmla="*/ 0 w 3859"/>
                <a:gd name="T103" fmla="*/ 0 h 4432"/>
                <a:gd name="T104" fmla="*/ 0 w 3859"/>
                <a:gd name="T105" fmla="*/ 0 h 4432"/>
                <a:gd name="T106" fmla="*/ 0 w 3859"/>
                <a:gd name="T107" fmla="*/ 0 h 4432"/>
                <a:gd name="T108" fmla="*/ 0 w 3859"/>
                <a:gd name="T109" fmla="*/ 0 h 4432"/>
                <a:gd name="T110" fmla="*/ 0 w 3859"/>
                <a:gd name="T111" fmla="*/ 0 h 4432"/>
                <a:gd name="T112" fmla="*/ 0 w 3859"/>
                <a:gd name="T113" fmla="*/ 0 h 4432"/>
                <a:gd name="T114" fmla="*/ 0 w 3859"/>
                <a:gd name="T115" fmla="*/ 0 h 443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59"/>
                <a:gd name="T175" fmla="*/ 0 h 4432"/>
                <a:gd name="T176" fmla="*/ 3859 w 3859"/>
                <a:gd name="T177" fmla="*/ 4432 h 443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59" h="4432">
                  <a:moveTo>
                    <a:pt x="3859" y="700"/>
                  </a:moveTo>
                  <a:lnTo>
                    <a:pt x="3634" y="856"/>
                  </a:lnTo>
                  <a:lnTo>
                    <a:pt x="3423" y="1017"/>
                  </a:lnTo>
                  <a:lnTo>
                    <a:pt x="3217" y="1195"/>
                  </a:lnTo>
                  <a:lnTo>
                    <a:pt x="3020" y="1384"/>
                  </a:lnTo>
                  <a:lnTo>
                    <a:pt x="2839" y="1585"/>
                  </a:lnTo>
                  <a:lnTo>
                    <a:pt x="2669" y="1795"/>
                  </a:lnTo>
                  <a:lnTo>
                    <a:pt x="2513" y="2016"/>
                  </a:lnTo>
                  <a:lnTo>
                    <a:pt x="2367" y="2246"/>
                  </a:lnTo>
                  <a:lnTo>
                    <a:pt x="2239" y="2481"/>
                  </a:lnTo>
                  <a:lnTo>
                    <a:pt x="2122" y="2728"/>
                  </a:lnTo>
                  <a:lnTo>
                    <a:pt x="2019" y="2977"/>
                  </a:lnTo>
                  <a:lnTo>
                    <a:pt x="1933" y="3233"/>
                  </a:lnTo>
                  <a:lnTo>
                    <a:pt x="1863" y="3494"/>
                  </a:lnTo>
                  <a:lnTo>
                    <a:pt x="1808" y="3758"/>
                  </a:lnTo>
                  <a:lnTo>
                    <a:pt x="1767" y="4026"/>
                  </a:lnTo>
                  <a:lnTo>
                    <a:pt x="1752" y="4201"/>
                  </a:lnTo>
                  <a:lnTo>
                    <a:pt x="1752" y="4181"/>
                  </a:lnTo>
                  <a:lnTo>
                    <a:pt x="1752" y="4432"/>
                  </a:lnTo>
                  <a:lnTo>
                    <a:pt x="1048" y="4210"/>
                  </a:lnTo>
                  <a:lnTo>
                    <a:pt x="993" y="4060"/>
                  </a:lnTo>
                  <a:lnTo>
                    <a:pt x="915" y="3914"/>
                  </a:lnTo>
                  <a:lnTo>
                    <a:pt x="829" y="3778"/>
                  </a:lnTo>
                  <a:lnTo>
                    <a:pt x="731" y="3649"/>
                  </a:lnTo>
                  <a:lnTo>
                    <a:pt x="614" y="3534"/>
                  </a:lnTo>
                  <a:lnTo>
                    <a:pt x="495" y="3424"/>
                  </a:lnTo>
                  <a:lnTo>
                    <a:pt x="363" y="3331"/>
                  </a:lnTo>
                  <a:lnTo>
                    <a:pt x="220" y="3251"/>
                  </a:lnTo>
                  <a:lnTo>
                    <a:pt x="72" y="3183"/>
                  </a:lnTo>
                  <a:lnTo>
                    <a:pt x="0" y="3157"/>
                  </a:lnTo>
                  <a:lnTo>
                    <a:pt x="481" y="2597"/>
                  </a:lnTo>
                  <a:lnTo>
                    <a:pt x="618" y="2701"/>
                  </a:lnTo>
                  <a:lnTo>
                    <a:pt x="759" y="2828"/>
                  </a:lnTo>
                  <a:lnTo>
                    <a:pt x="895" y="2962"/>
                  </a:lnTo>
                  <a:lnTo>
                    <a:pt x="1015" y="3111"/>
                  </a:lnTo>
                  <a:lnTo>
                    <a:pt x="1121" y="3267"/>
                  </a:lnTo>
                  <a:lnTo>
                    <a:pt x="1211" y="3432"/>
                  </a:lnTo>
                  <a:lnTo>
                    <a:pt x="1290" y="3604"/>
                  </a:lnTo>
                  <a:lnTo>
                    <a:pt x="1356" y="3784"/>
                  </a:lnTo>
                  <a:lnTo>
                    <a:pt x="1358" y="3770"/>
                  </a:lnTo>
                  <a:lnTo>
                    <a:pt x="1402" y="3479"/>
                  </a:lnTo>
                  <a:lnTo>
                    <a:pt x="1459" y="3183"/>
                  </a:lnTo>
                  <a:lnTo>
                    <a:pt x="1531" y="2900"/>
                  </a:lnTo>
                  <a:lnTo>
                    <a:pt x="1619" y="2614"/>
                  </a:lnTo>
                  <a:lnTo>
                    <a:pt x="1726" y="2336"/>
                  </a:lnTo>
                  <a:lnTo>
                    <a:pt x="1843" y="2067"/>
                  </a:lnTo>
                  <a:lnTo>
                    <a:pt x="1973" y="1799"/>
                  </a:lnTo>
                  <a:lnTo>
                    <a:pt x="2122" y="1540"/>
                  </a:lnTo>
                  <a:lnTo>
                    <a:pt x="2283" y="1291"/>
                  </a:lnTo>
                  <a:lnTo>
                    <a:pt x="2457" y="1049"/>
                  </a:lnTo>
                  <a:lnTo>
                    <a:pt x="2646" y="820"/>
                  </a:lnTo>
                  <a:lnTo>
                    <a:pt x="2844" y="594"/>
                  </a:lnTo>
                  <a:lnTo>
                    <a:pt x="3051" y="388"/>
                  </a:lnTo>
                  <a:lnTo>
                    <a:pt x="3275" y="189"/>
                  </a:lnTo>
                  <a:lnTo>
                    <a:pt x="3507" y="0"/>
                  </a:lnTo>
                  <a:lnTo>
                    <a:pt x="3859" y="700"/>
                  </a:lnTo>
                  <a:close/>
                </a:path>
              </a:pathLst>
            </a:custGeom>
            <a:solidFill>
              <a:srgbClr val="00FF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8197" name="Group 36"/>
          <p:cNvGrpSpPr/>
          <p:nvPr/>
        </p:nvGrpSpPr>
        <p:grpSpPr bwMode="auto">
          <a:xfrm>
            <a:off x="452494" y="2812942"/>
            <a:ext cx="431800" cy="442913"/>
            <a:chOff x="3840" y="2208"/>
            <a:chExt cx="239" cy="279"/>
          </a:xfrm>
        </p:grpSpPr>
        <p:sp>
          <p:nvSpPr>
            <p:cNvPr id="8198" name="Freeform 29"/>
            <p:cNvSpPr/>
            <p:nvPr/>
          </p:nvSpPr>
          <p:spPr bwMode="auto">
            <a:xfrm>
              <a:off x="3852" y="2227"/>
              <a:ext cx="227" cy="260"/>
            </a:xfrm>
            <a:custGeom>
              <a:avLst/>
              <a:gdLst>
                <a:gd name="T0" fmla="*/ 0 w 3861"/>
                <a:gd name="T1" fmla="*/ 0 h 4430"/>
                <a:gd name="T2" fmla="*/ 0 w 3861"/>
                <a:gd name="T3" fmla="*/ 0 h 4430"/>
                <a:gd name="T4" fmla="*/ 0 w 3861"/>
                <a:gd name="T5" fmla="*/ 0 h 4430"/>
                <a:gd name="T6" fmla="*/ 0 w 3861"/>
                <a:gd name="T7" fmla="*/ 0 h 4430"/>
                <a:gd name="T8" fmla="*/ 0 w 3861"/>
                <a:gd name="T9" fmla="*/ 0 h 4430"/>
                <a:gd name="T10" fmla="*/ 0 w 3861"/>
                <a:gd name="T11" fmla="*/ 0 h 4430"/>
                <a:gd name="T12" fmla="*/ 0 w 3861"/>
                <a:gd name="T13" fmla="*/ 0 h 4430"/>
                <a:gd name="T14" fmla="*/ 0 w 3861"/>
                <a:gd name="T15" fmla="*/ 0 h 4430"/>
                <a:gd name="T16" fmla="*/ 0 w 3861"/>
                <a:gd name="T17" fmla="*/ 0 h 4430"/>
                <a:gd name="T18" fmla="*/ 0 w 3861"/>
                <a:gd name="T19" fmla="*/ 0 h 4430"/>
                <a:gd name="T20" fmla="*/ 0 w 3861"/>
                <a:gd name="T21" fmla="*/ 0 h 4430"/>
                <a:gd name="T22" fmla="*/ 0 w 3861"/>
                <a:gd name="T23" fmla="*/ 0 h 4430"/>
                <a:gd name="T24" fmla="*/ 0 w 3861"/>
                <a:gd name="T25" fmla="*/ 0 h 4430"/>
                <a:gd name="T26" fmla="*/ 0 w 3861"/>
                <a:gd name="T27" fmla="*/ 0 h 4430"/>
                <a:gd name="T28" fmla="*/ 0 w 3861"/>
                <a:gd name="T29" fmla="*/ 0 h 4430"/>
                <a:gd name="T30" fmla="*/ 0 w 3861"/>
                <a:gd name="T31" fmla="*/ 0 h 4430"/>
                <a:gd name="T32" fmla="*/ 0 w 3861"/>
                <a:gd name="T33" fmla="*/ 0 h 4430"/>
                <a:gd name="T34" fmla="*/ 0 w 3861"/>
                <a:gd name="T35" fmla="*/ 0 h 4430"/>
                <a:gd name="T36" fmla="*/ 0 w 3861"/>
                <a:gd name="T37" fmla="*/ 0 h 4430"/>
                <a:gd name="T38" fmla="*/ 0 w 3861"/>
                <a:gd name="T39" fmla="*/ 0 h 4430"/>
                <a:gd name="T40" fmla="*/ 0 w 3861"/>
                <a:gd name="T41" fmla="*/ 0 h 4430"/>
                <a:gd name="T42" fmla="*/ 0 w 3861"/>
                <a:gd name="T43" fmla="*/ 0 h 4430"/>
                <a:gd name="T44" fmla="*/ 0 w 3861"/>
                <a:gd name="T45" fmla="*/ 0 h 4430"/>
                <a:gd name="T46" fmla="*/ 0 w 3861"/>
                <a:gd name="T47" fmla="*/ 0 h 4430"/>
                <a:gd name="T48" fmla="*/ 0 w 3861"/>
                <a:gd name="T49" fmla="*/ 0 h 4430"/>
                <a:gd name="T50" fmla="*/ 0 w 3861"/>
                <a:gd name="T51" fmla="*/ 0 h 4430"/>
                <a:gd name="T52" fmla="*/ 0 w 3861"/>
                <a:gd name="T53" fmla="*/ 0 h 4430"/>
                <a:gd name="T54" fmla="*/ 0 w 3861"/>
                <a:gd name="T55" fmla="*/ 0 h 4430"/>
                <a:gd name="T56" fmla="*/ 0 w 3861"/>
                <a:gd name="T57" fmla="*/ 0 h 4430"/>
                <a:gd name="T58" fmla="*/ 0 w 3861"/>
                <a:gd name="T59" fmla="*/ 0 h 4430"/>
                <a:gd name="T60" fmla="*/ 0 w 3861"/>
                <a:gd name="T61" fmla="*/ 0 h 4430"/>
                <a:gd name="T62" fmla="*/ 0 w 3861"/>
                <a:gd name="T63" fmla="*/ 0 h 4430"/>
                <a:gd name="T64" fmla="*/ 0 w 3861"/>
                <a:gd name="T65" fmla="*/ 0 h 4430"/>
                <a:gd name="T66" fmla="*/ 0 w 3861"/>
                <a:gd name="T67" fmla="*/ 0 h 4430"/>
                <a:gd name="T68" fmla="*/ 0 w 3861"/>
                <a:gd name="T69" fmla="*/ 0 h 4430"/>
                <a:gd name="T70" fmla="*/ 0 w 3861"/>
                <a:gd name="T71" fmla="*/ 0 h 4430"/>
                <a:gd name="T72" fmla="*/ 0 w 3861"/>
                <a:gd name="T73" fmla="*/ 0 h 4430"/>
                <a:gd name="T74" fmla="*/ 0 w 3861"/>
                <a:gd name="T75" fmla="*/ 0 h 4430"/>
                <a:gd name="T76" fmla="*/ 0 w 3861"/>
                <a:gd name="T77" fmla="*/ 0 h 4430"/>
                <a:gd name="T78" fmla="*/ 0 w 3861"/>
                <a:gd name="T79" fmla="*/ 0 h 4430"/>
                <a:gd name="T80" fmla="*/ 0 w 3861"/>
                <a:gd name="T81" fmla="*/ 0 h 4430"/>
                <a:gd name="T82" fmla="*/ 0 w 3861"/>
                <a:gd name="T83" fmla="*/ 0 h 4430"/>
                <a:gd name="T84" fmla="*/ 0 w 3861"/>
                <a:gd name="T85" fmla="*/ 0 h 4430"/>
                <a:gd name="T86" fmla="*/ 0 w 3861"/>
                <a:gd name="T87" fmla="*/ 0 h 4430"/>
                <a:gd name="T88" fmla="*/ 0 w 3861"/>
                <a:gd name="T89" fmla="*/ 0 h 4430"/>
                <a:gd name="T90" fmla="*/ 0 w 3861"/>
                <a:gd name="T91" fmla="*/ 0 h 4430"/>
                <a:gd name="T92" fmla="*/ 0 w 3861"/>
                <a:gd name="T93" fmla="*/ 0 h 4430"/>
                <a:gd name="T94" fmla="*/ 0 w 3861"/>
                <a:gd name="T95" fmla="*/ 0 h 4430"/>
                <a:gd name="T96" fmla="*/ 0 w 3861"/>
                <a:gd name="T97" fmla="*/ 0 h 4430"/>
                <a:gd name="T98" fmla="*/ 0 w 3861"/>
                <a:gd name="T99" fmla="*/ 0 h 4430"/>
                <a:gd name="T100" fmla="*/ 0 w 3861"/>
                <a:gd name="T101" fmla="*/ 0 h 4430"/>
                <a:gd name="T102" fmla="*/ 0 w 3861"/>
                <a:gd name="T103" fmla="*/ 0 h 4430"/>
                <a:gd name="T104" fmla="*/ 0 w 3861"/>
                <a:gd name="T105" fmla="*/ 0 h 4430"/>
                <a:gd name="T106" fmla="*/ 0 w 3861"/>
                <a:gd name="T107" fmla="*/ 0 h 4430"/>
                <a:gd name="T108" fmla="*/ 0 w 3861"/>
                <a:gd name="T109" fmla="*/ 0 h 4430"/>
                <a:gd name="T110" fmla="*/ 0 w 3861"/>
                <a:gd name="T111" fmla="*/ 0 h 4430"/>
                <a:gd name="T112" fmla="*/ 0 w 3861"/>
                <a:gd name="T113" fmla="*/ 0 h 4430"/>
                <a:gd name="T114" fmla="*/ 0 w 3861"/>
                <a:gd name="T115" fmla="*/ 0 h 44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61"/>
                <a:gd name="T175" fmla="*/ 0 h 4430"/>
                <a:gd name="T176" fmla="*/ 3861 w 3861"/>
                <a:gd name="T177" fmla="*/ 4430 h 443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61" h="4430">
                  <a:moveTo>
                    <a:pt x="3861" y="702"/>
                  </a:moveTo>
                  <a:lnTo>
                    <a:pt x="3637" y="855"/>
                  </a:lnTo>
                  <a:lnTo>
                    <a:pt x="3421" y="1017"/>
                  </a:lnTo>
                  <a:lnTo>
                    <a:pt x="3219" y="1195"/>
                  </a:lnTo>
                  <a:lnTo>
                    <a:pt x="3023" y="1386"/>
                  </a:lnTo>
                  <a:lnTo>
                    <a:pt x="2841" y="1581"/>
                  </a:lnTo>
                  <a:lnTo>
                    <a:pt x="2673" y="1794"/>
                  </a:lnTo>
                  <a:lnTo>
                    <a:pt x="2517" y="2013"/>
                  </a:lnTo>
                  <a:lnTo>
                    <a:pt x="2369" y="2242"/>
                  </a:lnTo>
                  <a:lnTo>
                    <a:pt x="2241" y="2480"/>
                  </a:lnTo>
                  <a:lnTo>
                    <a:pt x="2128" y="2723"/>
                  </a:lnTo>
                  <a:lnTo>
                    <a:pt x="2024" y="2975"/>
                  </a:lnTo>
                  <a:lnTo>
                    <a:pt x="1939" y="3231"/>
                  </a:lnTo>
                  <a:lnTo>
                    <a:pt x="1868" y="3491"/>
                  </a:lnTo>
                  <a:lnTo>
                    <a:pt x="1809" y="3758"/>
                  </a:lnTo>
                  <a:lnTo>
                    <a:pt x="1769" y="4020"/>
                  </a:lnTo>
                  <a:lnTo>
                    <a:pt x="1753" y="4200"/>
                  </a:lnTo>
                  <a:lnTo>
                    <a:pt x="1753" y="4177"/>
                  </a:lnTo>
                  <a:lnTo>
                    <a:pt x="1753" y="4430"/>
                  </a:lnTo>
                  <a:lnTo>
                    <a:pt x="1052" y="4209"/>
                  </a:lnTo>
                  <a:lnTo>
                    <a:pt x="991" y="4058"/>
                  </a:lnTo>
                  <a:lnTo>
                    <a:pt x="924" y="3909"/>
                  </a:lnTo>
                  <a:lnTo>
                    <a:pt x="830" y="3777"/>
                  </a:lnTo>
                  <a:lnTo>
                    <a:pt x="736" y="3647"/>
                  </a:lnTo>
                  <a:lnTo>
                    <a:pt x="619" y="3529"/>
                  </a:lnTo>
                  <a:lnTo>
                    <a:pt x="497" y="3423"/>
                  </a:lnTo>
                  <a:lnTo>
                    <a:pt x="368" y="3328"/>
                  </a:lnTo>
                  <a:lnTo>
                    <a:pt x="224" y="3251"/>
                  </a:lnTo>
                  <a:lnTo>
                    <a:pt x="73" y="3182"/>
                  </a:lnTo>
                  <a:lnTo>
                    <a:pt x="0" y="3156"/>
                  </a:lnTo>
                  <a:lnTo>
                    <a:pt x="484" y="2594"/>
                  </a:lnTo>
                  <a:lnTo>
                    <a:pt x="623" y="2694"/>
                  </a:lnTo>
                  <a:lnTo>
                    <a:pt x="766" y="2823"/>
                  </a:lnTo>
                  <a:lnTo>
                    <a:pt x="901" y="2959"/>
                  </a:lnTo>
                  <a:lnTo>
                    <a:pt x="1015" y="3108"/>
                  </a:lnTo>
                  <a:lnTo>
                    <a:pt x="1124" y="3262"/>
                  </a:lnTo>
                  <a:lnTo>
                    <a:pt x="1218" y="3430"/>
                  </a:lnTo>
                  <a:lnTo>
                    <a:pt x="1296" y="3603"/>
                  </a:lnTo>
                  <a:lnTo>
                    <a:pt x="1360" y="3783"/>
                  </a:lnTo>
                  <a:lnTo>
                    <a:pt x="1365" y="3770"/>
                  </a:lnTo>
                  <a:lnTo>
                    <a:pt x="1406" y="3475"/>
                  </a:lnTo>
                  <a:lnTo>
                    <a:pt x="1462" y="3182"/>
                  </a:lnTo>
                  <a:lnTo>
                    <a:pt x="1536" y="2898"/>
                  </a:lnTo>
                  <a:lnTo>
                    <a:pt x="1624" y="2612"/>
                  </a:lnTo>
                  <a:lnTo>
                    <a:pt x="1728" y="2335"/>
                  </a:lnTo>
                  <a:lnTo>
                    <a:pt x="1845" y="2063"/>
                  </a:lnTo>
                  <a:lnTo>
                    <a:pt x="1980" y="1798"/>
                  </a:lnTo>
                  <a:lnTo>
                    <a:pt x="2128" y="1535"/>
                  </a:lnTo>
                  <a:lnTo>
                    <a:pt x="2284" y="1290"/>
                  </a:lnTo>
                  <a:lnTo>
                    <a:pt x="2462" y="1045"/>
                  </a:lnTo>
                  <a:lnTo>
                    <a:pt x="2648" y="816"/>
                  </a:lnTo>
                  <a:lnTo>
                    <a:pt x="2847" y="593"/>
                  </a:lnTo>
                  <a:lnTo>
                    <a:pt x="3056" y="384"/>
                  </a:lnTo>
                  <a:lnTo>
                    <a:pt x="3278" y="189"/>
                  </a:lnTo>
                  <a:lnTo>
                    <a:pt x="3510" y="0"/>
                  </a:lnTo>
                  <a:lnTo>
                    <a:pt x="3861" y="70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8199" name="Freeform 30"/>
            <p:cNvSpPr/>
            <p:nvPr/>
          </p:nvSpPr>
          <p:spPr bwMode="auto">
            <a:xfrm>
              <a:off x="3840" y="2208"/>
              <a:ext cx="227" cy="260"/>
            </a:xfrm>
            <a:custGeom>
              <a:avLst/>
              <a:gdLst>
                <a:gd name="T0" fmla="*/ 0 w 3859"/>
                <a:gd name="T1" fmla="*/ 0 h 4432"/>
                <a:gd name="T2" fmla="*/ 0 w 3859"/>
                <a:gd name="T3" fmla="*/ 0 h 4432"/>
                <a:gd name="T4" fmla="*/ 0 w 3859"/>
                <a:gd name="T5" fmla="*/ 0 h 4432"/>
                <a:gd name="T6" fmla="*/ 0 w 3859"/>
                <a:gd name="T7" fmla="*/ 0 h 4432"/>
                <a:gd name="T8" fmla="*/ 0 w 3859"/>
                <a:gd name="T9" fmla="*/ 0 h 4432"/>
                <a:gd name="T10" fmla="*/ 0 w 3859"/>
                <a:gd name="T11" fmla="*/ 0 h 4432"/>
                <a:gd name="T12" fmla="*/ 0 w 3859"/>
                <a:gd name="T13" fmla="*/ 0 h 4432"/>
                <a:gd name="T14" fmla="*/ 0 w 3859"/>
                <a:gd name="T15" fmla="*/ 0 h 4432"/>
                <a:gd name="T16" fmla="*/ 0 w 3859"/>
                <a:gd name="T17" fmla="*/ 0 h 4432"/>
                <a:gd name="T18" fmla="*/ 0 w 3859"/>
                <a:gd name="T19" fmla="*/ 0 h 4432"/>
                <a:gd name="T20" fmla="*/ 0 w 3859"/>
                <a:gd name="T21" fmla="*/ 0 h 4432"/>
                <a:gd name="T22" fmla="*/ 0 w 3859"/>
                <a:gd name="T23" fmla="*/ 0 h 4432"/>
                <a:gd name="T24" fmla="*/ 0 w 3859"/>
                <a:gd name="T25" fmla="*/ 0 h 4432"/>
                <a:gd name="T26" fmla="*/ 0 w 3859"/>
                <a:gd name="T27" fmla="*/ 0 h 4432"/>
                <a:gd name="T28" fmla="*/ 0 w 3859"/>
                <a:gd name="T29" fmla="*/ 0 h 4432"/>
                <a:gd name="T30" fmla="*/ 0 w 3859"/>
                <a:gd name="T31" fmla="*/ 0 h 4432"/>
                <a:gd name="T32" fmla="*/ 0 w 3859"/>
                <a:gd name="T33" fmla="*/ 0 h 4432"/>
                <a:gd name="T34" fmla="*/ 0 w 3859"/>
                <a:gd name="T35" fmla="*/ 0 h 4432"/>
                <a:gd name="T36" fmla="*/ 0 w 3859"/>
                <a:gd name="T37" fmla="*/ 0 h 4432"/>
                <a:gd name="T38" fmla="*/ 0 w 3859"/>
                <a:gd name="T39" fmla="*/ 0 h 4432"/>
                <a:gd name="T40" fmla="*/ 0 w 3859"/>
                <a:gd name="T41" fmla="*/ 0 h 4432"/>
                <a:gd name="T42" fmla="*/ 0 w 3859"/>
                <a:gd name="T43" fmla="*/ 0 h 4432"/>
                <a:gd name="T44" fmla="*/ 0 w 3859"/>
                <a:gd name="T45" fmla="*/ 0 h 4432"/>
                <a:gd name="T46" fmla="*/ 0 w 3859"/>
                <a:gd name="T47" fmla="*/ 0 h 4432"/>
                <a:gd name="T48" fmla="*/ 0 w 3859"/>
                <a:gd name="T49" fmla="*/ 0 h 4432"/>
                <a:gd name="T50" fmla="*/ 0 w 3859"/>
                <a:gd name="T51" fmla="*/ 0 h 4432"/>
                <a:gd name="T52" fmla="*/ 0 w 3859"/>
                <a:gd name="T53" fmla="*/ 0 h 4432"/>
                <a:gd name="T54" fmla="*/ 0 w 3859"/>
                <a:gd name="T55" fmla="*/ 0 h 4432"/>
                <a:gd name="T56" fmla="*/ 0 w 3859"/>
                <a:gd name="T57" fmla="*/ 0 h 4432"/>
                <a:gd name="T58" fmla="*/ 0 w 3859"/>
                <a:gd name="T59" fmla="*/ 0 h 4432"/>
                <a:gd name="T60" fmla="*/ 0 w 3859"/>
                <a:gd name="T61" fmla="*/ 0 h 4432"/>
                <a:gd name="T62" fmla="*/ 0 w 3859"/>
                <a:gd name="T63" fmla="*/ 0 h 4432"/>
                <a:gd name="T64" fmla="*/ 0 w 3859"/>
                <a:gd name="T65" fmla="*/ 0 h 4432"/>
                <a:gd name="T66" fmla="*/ 0 w 3859"/>
                <a:gd name="T67" fmla="*/ 0 h 4432"/>
                <a:gd name="T68" fmla="*/ 0 w 3859"/>
                <a:gd name="T69" fmla="*/ 0 h 4432"/>
                <a:gd name="T70" fmla="*/ 0 w 3859"/>
                <a:gd name="T71" fmla="*/ 0 h 4432"/>
                <a:gd name="T72" fmla="*/ 0 w 3859"/>
                <a:gd name="T73" fmla="*/ 0 h 4432"/>
                <a:gd name="T74" fmla="*/ 0 w 3859"/>
                <a:gd name="T75" fmla="*/ 0 h 4432"/>
                <a:gd name="T76" fmla="*/ 0 w 3859"/>
                <a:gd name="T77" fmla="*/ 0 h 4432"/>
                <a:gd name="T78" fmla="*/ 0 w 3859"/>
                <a:gd name="T79" fmla="*/ 0 h 4432"/>
                <a:gd name="T80" fmla="*/ 0 w 3859"/>
                <a:gd name="T81" fmla="*/ 0 h 4432"/>
                <a:gd name="T82" fmla="*/ 0 w 3859"/>
                <a:gd name="T83" fmla="*/ 0 h 4432"/>
                <a:gd name="T84" fmla="*/ 0 w 3859"/>
                <a:gd name="T85" fmla="*/ 0 h 4432"/>
                <a:gd name="T86" fmla="*/ 0 w 3859"/>
                <a:gd name="T87" fmla="*/ 0 h 4432"/>
                <a:gd name="T88" fmla="*/ 0 w 3859"/>
                <a:gd name="T89" fmla="*/ 0 h 4432"/>
                <a:gd name="T90" fmla="*/ 0 w 3859"/>
                <a:gd name="T91" fmla="*/ 0 h 4432"/>
                <a:gd name="T92" fmla="*/ 0 w 3859"/>
                <a:gd name="T93" fmla="*/ 0 h 4432"/>
                <a:gd name="T94" fmla="*/ 0 w 3859"/>
                <a:gd name="T95" fmla="*/ 0 h 4432"/>
                <a:gd name="T96" fmla="*/ 0 w 3859"/>
                <a:gd name="T97" fmla="*/ 0 h 4432"/>
                <a:gd name="T98" fmla="*/ 0 w 3859"/>
                <a:gd name="T99" fmla="*/ 0 h 4432"/>
                <a:gd name="T100" fmla="*/ 0 w 3859"/>
                <a:gd name="T101" fmla="*/ 0 h 4432"/>
                <a:gd name="T102" fmla="*/ 0 w 3859"/>
                <a:gd name="T103" fmla="*/ 0 h 4432"/>
                <a:gd name="T104" fmla="*/ 0 w 3859"/>
                <a:gd name="T105" fmla="*/ 0 h 4432"/>
                <a:gd name="T106" fmla="*/ 0 w 3859"/>
                <a:gd name="T107" fmla="*/ 0 h 4432"/>
                <a:gd name="T108" fmla="*/ 0 w 3859"/>
                <a:gd name="T109" fmla="*/ 0 h 4432"/>
                <a:gd name="T110" fmla="*/ 0 w 3859"/>
                <a:gd name="T111" fmla="*/ 0 h 4432"/>
                <a:gd name="T112" fmla="*/ 0 w 3859"/>
                <a:gd name="T113" fmla="*/ 0 h 4432"/>
                <a:gd name="T114" fmla="*/ 0 w 3859"/>
                <a:gd name="T115" fmla="*/ 0 h 443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59"/>
                <a:gd name="T175" fmla="*/ 0 h 4432"/>
                <a:gd name="T176" fmla="*/ 3859 w 3859"/>
                <a:gd name="T177" fmla="*/ 4432 h 443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59" h="4432">
                  <a:moveTo>
                    <a:pt x="3859" y="700"/>
                  </a:moveTo>
                  <a:lnTo>
                    <a:pt x="3634" y="856"/>
                  </a:lnTo>
                  <a:lnTo>
                    <a:pt x="3423" y="1017"/>
                  </a:lnTo>
                  <a:lnTo>
                    <a:pt x="3217" y="1195"/>
                  </a:lnTo>
                  <a:lnTo>
                    <a:pt x="3020" y="1384"/>
                  </a:lnTo>
                  <a:lnTo>
                    <a:pt x="2839" y="1585"/>
                  </a:lnTo>
                  <a:lnTo>
                    <a:pt x="2669" y="1795"/>
                  </a:lnTo>
                  <a:lnTo>
                    <a:pt x="2513" y="2016"/>
                  </a:lnTo>
                  <a:lnTo>
                    <a:pt x="2367" y="2246"/>
                  </a:lnTo>
                  <a:lnTo>
                    <a:pt x="2239" y="2481"/>
                  </a:lnTo>
                  <a:lnTo>
                    <a:pt x="2122" y="2728"/>
                  </a:lnTo>
                  <a:lnTo>
                    <a:pt x="2019" y="2977"/>
                  </a:lnTo>
                  <a:lnTo>
                    <a:pt x="1933" y="3233"/>
                  </a:lnTo>
                  <a:lnTo>
                    <a:pt x="1863" y="3494"/>
                  </a:lnTo>
                  <a:lnTo>
                    <a:pt x="1808" y="3758"/>
                  </a:lnTo>
                  <a:lnTo>
                    <a:pt x="1767" y="4026"/>
                  </a:lnTo>
                  <a:lnTo>
                    <a:pt x="1752" y="4201"/>
                  </a:lnTo>
                  <a:lnTo>
                    <a:pt x="1752" y="4181"/>
                  </a:lnTo>
                  <a:lnTo>
                    <a:pt x="1752" y="4432"/>
                  </a:lnTo>
                  <a:lnTo>
                    <a:pt x="1048" y="4210"/>
                  </a:lnTo>
                  <a:lnTo>
                    <a:pt x="993" y="4060"/>
                  </a:lnTo>
                  <a:lnTo>
                    <a:pt x="915" y="3914"/>
                  </a:lnTo>
                  <a:lnTo>
                    <a:pt x="829" y="3778"/>
                  </a:lnTo>
                  <a:lnTo>
                    <a:pt x="731" y="3649"/>
                  </a:lnTo>
                  <a:lnTo>
                    <a:pt x="614" y="3534"/>
                  </a:lnTo>
                  <a:lnTo>
                    <a:pt x="495" y="3424"/>
                  </a:lnTo>
                  <a:lnTo>
                    <a:pt x="363" y="3331"/>
                  </a:lnTo>
                  <a:lnTo>
                    <a:pt x="220" y="3251"/>
                  </a:lnTo>
                  <a:lnTo>
                    <a:pt x="72" y="3183"/>
                  </a:lnTo>
                  <a:lnTo>
                    <a:pt x="0" y="3157"/>
                  </a:lnTo>
                  <a:lnTo>
                    <a:pt x="481" y="2597"/>
                  </a:lnTo>
                  <a:lnTo>
                    <a:pt x="618" y="2701"/>
                  </a:lnTo>
                  <a:lnTo>
                    <a:pt x="759" y="2828"/>
                  </a:lnTo>
                  <a:lnTo>
                    <a:pt x="895" y="2962"/>
                  </a:lnTo>
                  <a:lnTo>
                    <a:pt x="1015" y="3111"/>
                  </a:lnTo>
                  <a:lnTo>
                    <a:pt x="1121" y="3267"/>
                  </a:lnTo>
                  <a:lnTo>
                    <a:pt x="1211" y="3432"/>
                  </a:lnTo>
                  <a:lnTo>
                    <a:pt x="1290" y="3604"/>
                  </a:lnTo>
                  <a:lnTo>
                    <a:pt x="1356" y="3784"/>
                  </a:lnTo>
                  <a:lnTo>
                    <a:pt x="1358" y="3770"/>
                  </a:lnTo>
                  <a:lnTo>
                    <a:pt x="1402" y="3479"/>
                  </a:lnTo>
                  <a:lnTo>
                    <a:pt x="1459" y="3183"/>
                  </a:lnTo>
                  <a:lnTo>
                    <a:pt x="1531" y="2900"/>
                  </a:lnTo>
                  <a:lnTo>
                    <a:pt x="1619" y="2614"/>
                  </a:lnTo>
                  <a:lnTo>
                    <a:pt x="1726" y="2336"/>
                  </a:lnTo>
                  <a:lnTo>
                    <a:pt x="1843" y="2067"/>
                  </a:lnTo>
                  <a:lnTo>
                    <a:pt x="1973" y="1799"/>
                  </a:lnTo>
                  <a:lnTo>
                    <a:pt x="2122" y="1540"/>
                  </a:lnTo>
                  <a:lnTo>
                    <a:pt x="2283" y="1291"/>
                  </a:lnTo>
                  <a:lnTo>
                    <a:pt x="2457" y="1049"/>
                  </a:lnTo>
                  <a:lnTo>
                    <a:pt x="2646" y="820"/>
                  </a:lnTo>
                  <a:lnTo>
                    <a:pt x="2844" y="594"/>
                  </a:lnTo>
                  <a:lnTo>
                    <a:pt x="3051" y="388"/>
                  </a:lnTo>
                  <a:lnTo>
                    <a:pt x="3275" y="189"/>
                  </a:lnTo>
                  <a:lnTo>
                    <a:pt x="3507" y="0"/>
                  </a:lnTo>
                  <a:lnTo>
                    <a:pt x="3859" y="700"/>
                  </a:lnTo>
                  <a:close/>
                </a:path>
              </a:pathLst>
            </a:custGeom>
            <a:solidFill>
              <a:srgbClr val="00FF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D262-C824-4B20-9CA4-5EF0F9A876AE}" type="slidenum">
              <a:rPr lang="en-GB" altLang="en-US" smtClean="0"/>
            </a:fld>
            <a:endParaRPr lang="en-GB" altLang="en-US" dirty="0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en-GB" dirty="0"/>
              <a:t>Cache </a:t>
            </a:r>
            <a:r>
              <a:rPr lang="en-US" altLang="en-GB" dirty="0"/>
              <a:t>Updating</a:t>
            </a:r>
            <a:endParaRPr lang="en-US" alt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Cache sizes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Note that the cache sizes quoted in literature refer </a:t>
            </a:r>
            <a:r>
              <a:rPr lang="en-GB" i="1" dirty="0"/>
              <a:t>only</a:t>
            </a:r>
            <a:r>
              <a:rPr lang="en-GB" dirty="0"/>
              <a:t> to the </a:t>
            </a:r>
            <a:r>
              <a:rPr lang="en-GB" dirty="0">
                <a:solidFill>
                  <a:srgbClr val="4365E2"/>
                </a:solidFill>
              </a:rPr>
              <a:t>data capacity</a:t>
            </a:r>
            <a:r>
              <a:rPr lang="en-GB" dirty="0"/>
              <a:t> of the cache.</a:t>
            </a:r>
            <a:endParaRPr lang="en-GB" dirty="0"/>
          </a:p>
          <a:p>
            <a:pPr>
              <a:defRPr/>
            </a:pPr>
            <a:r>
              <a:rPr lang="en-GB" dirty="0"/>
              <a:t>If the cache needs to store tags and other “housekeeping” data, this requires </a:t>
            </a:r>
            <a:r>
              <a:rPr lang="en-GB" i="1" dirty="0"/>
              <a:t>more</a:t>
            </a:r>
            <a:r>
              <a:rPr lang="en-GB" dirty="0"/>
              <a:t> physical data storage on the silicon, but this is </a:t>
            </a:r>
            <a:r>
              <a:rPr lang="en-GB" i="1" dirty="0"/>
              <a:t>not</a:t>
            </a:r>
            <a:r>
              <a:rPr lang="en-GB" dirty="0"/>
              <a:t> shown in the quoted cache size.</a:t>
            </a:r>
            <a:endParaRPr lang="en-GB" dirty="0"/>
          </a:p>
          <a:p>
            <a:pPr>
              <a:defRPr/>
            </a:pPr>
            <a:r>
              <a:rPr lang="en-US" dirty="0"/>
              <a:t>e.g. 2-way, 256 sets, 128 data bits per way: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sp>
        <p:nvSpPr>
          <p:cNvPr id="38" name="TextBox 37"/>
          <p:cNvSpPr txBox="1"/>
          <p:nvPr/>
        </p:nvSpPr>
        <p:spPr>
          <a:xfrm>
            <a:off x="1236371" y="4660409"/>
            <a:ext cx="78581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2000" b="1" dirty="0">
                <a:solidFill>
                  <a:srgbClr val="4365E2"/>
                </a:solidFill>
                <a:latin typeface="Calibri" panose="020F0502020204030204" pitchFamily="34" charset="0"/>
              </a:rPr>
              <a:t>quoted size = 256 x 2 x 128 = 8192 bytes   =  8K </a:t>
            </a:r>
            <a:endParaRPr lang="en-GB" dirty="0">
              <a:solidFill>
                <a:srgbClr val="4365E2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36371" y="5130893"/>
            <a:ext cx="78581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2000" b="1" dirty="0">
                <a:solidFill>
                  <a:srgbClr val="4365E2"/>
                </a:solidFill>
                <a:latin typeface="Calibri" panose="020F0502020204030204" pitchFamily="34" charset="0"/>
              </a:rPr>
              <a:t>physical size = 256 x ((2 x (128 + 20)) + 1) = 9504 bytes =  “8K” </a:t>
            </a:r>
            <a:endParaRPr lang="en-GB" dirty="0">
              <a:solidFill>
                <a:srgbClr val="4365E2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46"/>
          <p:cNvGrpSpPr/>
          <p:nvPr/>
        </p:nvGrpSpPr>
        <p:grpSpPr bwMode="auto">
          <a:xfrm>
            <a:off x="1573050" y="4189925"/>
            <a:ext cx="3314482" cy="561115"/>
            <a:chOff x="2179162" y="5270148"/>
            <a:chExt cx="3053637" cy="561118"/>
          </a:xfrm>
        </p:grpSpPr>
        <p:cxnSp>
          <p:nvCxnSpPr>
            <p:cNvPr id="13329" name="Straight Arrow Connector 4"/>
            <p:cNvCxnSpPr>
              <a:cxnSpLocks noChangeShapeType="1"/>
            </p:cNvCxnSpPr>
            <p:nvPr/>
          </p:nvCxnSpPr>
          <p:spPr bwMode="auto">
            <a:xfrm>
              <a:off x="2179162" y="5270148"/>
              <a:ext cx="1700625" cy="561118"/>
            </a:xfrm>
            <a:prstGeom prst="straightConnector1">
              <a:avLst/>
            </a:prstGeom>
            <a:noFill/>
            <a:ln w="31750" algn="ctr">
              <a:solidFill>
                <a:schemeClr val="accent3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0" name="Straight Arrow Connector 5"/>
            <p:cNvCxnSpPr>
              <a:cxnSpLocks noChangeShapeType="1"/>
            </p:cNvCxnSpPr>
            <p:nvPr/>
          </p:nvCxnSpPr>
          <p:spPr bwMode="auto">
            <a:xfrm flipH="1">
              <a:off x="3381695" y="5313988"/>
              <a:ext cx="173349" cy="460130"/>
            </a:xfrm>
            <a:prstGeom prst="straightConnector1">
              <a:avLst/>
            </a:prstGeom>
            <a:noFill/>
            <a:ln w="31750" algn="ctr">
              <a:solidFill>
                <a:schemeClr val="accent3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1" name="Straight Arrow Connector 7"/>
            <p:cNvCxnSpPr>
              <a:cxnSpLocks noChangeShapeType="1"/>
            </p:cNvCxnSpPr>
            <p:nvPr/>
          </p:nvCxnSpPr>
          <p:spPr bwMode="auto">
            <a:xfrm flipH="1">
              <a:off x="4475781" y="5270148"/>
              <a:ext cx="757018" cy="503971"/>
            </a:xfrm>
            <a:prstGeom prst="straightConnector1">
              <a:avLst/>
            </a:prstGeom>
            <a:noFill/>
            <a:ln w="31750" algn="ctr">
              <a:solidFill>
                <a:schemeClr val="accent3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47"/>
          <p:cNvGrpSpPr/>
          <p:nvPr/>
        </p:nvGrpSpPr>
        <p:grpSpPr bwMode="auto">
          <a:xfrm>
            <a:off x="1461411" y="4305478"/>
            <a:ext cx="3426121" cy="892248"/>
            <a:chOff x="1785468" y="5241579"/>
            <a:chExt cx="3059828" cy="892253"/>
          </a:xfrm>
        </p:grpSpPr>
        <p:cxnSp>
          <p:nvCxnSpPr>
            <p:cNvPr id="13326" name="Straight Arrow Connector 10"/>
            <p:cNvCxnSpPr>
              <a:cxnSpLocks noChangeShapeType="1"/>
            </p:cNvCxnSpPr>
            <p:nvPr/>
          </p:nvCxnSpPr>
          <p:spPr bwMode="auto">
            <a:xfrm flipH="1">
              <a:off x="3167541" y="5291646"/>
              <a:ext cx="20636" cy="842186"/>
            </a:xfrm>
            <a:prstGeom prst="straightConnector1">
              <a:avLst/>
            </a:prstGeom>
            <a:noFill/>
            <a:ln w="31750" algn="ctr">
              <a:solidFill>
                <a:schemeClr val="accent5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7" name="Straight Arrow Connector 12"/>
            <p:cNvCxnSpPr>
              <a:cxnSpLocks noChangeShapeType="1"/>
            </p:cNvCxnSpPr>
            <p:nvPr/>
          </p:nvCxnSpPr>
          <p:spPr bwMode="auto">
            <a:xfrm>
              <a:off x="1785468" y="5241579"/>
              <a:ext cx="2005920" cy="892253"/>
            </a:xfrm>
            <a:prstGeom prst="straightConnector1">
              <a:avLst/>
            </a:prstGeom>
            <a:noFill/>
            <a:ln w="31750" algn="ctr">
              <a:solidFill>
                <a:schemeClr val="accent5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8" name="Straight Arrow Connector 15"/>
            <p:cNvCxnSpPr>
              <a:cxnSpLocks noChangeShapeType="1"/>
            </p:cNvCxnSpPr>
            <p:nvPr/>
          </p:nvCxnSpPr>
          <p:spPr bwMode="auto">
            <a:xfrm flipH="1">
              <a:off x="4381193" y="5241579"/>
              <a:ext cx="464103" cy="878449"/>
            </a:xfrm>
            <a:prstGeom prst="straightConnector1">
              <a:avLst/>
            </a:prstGeom>
            <a:noFill/>
            <a:ln w="31750" algn="ctr">
              <a:solidFill>
                <a:schemeClr val="accent5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48"/>
          <p:cNvGrpSpPr/>
          <p:nvPr/>
        </p:nvGrpSpPr>
        <p:grpSpPr bwMode="auto">
          <a:xfrm>
            <a:off x="3270631" y="5457054"/>
            <a:ext cx="1643062" cy="531091"/>
            <a:chOff x="3214678" y="6326930"/>
            <a:chExt cx="1643074" cy="531070"/>
          </a:xfrm>
        </p:grpSpPr>
        <p:sp>
          <p:nvSpPr>
            <p:cNvPr id="18" name="TextBox 17"/>
            <p:cNvSpPr txBox="1"/>
            <p:nvPr/>
          </p:nvSpPr>
          <p:spPr>
            <a:xfrm>
              <a:off x="3214678" y="6457966"/>
              <a:ext cx="1643074" cy="40003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2000" b="1" dirty="0">
                  <a:solidFill>
                    <a:srgbClr val="4365E2"/>
                  </a:solidFill>
                  <a:latin typeface="Calibri" panose="020F0502020204030204" pitchFamily="34" charset="0"/>
                </a:rPr>
                <a:t>address tag</a:t>
              </a:r>
              <a:endParaRPr lang="en-GB" sz="2000" b="1" dirty="0">
                <a:solidFill>
                  <a:srgbClr val="4365E2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3325" name="Straight Arrow Connector 19"/>
            <p:cNvCxnSpPr>
              <a:cxnSpLocks noChangeShapeType="1"/>
            </p:cNvCxnSpPr>
            <p:nvPr/>
          </p:nvCxnSpPr>
          <p:spPr bwMode="auto">
            <a:xfrm flipV="1">
              <a:off x="4674551" y="6326930"/>
              <a:ext cx="119642" cy="331015"/>
            </a:xfrm>
            <a:prstGeom prst="straightConnector1">
              <a:avLst/>
            </a:prstGeom>
            <a:noFill/>
            <a:ln w="31750" algn="ctr">
              <a:solidFill>
                <a:schemeClr val="accent5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49"/>
          <p:cNvGrpSpPr/>
          <p:nvPr/>
        </p:nvGrpSpPr>
        <p:grpSpPr bwMode="auto">
          <a:xfrm>
            <a:off x="5427071" y="5457060"/>
            <a:ext cx="863606" cy="536313"/>
            <a:chOff x="5851528" y="6357959"/>
            <a:chExt cx="863612" cy="536290"/>
          </a:xfrm>
        </p:grpSpPr>
        <p:sp>
          <p:nvSpPr>
            <p:cNvPr id="19" name="TextBox 18"/>
            <p:cNvSpPr txBox="1"/>
            <p:nvPr/>
          </p:nvSpPr>
          <p:spPr>
            <a:xfrm>
              <a:off x="6000760" y="6494216"/>
              <a:ext cx="714380" cy="40003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LRU</a:t>
              </a:r>
              <a:endParaRPr lang="en-GB" sz="2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3323" name="Straight Arrow Connector 27"/>
            <p:cNvCxnSpPr>
              <a:cxnSpLocks noChangeShapeType="1"/>
              <a:stCxn id="19" idx="1"/>
            </p:cNvCxnSpPr>
            <p:nvPr/>
          </p:nvCxnSpPr>
          <p:spPr bwMode="auto">
            <a:xfrm flipH="1" flipV="1">
              <a:off x="5851528" y="6357959"/>
              <a:ext cx="149232" cy="336274"/>
            </a:xfrm>
            <a:prstGeom prst="straightConnector1">
              <a:avLst/>
            </a:prstGeom>
            <a:noFill/>
            <a:ln w="31750" algn="ctr">
              <a:solidFill>
                <a:schemeClr val="accent5">
                  <a:lumMod val="7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Which way?</a:t>
            </a:r>
            <a:endParaRPr lang="en-US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 a set-associative cache:</a:t>
            </a:r>
            <a:endParaRPr lang="en-US" dirty="0"/>
          </a:p>
          <a:p>
            <a:pPr lvl="1"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4365E2"/>
                </a:solidFill>
              </a:rPr>
              <a:t>set</a:t>
            </a:r>
            <a:r>
              <a:rPr lang="en-US" dirty="0"/>
              <a:t> to be used is determined </a:t>
            </a:r>
            <a:r>
              <a:rPr lang="en-US" i="1" dirty="0"/>
              <a:t>by the address</a:t>
            </a:r>
            <a:r>
              <a:rPr lang="en-US" dirty="0"/>
              <a:t> being accessed (thus </a:t>
            </a:r>
            <a:r>
              <a:rPr lang="en-US" dirty="0">
                <a:solidFill>
                  <a:srgbClr val="4365E2"/>
                </a:solidFill>
              </a:rPr>
              <a:t>fixed</a:t>
            </a:r>
            <a:r>
              <a:rPr lang="en-US" dirty="0"/>
              <a:t>)</a:t>
            </a:r>
            <a:endParaRPr lang="en-US" dirty="0"/>
          </a:p>
          <a:p>
            <a:pPr lvl="2">
              <a:defRPr/>
            </a:pPr>
            <a:r>
              <a:rPr lang="en-US" dirty="0"/>
              <a:t>a particular address always maps to the </a:t>
            </a:r>
            <a:r>
              <a:rPr lang="en-US" i="1" dirty="0"/>
              <a:t>same</a:t>
            </a:r>
            <a:r>
              <a:rPr lang="en-US" dirty="0"/>
              <a:t> set</a:t>
            </a:r>
            <a:endParaRPr lang="en-US" dirty="0"/>
          </a:p>
          <a:p>
            <a:pPr lvl="1"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4365E2"/>
                </a:solidFill>
              </a:rPr>
              <a:t>way</a:t>
            </a:r>
            <a:r>
              <a:rPr lang="en-US" dirty="0"/>
              <a:t> to be used </a:t>
            </a:r>
            <a:r>
              <a:rPr lang="en-US" i="1" dirty="0"/>
              <a:t>within that set</a:t>
            </a:r>
            <a:r>
              <a:rPr lang="en-US" dirty="0"/>
              <a:t> is determined</a:t>
            </a:r>
            <a:r>
              <a:rPr lang="en-US" i="1" dirty="0"/>
              <a:t> at run time </a:t>
            </a:r>
            <a:r>
              <a:rPr lang="en-US" dirty="0"/>
              <a:t>(</a:t>
            </a:r>
            <a:r>
              <a:rPr lang="en-US" dirty="0">
                <a:solidFill>
                  <a:srgbClr val="4365E2"/>
                </a:solidFill>
              </a:rPr>
              <a:t>dynamic</a:t>
            </a:r>
            <a:r>
              <a:rPr lang="en-US" dirty="0"/>
              <a:t>)</a:t>
            </a:r>
            <a:r>
              <a:rPr lang="en-US" i="1" dirty="0"/>
              <a:t>:</a:t>
            </a:r>
            <a:endParaRPr lang="en-US" dirty="0"/>
          </a:p>
          <a:p>
            <a:pPr lvl="2">
              <a:defRPr/>
            </a:pPr>
            <a:r>
              <a:rPr lang="en-US" dirty="0"/>
              <a:t>initially, the first available empty way in a set will be used, but once all ways are full, we must </a:t>
            </a:r>
            <a:r>
              <a:rPr lang="en-US" i="1" dirty="0"/>
              <a:t>overwrite</a:t>
            </a:r>
            <a:r>
              <a:rPr lang="en-US" dirty="0"/>
              <a:t> existing contents - but which one?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ldLvl="2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Cache update strategies</a:t>
            </a:r>
            <a:endParaRPr lang="en-GB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605155" y="1036955"/>
            <a:ext cx="11152505" cy="5336540"/>
          </a:xfr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dirty="0"/>
              <a:t>When a new item is loaded from memory, it must be placed in the cache (as recent data is the </a:t>
            </a:r>
            <a:r>
              <a:rPr lang="en-GB" i="1" dirty="0"/>
              <a:t>most valuable</a:t>
            </a:r>
            <a:r>
              <a:rPr lang="en-GB" dirty="0"/>
              <a:t>). However, the cache will (usually) </a:t>
            </a:r>
            <a:r>
              <a:rPr lang="en-GB" i="1" dirty="0"/>
              <a:t>already be full</a:t>
            </a:r>
            <a:r>
              <a:rPr lang="en-GB" dirty="0"/>
              <a:t> … what do we replace?</a:t>
            </a:r>
            <a:endParaRPr lang="en-GB" dirty="0"/>
          </a:p>
          <a:p>
            <a:pPr>
              <a:defRPr/>
            </a:pPr>
            <a:r>
              <a:rPr lang="en-GB" dirty="0"/>
              <a:t>Three common strategies are used:</a:t>
            </a:r>
            <a:endParaRPr lang="en-GB" dirty="0"/>
          </a:p>
          <a:p>
            <a:pPr lvl="1">
              <a:defRPr/>
            </a:pPr>
            <a:r>
              <a:rPr lang="en-GB" dirty="0">
                <a:solidFill>
                  <a:srgbClr val="4365E2"/>
                </a:solidFill>
              </a:rPr>
              <a:t>least recently used (LRU)</a:t>
            </a:r>
            <a:r>
              <a:rPr lang="en-GB" dirty="0"/>
              <a:t>: </a:t>
            </a:r>
            <a:r>
              <a:rPr lang="en-GB" b="1" dirty="0"/>
              <a:t>most effective</a:t>
            </a:r>
            <a:r>
              <a:rPr lang="en-GB" dirty="0"/>
              <a:t>, easily implemented with set-associative</a:t>
            </a:r>
            <a:endParaRPr lang="en-GB" dirty="0"/>
          </a:p>
          <a:p>
            <a:pPr lvl="1">
              <a:defRPr/>
            </a:pPr>
            <a:r>
              <a:rPr lang="en-GB" dirty="0">
                <a:solidFill>
                  <a:srgbClr val="4365E2"/>
                </a:solidFill>
              </a:rPr>
              <a:t>first-in first-out (FIFO)</a:t>
            </a:r>
            <a:r>
              <a:rPr lang="en-GB" dirty="0"/>
              <a:t>: implemented via a circular buffer on each set</a:t>
            </a:r>
            <a:endParaRPr lang="en-GB" dirty="0"/>
          </a:p>
          <a:p>
            <a:pPr lvl="1">
              <a:defRPr/>
            </a:pPr>
            <a:r>
              <a:rPr lang="en-GB" dirty="0">
                <a:solidFill>
                  <a:srgbClr val="4365E2"/>
                </a:solidFill>
              </a:rPr>
              <a:t>least frequently used (LFU)</a:t>
            </a:r>
            <a:r>
              <a:rPr lang="en-GB" dirty="0"/>
              <a:t>: need a hit counter on each way of each set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ldLvl="2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way?</a:t>
            </a:r>
            <a:endParaRPr lang="en-US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Determining which way to overwrite is done </a:t>
            </a:r>
            <a:r>
              <a:rPr lang="en-GB" dirty="0">
                <a:solidFill>
                  <a:srgbClr val="4365E2"/>
                </a:solidFill>
              </a:rPr>
              <a:t>algorithmically</a:t>
            </a:r>
            <a:r>
              <a:rPr lang="en-GB" dirty="0"/>
              <a:t> i.e. using built-in rules.</a:t>
            </a:r>
            <a:endParaRPr lang="en-GB" dirty="0"/>
          </a:p>
          <a:p>
            <a:r>
              <a:rPr lang="en-GB" dirty="0"/>
              <a:t>To support the operation of the replacement algorithm, the cache must hold some extra “housekeeping” bits, such as </a:t>
            </a:r>
            <a:r>
              <a:rPr lang="en-GB" dirty="0">
                <a:solidFill>
                  <a:srgbClr val="FF0000"/>
                </a:solidFill>
              </a:rPr>
              <a:t>LRU </a:t>
            </a:r>
            <a:r>
              <a:rPr lang="en-GB" dirty="0"/>
              <a:t>bits.</a:t>
            </a:r>
            <a:endParaRPr lang="en-GB" dirty="0"/>
          </a:p>
          <a:p>
            <a:r>
              <a:rPr lang="en-GB" dirty="0"/>
              <a:t>These bits are </a:t>
            </a:r>
            <a:r>
              <a:rPr lang="en-GB" dirty="0">
                <a:solidFill>
                  <a:srgbClr val="4365E2"/>
                </a:solidFill>
              </a:rPr>
              <a:t>dynamically updated</a:t>
            </a:r>
            <a:r>
              <a:rPr lang="en-GB" dirty="0"/>
              <a:t> during cache usage.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185"/>
          <a:stretch>
            <a:fillRect/>
          </a:stretch>
        </p:blipFill>
        <p:spPr>
          <a:xfrm>
            <a:off x="1475105" y="4991100"/>
            <a:ext cx="8648700" cy="894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D262-C824-4B20-9CA4-5EF0F9A876AE}" type="slidenum">
              <a:rPr lang="en-GB" altLang="en-US" smtClean="0"/>
            </a:fld>
            <a:endParaRPr lang="en-GB" altLang="en-US" dirty="0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en-GB" dirty="0"/>
              <a:t>Cache Coherence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11355" y="1623701"/>
            <a:ext cx="5204389" cy="4470518"/>
          </a:xfrm>
          <a:prstGeom prst="rect">
            <a:avLst/>
          </a:prstGeom>
          <a:solidFill>
            <a:srgbClr val="C7D1F6"/>
          </a:solidFill>
          <a:ln w="28575">
            <a:solidFill>
              <a:srgbClr val="4365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Multi-level caches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sp>
        <p:nvSpPr>
          <p:cNvPr id="17411" name="Text Box 6"/>
          <p:cNvSpPr txBox="1">
            <a:spLocks noChangeArrowheads="1"/>
          </p:cNvSpPr>
          <p:nvPr/>
        </p:nvSpPr>
        <p:spPr bwMode="auto">
          <a:xfrm>
            <a:off x="8774260" y="1339657"/>
            <a:ext cx="1511300" cy="4754562"/>
          </a:xfrm>
          <a:prstGeom prst="rect">
            <a:avLst/>
          </a:prstGeom>
          <a:solidFill>
            <a:srgbClr val="4365E2"/>
          </a:solidFill>
          <a:ln w="31750">
            <a:noFill/>
            <a:miter lim="800000"/>
            <a:headEnd type="none" w="sm" len="sm"/>
            <a:tailEnd type="none" w="lg" len="med"/>
          </a:ln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FC0128"/>
              </a:buClr>
              <a:buSzPct val="7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2400" dirty="0">
                <a:solidFill>
                  <a:schemeClr val="bg1"/>
                </a:solidFill>
              </a:rPr>
              <a:t>Main Memory</a:t>
            </a:r>
            <a:endParaRPr lang="en-GB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US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US" altLang="en-US" sz="2400" dirty="0">
              <a:solidFill>
                <a:schemeClr val="bg1"/>
              </a:solidFill>
            </a:endParaRPr>
          </a:p>
        </p:txBody>
      </p:sp>
      <p:grpSp>
        <p:nvGrpSpPr>
          <p:cNvPr id="3" name="Group 2"/>
          <p:cNvGrpSpPr/>
          <p:nvPr>
            <p:custDataLst>
              <p:tags r:id="rId1"/>
            </p:custDataLst>
          </p:nvPr>
        </p:nvGrpSpPr>
        <p:grpSpPr bwMode="auto">
          <a:xfrm>
            <a:off x="3631648" y="2246119"/>
            <a:ext cx="755650" cy="838200"/>
            <a:chOff x="2665424" y="4169481"/>
            <a:chExt cx="755626" cy="838609"/>
          </a:xfrm>
          <a:solidFill>
            <a:srgbClr val="C7D1F6"/>
          </a:solidFill>
        </p:grpSpPr>
        <p:sp>
          <p:nvSpPr>
            <p:cNvPr id="17433" name="AutoShape 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 rot="5400000">
              <a:off x="2755900" y="4205200"/>
              <a:ext cx="574675" cy="503238"/>
            </a:xfrm>
            <a:prstGeom prst="leftRightArrow">
              <a:avLst>
                <a:gd name="adj1" fmla="val 31231"/>
                <a:gd name="adj2" fmla="val 36590"/>
              </a:avLst>
            </a:prstGeom>
            <a:grpFill/>
            <a:ln w="31750">
              <a:solidFill>
                <a:srgbClr val="4365E2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14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4" name="Text Box 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665424" y="4761858"/>
              <a:ext cx="755626" cy="246232"/>
            </a:xfrm>
            <a:prstGeom prst="rect">
              <a:avLst/>
            </a:prstGeom>
            <a:solidFill>
              <a:srgbClr val="4365E2"/>
            </a:solidFill>
            <a:ln w="31750">
              <a:noFill/>
              <a:miter lim="800000"/>
              <a:headEnd type="none" w="sm" len="sm"/>
              <a:tailEnd type="none" w="lg" len="med"/>
            </a:ln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1000" dirty="0">
                  <a:solidFill>
                    <a:schemeClr val="bg1"/>
                  </a:solidFill>
                </a:rPr>
                <a:t>L1 Cache</a:t>
              </a:r>
              <a:endParaRPr lang="en-US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>
            <p:custDataLst>
              <p:tags r:id="rId4"/>
            </p:custDataLst>
          </p:nvPr>
        </p:nvGrpSpPr>
        <p:grpSpPr bwMode="auto">
          <a:xfrm>
            <a:off x="4252366" y="2247712"/>
            <a:ext cx="1169987" cy="1570037"/>
            <a:chOff x="2331359" y="3715734"/>
            <a:chExt cx="1171458" cy="1569250"/>
          </a:xfrm>
        </p:grpSpPr>
        <p:sp>
          <p:nvSpPr>
            <p:cNvPr id="17431" name="AutoShape 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rot="5400000">
              <a:off x="2402879" y="3978325"/>
              <a:ext cx="1028419" cy="503238"/>
            </a:xfrm>
            <a:prstGeom prst="leftRightArrow">
              <a:avLst>
                <a:gd name="adj1" fmla="val 31231"/>
                <a:gd name="adj2" fmla="val 36586"/>
              </a:avLst>
            </a:prstGeom>
            <a:solidFill>
              <a:srgbClr val="C7D1F6"/>
            </a:solidFill>
            <a:ln w="31750">
              <a:solidFill>
                <a:srgbClr val="4365E2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4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2" name="Text Box 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31359" y="4761858"/>
              <a:ext cx="1171458" cy="523126"/>
            </a:xfrm>
            <a:prstGeom prst="rect">
              <a:avLst/>
            </a:prstGeom>
            <a:solidFill>
              <a:srgbClr val="4365E2"/>
            </a:solidFill>
            <a:ln w="31750">
              <a:noFill/>
              <a:miter lim="800000"/>
              <a:headEnd type="none" w="sm" len="sm"/>
              <a:tailEnd type="none" w="lg" len="med"/>
            </a:ln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bg1"/>
                  </a:solidFill>
                </a:rPr>
                <a:t>L2</a:t>
              </a:r>
              <a:br>
                <a:rPr lang="en-GB" altLang="en-US" sz="1400" dirty="0">
                  <a:solidFill>
                    <a:schemeClr val="bg1"/>
                  </a:solidFill>
                </a:rPr>
              </a:br>
              <a:r>
                <a:rPr lang="en-GB" altLang="en-US" sz="1400" dirty="0">
                  <a:solidFill>
                    <a:schemeClr val="bg1"/>
                  </a:solidFill>
                </a:rPr>
                <a:t>Cache</a:t>
              </a:r>
              <a:endParaRPr lang="en-US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/>
          <p:cNvGrpSpPr/>
          <p:nvPr>
            <p:custDataLst>
              <p:tags r:id="rId7"/>
            </p:custDataLst>
          </p:nvPr>
        </p:nvGrpSpPr>
        <p:grpSpPr bwMode="auto">
          <a:xfrm>
            <a:off x="2055266" y="1936562"/>
            <a:ext cx="3504985" cy="503237"/>
            <a:chOff x="332082" y="2586488"/>
            <a:chExt cx="3504862" cy="503288"/>
          </a:xfrm>
        </p:grpSpPr>
        <p:sp>
          <p:nvSpPr>
            <p:cNvPr id="17429" name="AutoShape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72494" y="2586488"/>
              <a:ext cx="2064450" cy="503288"/>
            </a:xfrm>
            <a:prstGeom prst="leftRightArrow">
              <a:avLst>
                <a:gd name="adj1" fmla="val 31231"/>
                <a:gd name="adj2" fmla="val 36598"/>
              </a:avLst>
            </a:prstGeom>
            <a:solidFill>
              <a:srgbClr val="4365E2"/>
            </a:solidFill>
            <a:ln w="31750">
              <a:solidFill>
                <a:srgbClr val="4365E2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4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0" name="Text Box 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2082" y="2607305"/>
              <a:ext cx="1440413" cy="461655"/>
            </a:xfrm>
            <a:prstGeom prst="rect">
              <a:avLst/>
            </a:prstGeom>
            <a:solidFill>
              <a:srgbClr val="4365E2"/>
            </a:solidFill>
            <a:ln w="31750">
              <a:noFill/>
              <a:miter lim="800000"/>
              <a:headEnd type="none" w="sm" len="sm"/>
              <a:tailEnd type="none" w="lg" len="med"/>
            </a:ln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400" dirty="0">
                  <a:solidFill>
                    <a:schemeClr val="bg1"/>
                  </a:solidFill>
                </a:rPr>
                <a:t>Core 1</a:t>
              </a:r>
              <a:endParaRPr lang="en-US" alt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/>
          <p:cNvGrpSpPr/>
          <p:nvPr>
            <p:custDataLst>
              <p:tags r:id="rId10"/>
            </p:custDataLst>
          </p:nvPr>
        </p:nvGrpSpPr>
        <p:grpSpPr bwMode="auto">
          <a:xfrm>
            <a:off x="2031453" y="4044757"/>
            <a:ext cx="3529013" cy="1879600"/>
            <a:chOff x="308641" y="4693526"/>
            <a:chExt cx="3528888" cy="1881004"/>
          </a:xfrm>
        </p:grpSpPr>
        <p:grpSp>
          <p:nvGrpSpPr>
            <p:cNvPr id="17421" name="Group 15"/>
            <p:cNvGrpSpPr/>
            <p:nvPr/>
          </p:nvGrpSpPr>
          <p:grpSpPr bwMode="auto">
            <a:xfrm>
              <a:off x="1873504" y="5002375"/>
              <a:ext cx="779144" cy="838571"/>
              <a:chOff x="2653704" y="4169481"/>
              <a:chExt cx="779066" cy="838609"/>
            </a:xfrm>
          </p:grpSpPr>
          <p:sp>
            <p:nvSpPr>
              <p:cNvPr id="17427" name="AutoShape 9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 rot="5400000">
                <a:off x="2755900" y="4205200"/>
                <a:ext cx="574675" cy="503238"/>
              </a:xfrm>
              <a:prstGeom prst="leftRightArrow">
                <a:avLst>
                  <a:gd name="adj1" fmla="val 31231"/>
                  <a:gd name="adj2" fmla="val 36590"/>
                </a:avLst>
              </a:prstGeom>
              <a:solidFill>
                <a:srgbClr val="C7D1F6"/>
              </a:solidFill>
              <a:ln w="31750">
                <a:solidFill>
                  <a:srgbClr val="4365E2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>
                <a:lvl1pPr algn="l">
                  <a:spcBef>
                    <a:spcPct val="20000"/>
                  </a:spcBef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rgbClr val="FC0128"/>
                  </a:buClr>
                  <a:buSzPct val="7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altLang="en-US" sz="1400" b="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28" name="Text Box 5"/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653704" y="4761858"/>
                <a:ext cx="779066" cy="246232"/>
              </a:xfrm>
              <a:prstGeom prst="rect">
                <a:avLst/>
              </a:prstGeom>
              <a:solidFill>
                <a:srgbClr val="4365E2"/>
              </a:solidFill>
              <a:ln w="31750">
                <a:noFill/>
                <a:miter lim="800000"/>
                <a:headEnd type="none" w="sm" len="sm"/>
                <a:tailEnd type="none" w="lg" len="med"/>
              </a:ln>
            </p:spPr>
            <p:txBody>
              <a:bodyPr>
                <a:spAutoFit/>
              </a:bodyPr>
              <a:lstStyle>
                <a:lvl1pPr algn="l">
                  <a:spcBef>
                    <a:spcPct val="20000"/>
                  </a:spcBef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rgbClr val="FC0128"/>
                  </a:buClr>
                  <a:buSzPct val="7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GB" altLang="en-US" sz="1000" dirty="0">
                    <a:solidFill>
                      <a:schemeClr val="bg1"/>
                    </a:solidFill>
                  </a:rPr>
                  <a:t>L1 Cache</a:t>
                </a:r>
                <a:endParaRPr lang="en-US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422" name="Group 18"/>
            <p:cNvGrpSpPr/>
            <p:nvPr/>
          </p:nvGrpSpPr>
          <p:grpSpPr bwMode="auto">
            <a:xfrm>
              <a:off x="2504835" y="5005000"/>
              <a:ext cx="1169987" cy="1569530"/>
              <a:chOff x="2331359" y="3715734"/>
              <a:chExt cx="1171458" cy="1569250"/>
            </a:xfrm>
          </p:grpSpPr>
          <p:sp>
            <p:nvSpPr>
              <p:cNvPr id="17425" name="AutoShape 9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 rot="5400000">
                <a:off x="2402879" y="3978325"/>
                <a:ext cx="1028419" cy="503238"/>
              </a:xfrm>
              <a:prstGeom prst="leftRightArrow">
                <a:avLst>
                  <a:gd name="adj1" fmla="val 31231"/>
                  <a:gd name="adj2" fmla="val 36586"/>
                </a:avLst>
              </a:prstGeom>
              <a:solidFill>
                <a:srgbClr val="C7D1F6"/>
              </a:solidFill>
              <a:ln w="31750">
                <a:solidFill>
                  <a:srgbClr val="4365E2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>
                <a:lvl1pPr algn="l">
                  <a:spcBef>
                    <a:spcPct val="20000"/>
                  </a:spcBef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rgbClr val="FC0128"/>
                  </a:buClr>
                  <a:buSzPct val="7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26" name="Text Box 5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331359" y="4761858"/>
                <a:ext cx="1171458" cy="523126"/>
              </a:xfrm>
              <a:prstGeom prst="rect">
                <a:avLst/>
              </a:prstGeom>
              <a:solidFill>
                <a:srgbClr val="4365E2"/>
              </a:solidFill>
              <a:ln w="31750">
                <a:noFill/>
                <a:miter lim="800000"/>
                <a:headEnd type="none" w="sm" len="sm"/>
                <a:tailEnd type="none" w="lg" len="med"/>
              </a:ln>
            </p:spPr>
            <p:txBody>
              <a:bodyPr>
                <a:spAutoFit/>
              </a:bodyPr>
              <a:lstStyle>
                <a:lvl1pPr algn="l">
                  <a:spcBef>
                    <a:spcPct val="20000"/>
                  </a:spcBef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rgbClr val="FC0128"/>
                  </a:buClr>
                  <a:buSzPct val="7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C0128"/>
                  </a:buClr>
                  <a:buSzPct val="65000"/>
                  <a:buFont typeface="Arial Unicode MS" panose="020B0604020202020204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GB" altLang="en-US" sz="1400" dirty="0">
                    <a:solidFill>
                      <a:schemeClr val="bg1"/>
                    </a:solidFill>
                  </a:rPr>
                  <a:t>L2</a:t>
                </a:r>
                <a:br>
                  <a:rPr lang="en-GB" altLang="en-US" sz="1400" dirty="0">
                    <a:solidFill>
                      <a:schemeClr val="bg1"/>
                    </a:solidFill>
                  </a:rPr>
                </a:br>
                <a:r>
                  <a:rPr lang="en-GB" altLang="en-US" sz="1400" dirty="0">
                    <a:solidFill>
                      <a:schemeClr val="bg1"/>
                    </a:solidFill>
                  </a:rPr>
                  <a:t>Cache</a:t>
                </a:r>
                <a:endParaRPr lang="en-US" altLang="en-US" sz="1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423" name="AutoShape 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749053" y="4693526"/>
              <a:ext cx="2088476" cy="503288"/>
            </a:xfrm>
            <a:prstGeom prst="leftRightArrow">
              <a:avLst>
                <a:gd name="adj1" fmla="val 31231"/>
                <a:gd name="adj2" fmla="val 36598"/>
              </a:avLst>
            </a:prstGeom>
            <a:solidFill>
              <a:srgbClr val="4365E2"/>
            </a:solidFill>
            <a:ln w="31750">
              <a:solidFill>
                <a:srgbClr val="4365E2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4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4" name="Text Box 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08641" y="4714343"/>
              <a:ext cx="1440413" cy="461655"/>
            </a:xfrm>
            <a:prstGeom prst="rect">
              <a:avLst/>
            </a:prstGeom>
            <a:solidFill>
              <a:srgbClr val="4365E2"/>
            </a:solidFill>
            <a:ln w="31750">
              <a:noFill/>
              <a:miter lim="800000"/>
              <a:headEnd type="none" w="sm" len="sm"/>
              <a:tailEnd type="none" w="lg" len="med"/>
            </a:ln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400" dirty="0">
                  <a:solidFill>
                    <a:schemeClr val="bg1"/>
                  </a:solidFill>
                </a:rPr>
                <a:t>Core 2</a:t>
              </a:r>
              <a:endParaRPr lang="en-US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9464" name="AutoShape 2"/>
          <p:cNvSpPr>
            <a:spLocks noChangeArrowheads="1"/>
          </p:cNvSpPr>
          <p:nvPr/>
        </p:nvSpPr>
        <p:spPr bwMode="auto">
          <a:xfrm>
            <a:off x="5719216" y="3222437"/>
            <a:ext cx="3055049" cy="503237"/>
          </a:xfrm>
          <a:prstGeom prst="leftRightArrow">
            <a:avLst>
              <a:gd name="adj1" fmla="val 36278"/>
              <a:gd name="adj2" fmla="val 95258"/>
            </a:avLst>
          </a:prstGeom>
          <a:solidFill>
            <a:srgbClr val="4365E2"/>
          </a:solidFill>
          <a:ln w="31750">
            <a:solidFill>
              <a:srgbClr val="4365E2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>
            <a:lvl1pPr algn="l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FC0128"/>
              </a:buClr>
              <a:buSzPct val="7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sz="2400" b="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 bwMode="auto">
          <a:xfrm>
            <a:off x="5560466" y="1771462"/>
            <a:ext cx="1455737" cy="4211637"/>
            <a:chOff x="3837529" y="2420888"/>
            <a:chExt cx="1454550" cy="4211308"/>
          </a:xfrm>
        </p:grpSpPr>
        <p:sp>
          <p:nvSpPr>
            <p:cNvPr id="17418" name="Rectangle 3"/>
            <p:cNvSpPr>
              <a:spLocks noChangeArrowheads="1"/>
            </p:cNvSpPr>
            <p:nvPr/>
          </p:nvSpPr>
          <p:spPr bwMode="auto">
            <a:xfrm>
              <a:off x="3837529" y="2420888"/>
              <a:ext cx="158407" cy="2868812"/>
            </a:xfrm>
            <a:prstGeom prst="rect">
              <a:avLst/>
            </a:prstGeom>
            <a:solidFill>
              <a:srgbClr val="4365E2"/>
            </a:solidFill>
            <a:ln w="31750">
              <a:solidFill>
                <a:srgbClr val="4365E2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4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19" name="AutoShape 9"/>
            <p:cNvSpPr>
              <a:spLocks noChangeArrowheads="1"/>
            </p:cNvSpPr>
            <p:nvPr/>
          </p:nvSpPr>
          <p:spPr bwMode="auto">
            <a:xfrm rot="5400000">
              <a:off x="4491661" y="4250606"/>
              <a:ext cx="592730" cy="503288"/>
            </a:xfrm>
            <a:prstGeom prst="leftRightArrow">
              <a:avLst>
                <a:gd name="adj1" fmla="val 31231"/>
                <a:gd name="adj2" fmla="val 36591"/>
              </a:avLst>
            </a:prstGeom>
            <a:solidFill>
              <a:srgbClr val="C7D1F6"/>
            </a:solidFill>
            <a:ln w="31750">
              <a:solidFill>
                <a:srgbClr val="4365E2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4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0" name="Text Box 5"/>
            <p:cNvSpPr txBox="1">
              <a:spLocks noChangeArrowheads="1"/>
            </p:cNvSpPr>
            <p:nvPr/>
          </p:nvSpPr>
          <p:spPr bwMode="auto">
            <a:xfrm>
              <a:off x="4283968" y="4816314"/>
              <a:ext cx="1008111" cy="1815882"/>
            </a:xfrm>
            <a:prstGeom prst="rect">
              <a:avLst/>
            </a:prstGeom>
            <a:solidFill>
              <a:srgbClr val="4365E2"/>
            </a:solidFill>
            <a:ln w="31750">
              <a:noFill/>
              <a:miter lim="800000"/>
              <a:headEnd type="none" w="sm" len="sm"/>
              <a:tailEnd type="none" w="lg" len="med"/>
            </a:ln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en-GB" alt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endParaRPr lang="en-GB" alt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bg1"/>
                  </a:solidFill>
                </a:rPr>
                <a:t>L3</a:t>
              </a:r>
              <a:br>
                <a:rPr lang="en-GB" altLang="en-US" sz="1400" dirty="0">
                  <a:solidFill>
                    <a:schemeClr val="bg1"/>
                  </a:solidFill>
                </a:rPr>
              </a:br>
              <a:r>
                <a:rPr lang="en-GB" altLang="en-US" sz="1400" dirty="0">
                  <a:solidFill>
                    <a:schemeClr val="bg1"/>
                  </a:solidFill>
                </a:rPr>
                <a:t>Cache</a:t>
              </a:r>
              <a:endParaRPr lang="en-GB" alt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endParaRPr lang="en-GB" alt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endParaRPr lang="en-US" altLang="en-US" sz="1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1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Multi-level caches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sp>
        <p:nvSpPr>
          <p:cNvPr id="104" name="AutoShape 2"/>
          <p:cNvSpPr>
            <a:spLocks noChangeArrowheads="1"/>
          </p:cNvSpPr>
          <p:nvPr/>
        </p:nvSpPr>
        <p:spPr bwMode="auto">
          <a:xfrm>
            <a:off x="4759664" y="3203016"/>
            <a:ext cx="4014601" cy="503237"/>
          </a:xfrm>
          <a:prstGeom prst="leftRightArrow">
            <a:avLst>
              <a:gd name="adj1" fmla="val 36278"/>
              <a:gd name="adj2" fmla="val 95229"/>
            </a:avLst>
          </a:prstGeom>
          <a:solidFill>
            <a:srgbClr val="4365E2"/>
          </a:solidFill>
          <a:ln>
            <a:solidFill>
              <a:srgbClr val="4365E2"/>
            </a:solidFill>
          </a:ln>
        </p:spPr>
        <p:txBody>
          <a:bodyPr wrap="none" anchor="ctr"/>
          <a:lstStyle>
            <a:lvl1pPr algn="l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FC0128"/>
              </a:buClr>
              <a:buSzPct val="7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55" name="Group 54"/>
          <p:cNvGrpSpPr/>
          <p:nvPr/>
        </p:nvGrpSpPr>
        <p:grpSpPr bwMode="auto">
          <a:xfrm>
            <a:off x="5010484" y="3553848"/>
            <a:ext cx="1009650" cy="2317750"/>
            <a:chOff x="4283968" y="4205885"/>
            <a:chExt cx="1008111" cy="2318455"/>
          </a:xfrm>
        </p:grpSpPr>
        <p:sp>
          <p:nvSpPr>
            <p:cNvPr id="18441" name="AutoShape 9"/>
            <p:cNvSpPr>
              <a:spLocks noChangeArrowheads="1"/>
            </p:cNvSpPr>
            <p:nvPr/>
          </p:nvSpPr>
          <p:spPr bwMode="auto">
            <a:xfrm rot="5400000">
              <a:off x="4491661" y="4250606"/>
              <a:ext cx="592730" cy="503288"/>
            </a:xfrm>
            <a:prstGeom prst="leftRightArrow">
              <a:avLst>
                <a:gd name="adj1" fmla="val 31231"/>
                <a:gd name="adj2" fmla="val 36591"/>
              </a:avLst>
            </a:prstGeom>
            <a:solidFill>
              <a:srgbClr val="C7D1F6"/>
            </a:solidFill>
            <a:ln w="31750">
              <a:solidFill>
                <a:srgbClr val="4365E2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4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42" name="Text Box 5"/>
            <p:cNvSpPr txBox="1">
              <a:spLocks noChangeArrowheads="1"/>
            </p:cNvSpPr>
            <p:nvPr/>
          </p:nvSpPr>
          <p:spPr bwMode="auto">
            <a:xfrm>
              <a:off x="4283968" y="4816314"/>
              <a:ext cx="1008111" cy="1708026"/>
            </a:xfrm>
            <a:prstGeom prst="rect">
              <a:avLst/>
            </a:prstGeom>
            <a:solidFill>
              <a:srgbClr val="4365E2"/>
            </a:solidFill>
            <a:ln w="31750">
              <a:noFill/>
              <a:miter lim="800000"/>
              <a:headEnd type="none" w="sm" len="sm"/>
              <a:tailEnd type="none" w="lg" len="med"/>
            </a:ln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C0128"/>
                </a:buClr>
                <a:buSzPct val="7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C0128"/>
                </a:buClr>
                <a:buSzPct val="65000"/>
                <a:buFont typeface="Arial Unicode MS" panose="020B0604020202020204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en-GB" alt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bg1"/>
                  </a:solidFill>
                </a:rPr>
                <a:t>L4</a:t>
              </a:r>
              <a:br>
                <a:rPr lang="en-GB" altLang="en-US" sz="1400" dirty="0">
                  <a:solidFill>
                    <a:schemeClr val="bg1"/>
                  </a:solidFill>
                </a:rPr>
              </a:br>
              <a:r>
                <a:rPr lang="en-GB" altLang="en-US" sz="1400" dirty="0">
                  <a:solidFill>
                    <a:schemeClr val="bg1"/>
                  </a:solidFill>
                </a:rPr>
                <a:t>Cache</a:t>
              </a:r>
              <a:endParaRPr lang="en-GB" alt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bg1"/>
                  </a:solidFill>
                </a:rPr>
                <a:t>(separate chip)</a:t>
              </a:r>
              <a:endParaRPr lang="en-GB" altLang="en-US" sz="1400" dirty="0">
                <a:solidFill>
                  <a:schemeClr val="bg1"/>
                </a:solidFill>
              </a:endParaRPr>
            </a:p>
            <a:p>
              <a:pPr algn="ctr">
                <a:spcBef>
                  <a:spcPct val="50000"/>
                </a:spcBef>
                <a:buFontTx/>
                <a:buNone/>
              </a:pPr>
              <a:endParaRPr lang="en-US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725534" y="1474882"/>
            <a:ext cx="2906580" cy="2231366"/>
            <a:chOff x="201534" y="1474882"/>
            <a:chExt cx="2906580" cy="223136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1534" y="1521201"/>
              <a:ext cx="2906580" cy="2185047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33146" y="1474882"/>
              <a:ext cx="11536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Calibri" panose="020F0502020204030204" pitchFamily="34" charset="0"/>
                </a:rPr>
                <a:t>CPU 1</a:t>
              </a:r>
              <a:endParaRPr lang="en-GB" sz="1600" b="1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735696" y="3874826"/>
            <a:ext cx="2906580" cy="2233416"/>
            <a:chOff x="211696" y="3874826"/>
            <a:chExt cx="2906580" cy="2233416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1696" y="3923195"/>
              <a:ext cx="2906580" cy="2185047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848813" y="3874826"/>
              <a:ext cx="11536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Calibri" panose="020F0502020204030204" pitchFamily="34" charset="0"/>
                </a:rPr>
                <a:t>CPU 2</a:t>
              </a:r>
              <a:endParaRPr lang="en-GB" sz="16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103" name="Rectangle 102"/>
          <p:cNvSpPr>
            <a:spLocks noChangeArrowheads="1"/>
          </p:cNvSpPr>
          <p:nvPr/>
        </p:nvSpPr>
        <p:spPr bwMode="auto">
          <a:xfrm>
            <a:off x="4607969" y="1839265"/>
            <a:ext cx="151695" cy="3792419"/>
          </a:xfrm>
          <a:prstGeom prst="rect">
            <a:avLst/>
          </a:prstGeom>
          <a:solidFill>
            <a:srgbClr val="4365E2"/>
          </a:solidFill>
          <a:ln>
            <a:solidFill>
              <a:srgbClr val="4365E2"/>
            </a:solidFill>
          </a:ln>
        </p:spPr>
        <p:txBody>
          <a:bodyPr wrap="none" anchor="ctr"/>
          <a:lstStyle>
            <a:lvl1pPr algn="l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FC0128"/>
              </a:buClr>
              <a:buSzPct val="7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sz="900" b="0" dirty="0">
              <a:latin typeface="Times New Roman" panose="02020603050405020304" pitchFamily="18" charset="0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8774260" y="1339657"/>
            <a:ext cx="1511300" cy="4754562"/>
          </a:xfrm>
          <a:prstGeom prst="rect">
            <a:avLst/>
          </a:prstGeom>
          <a:solidFill>
            <a:srgbClr val="4365E2"/>
          </a:solidFill>
          <a:ln w="31750">
            <a:noFill/>
            <a:miter lim="800000"/>
            <a:headEnd type="none" w="sm" len="sm"/>
            <a:tailEnd type="none" w="lg" len="med"/>
          </a:ln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FC0128"/>
              </a:buClr>
              <a:buSzPct val="7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2400" dirty="0">
                <a:solidFill>
                  <a:schemeClr val="bg1"/>
                </a:solidFill>
              </a:rPr>
              <a:t>Main Memory</a:t>
            </a:r>
            <a:endParaRPr lang="en-GB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US" altLang="en-US" sz="2400" dirty="0">
              <a:solidFill>
                <a:schemeClr val="bg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en-US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Cache coherence</a:t>
            </a:r>
            <a:endParaRPr lang="en-GB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708025" y="986790"/>
            <a:ext cx="10813415" cy="5224145"/>
          </a:xfrm>
        </p:spPr>
        <p:txBody>
          <a:bodyPr wrap="square">
            <a:noAutofit/>
          </a:bodyPr>
          <a:lstStyle/>
          <a:p>
            <a:pPr>
              <a:defRPr/>
            </a:pPr>
            <a:r>
              <a:rPr lang="en-GB" dirty="0"/>
              <a:t>The cache stores a </a:t>
            </a:r>
            <a:r>
              <a:rPr lang="en-GB" dirty="0">
                <a:solidFill>
                  <a:srgbClr val="4365E2"/>
                </a:solidFill>
              </a:rPr>
              <a:t>copy </a:t>
            </a:r>
            <a:r>
              <a:rPr lang="en-GB" dirty="0"/>
              <a:t>of certain areas of main memory. If one copy is </a:t>
            </a:r>
            <a:r>
              <a:rPr lang="en-GB" i="1" dirty="0"/>
              <a:t>updated</a:t>
            </a:r>
            <a:r>
              <a:rPr lang="en-GB" dirty="0"/>
              <a:t>, we have a </a:t>
            </a:r>
            <a:r>
              <a:rPr lang="en-GB" i="1" dirty="0"/>
              <a:t>potential</a:t>
            </a:r>
            <a:r>
              <a:rPr lang="en-GB" dirty="0"/>
              <a:t> coherence problem (two </a:t>
            </a:r>
            <a:r>
              <a:rPr lang="en-GB" dirty="0">
                <a:solidFill>
                  <a:srgbClr val="4365E2"/>
                </a:solidFill>
              </a:rPr>
              <a:t>different </a:t>
            </a:r>
            <a:r>
              <a:rPr lang="en-GB" dirty="0"/>
              <a:t>versions of the </a:t>
            </a:r>
            <a:r>
              <a:rPr lang="en-GB" dirty="0">
                <a:solidFill>
                  <a:srgbClr val="4365E2"/>
                </a:solidFill>
              </a:rPr>
              <a:t>same </a:t>
            </a:r>
            <a:r>
              <a:rPr lang="en-GB" dirty="0"/>
              <a:t>data) - so we must either:</a:t>
            </a:r>
            <a:endParaRPr lang="en-GB" dirty="0"/>
          </a:p>
          <a:p>
            <a:pPr lvl="1">
              <a:defRPr/>
            </a:pPr>
            <a:r>
              <a:rPr lang="en-GB" dirty="0"/>
              <a:t>ensure the cache and main memory are </a:t>
            </a:r>
            <a:r>
              <a:rPr lang="en-GB" dirty="0">
                <a:solidFill>
                  <a:srgbClr val="4365E2"/>
                </a:solidFill>
              </a:rPr>
              <a:t>always coherent</a:t>
            </a:r>
            <a:r>
              <a:rPr lang="en-GB" dirty="0"/>
              <a:t> (contain </a:t>
            </a:r>
            <a:r>
              <a:rPr lang="en-GB" i="1" dirty="0"/>
              <a:t>same data</a:t>
            </a:r>
            <a:r>
              <a:rPr lang="en-GB" dirty="0"/>
              <a:t>), or:</a:t>
            </a:r>
            <a:endParaRPr lang="en-GB" dirty="0"/>
          </a:p>
          <a:p>
            <a:pPr lvl="1">
              <a:defRPr/>
            </a:pPr>
            <a:r>
              <a:rPr lang="en-GB" dirty="0"/>
              <a:t>use appropriate </a:t>
            </a:r>
            <a:r>
              <a:rPr lang="en-GB" i="1" dirty="0"/>
              <a:t>dynamic</a:t>
            </a:r>
            <a:r>
              <a:rPr lang="en-GB" dirty="0"/>
              <a:t> techniques to </a:t>
            </a:r>
            <a:r>
              <a:rPr lang="en-GB" dirty="0">
                <a:solidFill>
                  <a:srgbClr val="4365E2"/>
                </a:solidFill>
              </a:rPr>
              <a:t>prevent</a:t>
            </a:r>
            <a:r>
              <a:rPr lang="en-GB" i="1" dirty="0">
                <a:solidFill>
                  <a:schemeClr val="accent2"/>
                </a:solidFill>
              </a:rPr>
              <a:t> </a:t>
            </a:r>
            <a:r>
              <a:rPr lang="en-GB" dirty="0"/>
              <a:t>coherence differences from causing problems</a:t>
            </a:r>
            <a:endParaRPr lang="en-GB" dirty="0"/>
          </a:p>
          <a:p>
            <a:pPr>
              <a:defRPr/>
            </a:pPr>
            <a:r>
              <a:rPr lang="en-GB" dirty="0"/>
              <a:t>… and we need to be especially careful with </a:t>
            </a:r>
            <a:r>
              <a:rPr lang="en-GB" i="1" dirty="0"/>
              <a:t>multi‑processor</a:t>
            </a:r>
            <a:r>
              <a:rPr lang="en-GB" dirty="0"/>
              <a:t> systems … with </a:t>
            </a:r>
            <a:r>
              <a:rPr lang="en-GB" i="1" dirty="0"/>
              <a:t>multiple copies</a:t>
            </a:r>
            <a:r>
              <a:rPr lang="en-GB" dirty="0"/>
              <a:t>!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ldLvl="2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Multi-level caches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>
              <a:defRPr/>
            </a:pPr>
            <a:r>
              <a:rPr lang="en-GB" dirty="0"/>
              <a:t>Multi-level caches can be:</a:t>
            </a:r>
            <a:endParaRPr lang="en-GB" dirty="0"/>
          </a:p>
          <a:p>
            <a:pPr marL="457200" lvl="1">
              <a:defRPr/>
            </a:pPr>
            <a:r>
              <a:rPr lang="en-GB" dirty="0">
                <a:solidFill>
                  <a:srgbClr val="4365E2"/>
                </a:solidFill>
              </a:rPr>
              <a:t>Inclusive</a:t>
            </a:r>
            <a:r>
              <a:rPr lang="en-GB" dirty="0"/>
              <a:t>: L2 holds a </a:t>
            </a:r>
            <a:r>
              <a:rPr lang="en-GB" i="1" dirty="0"/>
              <a:t>copy</a:t>
            </a:r>
            <a:r>
              <a:rPr lang="en-GB" dirty="0"/>
              <a:t> of L1 data, </a:t>
            </a:r>
            <a:r>
              <a:rPr lang="en-GB" i="1" dirty="0"/>
              <a:t>plus</a:t>
            </a:r>
            <a:r>
              <a:rPr lang="en-GB" dirty="0"/>
              <a:t> anything discarded from L1:</a:t>
            </a:r>
            <a:endParaRPr lang="en-GB" dirty="0"/>
          </a:p>
          <a:p>
            <a:pPr marL="977900" lvl="1" indent="-457200">
              <a:defRPr/>
            </a:pPr>
            <a:r>
              <a:rPr lang="en-GB" dirty="0"/>
              <a:t>hit in L2 – data copied into L1</a:t>
            </a:r>
            <a:endParaRPr lang="en-GB" dirty="0"/>
          </a:p>
          <a:p>
            <a:pPr marL="977900" lvl="1" indent="-457200">
              <a:defRPr/>
            </a:pPr>
            <a:r>
              <a:rPr lang="en-GB" dirty="0"/>
              <a:t>miss in both – data is fetched and copied into L1 </a:t>
            </a:r>
            <a:r>
              <a:rPr lang="en-GB" i="1" dirty="0"/>
              <a:t>and</a:t>
            </a:r>
            <a:r>
              <a:rPr lang="en-GB" dirty="0"/>
              <a:t> L2</a:t>
            </a:r>
            <a:endParaRPr lang="en-GB" dirty="0"/>
          </a:p>
          <a:p>
            <a:pPr marL="457200" lvl="1">
              <a:defRPr/>
            </a:pPr>
            <a:r>
              <a:rPr lang="en-GB" dirty="0">
                <a:solidFill>
                  <a:srgbClr val="4365E2"/>
                </a:solidFill>
              </a:rPr>
              <a:t>Exclusive</a:t>
            </a:r>
            <a:r>
              <a:rPr lang="en-GB" dirty="0"/>
              <a:t>: L2 holds </a:t>
            </a:r>
            <a:r>
              <a:rPr lang="en-GB" i="1" dirty="0"/>
              <a:t>only</a:t>
            </a:r>
            <a:r>
              <a:rPr lang="en-GB" dirty="0"/>
              <a:t> discards from L1:</a:t>
            </a:r>
            <a:endParaRPr lang="en-GB" dirty="0"/>
          </a:p>
          <a:p>
            <a:pPr marL="977900" lvl="1" indent="-457200">
              <a:defRPr/>
            </a:pPr>
            <a:r>
              <a:rPr lang="en-GB" dirty="0"/>
              <a:t>hit in L2 – data is switched L1</a:t>
            </a:r>
            <a:r>
              <a:rPr lang="en-GB" dirty="0">
                <a:sym typeface="Wingdings" panose="05000000000000000000"/>
              </a:rPr>
              <a:t></a:t>
            </a:r>
            <a:r>
              <a:rPr lang="en-GB" dirty="0"/>
              <a:t>L2</a:t>
            </a:r>
            <a:endParaRPr lang="en-GB" dirty="0"/>
          </a:p>
          <a:p>
            <a:pPr marL="977900" lvl="1" indent="-457200">
              <a:defRPr/>
            </a:pPr>
            <a:r>
              <a:rPr lang="en-GB" dirty="0"/>
              <a:t>miss in both – data is fetched into L1; L1 data moves to L2, L2 older data discarded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3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Write-through</a:t>
            </a:r>
            <a:endParaRPr lang="en-GB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With a write-through (or “store-through”) cache, a data write updates the cache and</a:t>
            </a:r>
            <a:r>
              <a:rPr lang="en-GB" i="1" dirty="0"/>
              <a:t> also</a:t>
            </a:r>
            <a:r>
              <a:rPr lang="en-GB" dirty="0"/>
              <a:t> goes </a:t>
            </a:r>
            <a:r>
              <a:rPr lang="en-GB" i="1" dirty="0"/>
              <a:t>through</a:t>
            </a:r>
            <a:r>
              <a:rPr lang="en-GB" dirty="0"/>
              <a:t> to update the main memory:</a:t>
            </a:r>
            <a:endParaRPr lang="en-GB" dirty="0"/>
          </a:p>
          <a:p>
            <a:pPr lvl="1">
              <a:defRPr/>
            </a:pPr>
            <a:r>
              <a:rPr lang="en-GB" dirty="0"/>
              <a:t>the cache is </a:t>
            </a:r>
            <a:r>
              <a:rPr lang="en-GB" dirty="0">
                <a:solidFill>
                  <a:srgbClr val="4365E2"/>
                </a:solidFill>
              </a:rPr>
              <a:t>always coherent</a:t>
            </a:r>
            <a:endParaRPr lang="en-GB" dirty="0">
              <a:solidFill>
                <a:srgbClr val="4365E2"/>
              </a:solidFill>
            </a:endParaRPr>
          </a:p>
          <a:p>
            <a:pPr lvl="1">
              <a:defRPr/>
            </a:pPr>
            <a:r>
              <a:rPr lang="en-GB" dirty="0"/>
              <a:t>a main memory write cycle is </a:t>
            </a:r>
            <a:r>
              <a:rPr lang="en-GB" dirty="0">
                <a:solidFill>
                  <a:srgbClr val="4365E2"/>
                </a:solidFill>
              </a:rPr>
              <a:t>required for </a:t>
            </a:r>
            <a:r>
              <a:rPr lang="en-GB" i="1" dirty="0">
                <a:solidFill>
                  <a:srgbClr val="4365E2"/>
                </a:solidFill>
              </a:rPr>
              <a:t>every</a:t>
            </a:r>
            <a:r>
              <a:rPr lang="en-GB" dirty="0">
                <a:solidFill>
                  <a:srgbClr val="4365E2"/>
                </a:solidFill>
              </a:rPr>
              <a:t> write</a:t>
            </a:r>
            <a:r>
              <a:rPr lang="en-GB" dirty="0"/>
              <a:t> (</a:t>
            </a:r>
            <a:r>
              <a:rPr lang="en-GB" i="1" dirty="0"/>
              <a:t>slow</a:t>
            </a:r>
            <a:r>
              <a:rPr lang="en-GB" dirty="0"/>
              <a:t>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grpSp>
        <p:nvGrpSpPr>
          <p:cNvPr id="2" name="Group 36"/>
          <p:cNvGrpSpPr/>
          <p:nvPr/>
        </p:nvGrpSpPr>
        <p:grpSpPr bwMode="auto">
          <a:xfrm>
            <a:off x="6336908" y="2627446"/>
            <a:ext cx="431800" cy="442913"/>
            <a:chOff x="3840" y="2208"/>
            <a:chExt cx="239" cy="279"/>
          </a:xfrm>
        </p:grpSpPr>
        <p:sp>
          <p:nvSpPr>
            <p:cNvPr id="23562" name="Freeform 29"/>
            <p:cNvSpPr/>
            <p:nvPr/>
          </p:nvSpPr>
          <p:spPr bwMode="auto">
            <a:xfrm>
              <a:off x="3852" y="2227"/>
              <a:ext cx="227" cy="260"/>
            </a:xfrm>
            <a:custGeom>
              <a:avLst/>
              <a:gdLst>
                <a:gd name="T0" fmla="*/ 0 w 3861"/>
                <a:gd name="T1" fmla="*/ 0 h 4430"/>
                <a:gd name="T2" fmla="*/ 0 w 3861"/>
                <a:gd name="T3" fmla="*/ 0 h 4430"/>
                <a:gd name="T4" fmla="*/ 0 w 3861"/>
                <a:gd name="T5" fmla="*/ 0 h 4430"/>
                <a:gd name="T6" fmla="*/ 0 w 3861"/>
                <a:gd name="T7" fmla="*/ 0 h 4430"/>
                <a:gd name="T8" fmla="*/ 0 w 3861"/>
                <a:gd name="T9" fmla="*/ 0 h 4430"/>
                <a:gd name="T10" fmla="*/ 0 w 3861"/>
                <a:gd name="T11" fmla="*/ 0 h 4430"/>
                <a:gd name="T12" fmla="*/ 0 w 3861"/>
                <a:gd name="T13" fmla="*/ 0 h 4430"/>
                <a:gd name="T14" fmla="*/ 0 w 3861"/>
                <a:gd name="T15" fmla="*/ 0 h 4430"/>
                <a:gd name="T16" fmla="*/ 0 w 3861"/>
                <a:gd name="T17" fmla="*/ 0 h 4430"/>
                <a:gd name="T18" fmla="*/ 0 w 3861"/>
                <a:gd name="T19" fmla="*/ 0 h 4430"/>
                <a:gd name="T20" fmla="*/ 0 w 3861"/>
                <a:gd name="T21" fmla="*/ 0 h 4430"/>
                <a:gd name="T22" fmla="*/ 0 w 3861"/>
                <a:gd name="T23" fmla="*/ 0 h 4430"/>
                <a:gd name="T24" fmla="*/ 0 w 3861"/>
                <a:gd name="T25" fmla="*/ 0 h 4430"/>
                <a:gd name="T26" fmla="*/ 0 w 3861"/>
                <a:gd name="T27" fmla="*/ 0 h 4430"/>
                <a:gd name="T28" fmla="*/ 0 w 3861"/>
                <a:gd name="T29" fmla="*/ 0 h 4430"/>
                <a:gd name="T30" fmla="*/ 0 w 3861"/>
                <a:gd name="T31" fmla="*/ 0 h 4430"/>
                <a:gd name="T32" fmla="*/ 0 w 3861"/>
                <a:gd name="T33" fmla="*/ 0 h 4430"/>
                <a:gd name="T34" fmla="*/ 0 w 3861"/>
                <a:gd name="T35" fmla="*/ 0 h 4430"/>
                <a:gd name="T36" fmla="*/ 0 w 3861"/>
                <a:gd name="T37" fmla="*/ 0 h 4430"/>
                <a:gd name="T38" fmla="*/ 0 w 3861"/>
                <a:gd name="T39" fmla="*/ 0 h 4430"/>
                <a:gd name="T40" fmla="*/ 0 w 3861"/>
                <a:gd name="T41" fmla="*/ 0 h 4430"/>
                <a:gd name="T42" fmla="*/ 0 w 3861"/>
                <a:gd name="T43" fmla="*/ 0 h 4430"/>
                <a:gd name="T44" fmla="*/ 0 w 3861"/>
                <a:gd name="T45" fmla="*/ 0 h 4430"/>
                <a:gd name="T46" fmla="*/ 0 w 3861"/>
                <a:gd name="T47" fmla="*/ 0 h 4430"/>
                <a:gd name="T48" fmla="*/ 0 w 3861"/>
                <a:gd name="T49" fmla="*/ 0 h 4430"/>
                <a:gd name="T50" fmla="*/ 0 w 3861"/>
                <a:gd name="T51" fmla="*/ 0 h 4430"/>
                <a:gd name="T52" fmla="*/ 0 w 3861"/>
                <a:gd name="T53" fmla="*/ 0 h 4430"/>
                <a:gd name="T54" fmla="*/ 0 w 3861"/>
                <a:gd name="T55" fmla="*/ 0 h 4430"/>
                <a:gd name="T56" fmla="*/ 0 w 3861"/>
                <a:gd name="T57" fmla="*/ 0 h 4430"/>
                <a:gd name="T58" fmla="*/ 0 w 3861"/>
                <a:gd name="T59" fmla="*/ 0 h 4430"/>
                <a:gd name="T60" fmla="*/ 0 w 3861"/>
                <a:gd name="T61" fmla="*/ 0 h 4430"/>
                <a:gd name="T62" fmla="*/ 0 w 3861"/>
                <a:gd name="T63" fmla="*/ 0 h 4430"/>
                <a:gd name="T64" fmla="*/ 0 w 3861"/>
                <a:gd name="T65" fmla="*/ 0 h 4430"/>
                <a:gd name="T66" fmla="*/ 0 w 3861"/>
                <a:gd name="T67" fmla="*/ 0 h 4430"/>
                <a:gd name="T68" fmla="*/ 0 w 3861"/>
                <a:gd name="T69" fmla="*/ 0 h 4430"/>
                <a:gd name="T70" fmla="*/ 0 w 3861"/>
                <a:gd name="T71" fmla="*/ 0 h 4430"/>
                <a:gd name="T72" fmla="*/ 0 w 3861"/>
                <a:gd name="T73" fmla="*/ 0 h 4430"/>
                <a:gd name="T74" fmla="*/ 0 w 3861"/>
                <a:gd name="T75" fmla="*/ 0 h 4430"/>
                <a:gd name="T76" fmla="*/ 0 w 3861"/>
                <a:gd name="T77" fmla="*/ 0 h 4430"/>
                <a:gd name="T78" fmla="*/ 0 w 3861"/>
                <a:gd name="T79" fmla="*/ 0 h 4430"/>
                <a:gd name="T80" fmla="*/ 0 w 3861"/>
                <a:gd name="T81" fmla="*/ 0 h 4430"/>
                <a:gd name="T82" fmla="*/ 0 w 3861"/>
                <a:gd name="T83" fmla="*/ 0 h 4430"/>
                <a:gd name="T84" fmla="*/ 0 w 3861"/>
                <a:gd name="T85" fmla="*/ 0 h 4430"/>
                <a:gd name="T86" fmla="*/ 0 w 3861"/>
                <a:gd name="T87" fmla="*/ 0 h 4430"/>
                <a:gd name="T88" fmla="*/ 0 w 3861"/>
                <a:gd name="T89" fmla="*/ 0 h 4430"/>
                <a:gd name="T90" fmla="*/ 0 w 3861"/>
                <a:gd name="T91" fmla="*/ 0 h 4430"/>
                <a:gd name="T92" fmla="*/ 0 w 3861"/>
                <a:gd name="T93" fmla="*/ 0 h 4430"/>
                <a:gd name="T94" fmla="*/ 0 w 3861"/>
                <a:gd name="T95" fmla="*/ 0 h 4430"/>
                <a:gd name="T96" fmla="*/ 0 w 3861"/>
                <a:gd name="T97" fmla="*/ 0 h 4430"/>
                <a:gd name="T98" fmla="*/ 0 w 3861"/>
                <a:gd name="T99" fmla="*/ 0 h 4430"/>
                <a:gd name="T100" fmla="*/ 0 w 3861"/>
                <a:gd name="T101" fmla="*/ 0 h 4430"/>
                <a:gd name="T102" fmla="*/ 0 w 3861"/>
                <a:gd name="T103" fmla="*/ 0 h 4430"/>
                <a:gd name="T104" fmla="*/ 0 w 3861"/>
                <a:gd name="T105" fmla="*/ 0 h 4430"/>
                <a:gd name="T106" fmla="*/ 0 w 3861"/>
                <a:gd name="T107" fmla="*/ 0 h 4430"/>
                <a:gd name="T108" fmla="*/ 0 w 3861"/>
                <a:gd name="T109" fmla="*/ 0 h 4430"/>
                <a:gd name="T110" fmla="*/ 0 w 3861"/>
                <a:gd name="T111" fmla="*/ 0 h 4430"/>
                <a:gd name="T112" fmla="*/ 0 w 3861"/>
                <a:gd name="T113" fmla="*/ 0 h 4430"/>
                <a:gd name="T114" fmla="*/ 0 w 3861"/>
                <a:gd name="T115" fmla="*/ 0 h 44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61"/>
                <a:gd name="T175" fmla="*/ 0 h 4430"/>
                <a:gd name="T176" fmla="*/ 3861 w 3861"/>
                <a:gd name="T177" fmla="*/ 4430 h 443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61" h="4430">
                  <a:moveTo>
                    <a:pt x="3861" y="702"/>
                  </a:moveTo>
                  <a:lnTo>
                    <a:pt x="3637" y="855"/>
                  </a:lnTo>
                  <a:lnTo>
                    <a:pt x="3421" y="1017"/>
                  </a:lnTo>
                  <a:lnTo>
                    <a:pt x="3219" y="1195"/>
                  </a:lnTo>
                  <a:lnTo>
                    <a:pt x="3023" y="1386"/>
                  </a:lnTo>
                  <a:lnTo>
                    <a:pt x="2841" y="1581"/>
                  </a:lnTo>
                  <a:lnTo>
                    <a:pt x="2673" y="1794"/>
                  </a:lnTo>
                  <a:lnTo>
                    <a:pt x="2517" y="2013"/>
                  </a:lnTo>
                  <a:lnTo>
                    <a:pt x="2369" y="2242"/>
                  </a:lnTo>
                  <a:lnTo>
                    <a:pt x="2241" y="2480"/>
                  </a:lnTo>
                  <a:lnTo>
                    <a:pt x="2128" y="2723"/>
                  </a:lnTo>
                  <a:lnTo>
                    <a:pt x="2024" y="2975"/>
                  </a:lnTo>
                  <a:lnTo>
                    <a:pt x="1939" y="3231"/>
                  </a:lnTo>
                  <a:lnTo>
                    <a:pt x="1868" y="3491"/>
                  </a:lnTo>
                  <a:lnTo>
                    <a:pt x="1809" y="3758"/>
                  </a:lnTo>
                  <a:lnTo>
                    <a:pt x="1769" y="4020"/>
                  </a:lnTo>
                  <a:lnTo>
                    <a:pt x="1753" y="4200"/>
                  </a:lnTo>
                  <a:lnTo>
                    <a:pt x="1753" y="4177"/>
                  </a:lnTo>
                  <a:lnTo>
                    <a:pt x="1753" y="4430"/>
                  </a:lnTo>
                  <a:lnTo>
                    <a:pt x="1052" y="4209"/>
                  </a:lnTo>
                  <a:lnTo>
                    <a:pt x="991" y="4058"/>
                  </a:lnTo>
                  <a:lnTo>
                    <a:pt x="924" y="3909"/>
                  </a:lnTo>
                  <a:lnTo>
                    <a:pt x="830" y="3777"/>
                  </a:lnTo>
                  <a:lnTo>
                    <a:pt x="736" y="3647"/>
                  </a:lnTo>
                  <a:lnTo>
                    <a:pt x="619" y="3529"/>
                  </a:lnTo>
                  <a:lnTo>
                    <a:pt x="497" y="3423"/>
                  </a:lnTo>
                  <a:lnTo>
                    <a:pt x="368" y="3328"/>
                  </a:lnTo>
                  <a:lnTo>
                    <a:pt x="224" y="3251"/>
                  </a:lnTo>
                  <a:lnTo>
                    <a:pt x="73" y="3182"/>
                  </a:lnTo>
                  <a:lnTo>
                    <a:pt x="0" y="3156"/>
                  </a:lnTo>
                  <a:lnTo>
                    <a:pt x="484" y="2594"/>
                  </a:lnTo>
                  <a:lnTo>
                    <a:pt x="623" y="2694"/>
                  </a:lnTo>
                  <a:lnTo>
                    <a:pt x="766" y="2823"/>
                  </a:lnTo>
                  <a:lnTo>
                    <a:pt x="901" y="2959"/>
                  </a:lnTo>
                  <a:lnTo>
                    <a:pt x="1015" y="3108"/>
                  </a:lnTo>
                  <a:lnTo>
                    <a:pt x="1124" y="3262"/>
                  </a:lnTo>
                  <a:lnTo>
                    <a:pt x="1218" y="3430"/>
                  </a:lnTo>
                  <a:lnTo>
                    <a:pt x="1296" y="3603"/>
                  </a:lnTo>
                  <a:lnTo>
                    <a:pt x="1360" y="3783"/>
                  </a:lnTo>
                  <a:lnTo>
                    <a:pt x="1365" y="3770"/>
                  </a:lnTo>
                  <a:lnTo>
                    <a:pt x="1406" y="3475"/>
                  </a:lnTo>
                  <a:lnTo>
                    <a:pt x="1462" y="3182"/>
                  </a:lnTo>
                  <a:lnTo>
                    <a:pt x="1536" y="2898"/>
                  </a:lnTo>
                  <a:lnTo>
                    <a:pt x="1624" y="2612"/>
                  </a:lnTo>
                  <a:lnTo>
                    <a:pt x="1728" y="2335"/>
                  </a:lnTo>
                  <a:lnTo>
                    <a:pt x="1845" y="2063"/>
                  </a:lnTo>
                  <a:lnTo>
                    <a:pt x="1980" y="1798"/>
                  </a:lnTo>
                  <a:lnTo>
                    <a:pt x="2128" y="1535"/>
                  </a:lnTo>
                  <a:lnTo>
                    <a:pt x="2284" y="1290"/>
                  </a:lnTo>
                  <a:lnTo>
                    <a:pt x="2462" y="1045"/>
                  </a:lnTo>
                  <a:lnTo>
                    <a:pt x="2648" y="816"/>
                  </a:lnTo>
                  <a:lnTo>
                    <a:pt x="2847" y="593"/>
                  </a:lnTo>
                  <a:lnTo>
                    <a:pt x="3056" y="384"/>
                  </a:lnTo>
                  <a:lnTo>
                    <a:pt x="3278" y="189"/>
                  </a:lnTo>
                  <a:lnTo>
                    <a:pt x="3510" y="0"/>
                  </a:lnTo>
                  <a:lnTo>
                    <a:pt x="3861" y="70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563" name="Freeform 30"/>
            <p:cNvSpPr/>
            <p:nvPr/>
          </p:nvSpPr>
          <p:spPr bwMode="auto">
            <a:xfrm>
              <a:off x="3840" y="2208"/>
              <a:ext cx="227" cy="260"/>
            </a:xfrm>
            <a:custGeom>
              <a:avLst/>
              <a:gdLst>
                <a:gd name="T0" fmla="*/ 0 w 3859"/>
                <a:gd name="T1" fmla="*/ 0 h 4432"/>
                <a:gd name="T2" fmla="*/ 0 w 3859"/>
                <a:gd name="T3" fmla="*/ 0 h 4432"/>
                <a:gd name="T4" fmla="*/ 0 w 3859"/>
                <a:gd name="T5" fmla="*/ 0 h 4432"/>
                <a:gd name="T6" fmla="*/ 0 w 3859"/>
                <a:gd name="T7" fmla="*/ 0 h 4432"/>
                <a:gd name="T8" fmla="*/ 0 w 3859"/>
                <a:gd name="T9" fmla="*/ 0 h 4432"/>
                <a:gd name="T10" fmla="*/ 0 w 3859"/>
                <a:gd name="T11" fmla="*/ 0 h 4432"/>
                <a:gd name="T12" fmla="*/ 0 w 3859"/>
                <a:gd name="T13" fmla="*/ 0 h 4432"/>
                <a:gd name="T14" fmla="*/ 0 w 3859"/>
                <a:gd name="T15" fmla="*/ 0 h 4432"/>
                <a:gd name="T16" fmla="*/ 0 w 3859"/>
                <a:gd name="T17" fmla="*/ 0 h 4432"/>
                <a:gd name="T18" fmla="*/ 0 w 3859"/>
                <a:gd name="T19" fmla="*/ 0 h 4432"/>
                <a:gd name="T20" fmla="*/ 0 w 3859"/>
                <a:gd name="T21" fmla="*/ 0 h 4432"/>
                <a:gd name="T22" fmla="*/ 0 w 3859"/>
                <a:gd name="T23" fmla="*/ 0 h 4432"/>
                <a:gd name="T24" fmla="*/ 0 w 3859"/>
                <a:gd name="T25" fmla="*/ 0 h 4432"/>
                <a:gd name="T26" fmla="*/ 0 w 3859"/>
                <a:gd name="T27" fmla="*/ 0 h 4432"/>
                <a:gd name="T28" fmla="*/ 0 w 3859"/>
                <a:gd name="T29" fmla="*/ 0 h 4432"/>
                <a:gd name="T30" fmla="*/ 0 w 3859"/>
                <a:gd name="T31" fmla="*/ 0 h 4432"/>
                <a:gd name="T32" fmla="*/ 0 w 3859"/>
                <a:gd name="T33" fmla="*/ 0 h 4432"/>
                <a:gd name="T34" fmla="*/ 0 w 3859"/>
                <a:gd name="T35" fmla="*/ 0 h 4432"/>
                <a:gd name="T36" fmla="*/ 0 w 3859"/>
                <a:gd name="T37" fmla="*/ 0 h 4432"/>
                <a:gd name="T38" fmla="*/ 0 w 3859"/>
                <a:gd name="T39" fmla="*/ 0 h 4432"/>
                <a:gd name="T40" fmla="*/ 0 w 3859"/>
                <a:gd name="T41" fmla="*/ 0 h 4432"/>
                <a:gd name="T42" fmla="*/ 0 w 3859"/>
                <a:gd name="T43" fmla="*/ 0 h 4432"/>
                <a:gd name="T44" fmla="*/ 0 w 3859"/>
                <a:gd name="T45" fmla="*/ 0 h 4432"/>
                <a:gd name="T46" fmla="*/ 0 w 3859"/>
                <a:gd name="T47" fmla="*/ 0 h 4432"/>
                <a:gd name="T48" fmla="*/ 0 w 3859"/>
                <a:gd name="T49" fmla="*/ 0 h 4432"/>
                <a:gd name="T50" fmla="*/ 0 w 3859"/>
                <a:gd name="T51" fmla="*/ 0 h 4432"/>
                <a:gd name="T52" fmla="*/ 0 w 3859"/>
                <a:gd name="T53" fmla="*/ 0 h 4432"/>
                <a:gd name="T54" fmla="*/ 0 w 3859"/>
                <a:gd name="T55" fmla="*/ 0 h 4432"/>
                <a:gd name="T56" fmla="*/ 0 w 3859"/>
                <a:gd name="T57" fmla="*/ 0 h 4432"/>
                <a:gd name="T58" fmla="*/ 0 w 3859"/>
                <a:gd name="T59" fmla="*/ 0 h 4432"/>
                <a:gd name="T60" fmla="*/ 0 w 3859"/>
                <a:gd name="T61" fmla="*/ 0 h 4432"/>
                <a:gd name="T62" fmla="*/ 0 w 3859"/>
                <a:gd name="T63" fmla="*/ 0 h 4432"/>
                <a:gd name="T64" fmla="*/ 0 w 3859"/>
                <a:gd name="T65" fmla="*/ 0 h 4432"/>
                <a:gd name="T66" fmla="*/ 0 w 3859"/>
                <a:gd name="T67" fmla="*/ 0 h 4432"/>
                <a:gd name="T68" fmla="*/ 0 w 3859"/>
                <a:gd name="T69" fmla="*/ 0 h 4432"/>
                <a:gd name="T70" fmla="*/ 0 w 3859"/>
                <a:gd name="T71" fmla="*/ 0 h 4432"/>
                <a:gd name="T72" fmla="*/ 0 w 3859"/>
                <a:gd name="T73" fmla="*/ 0 h 4432"/>
                <a:gd name="T74" fmla="*/ 0 w 3859"/>
                <a:gd name="T75" fmla="*/ 0 h 4432"/>
                <a:gd name="T76" fmla="*/ 0 w 3859"/>
                <a:gd name="T77" fmla="*/ 0 h 4432"/>
                <a:gd name="T78" fmla="*/ 0 w 3859"/>
                <a:gd name="T79" fmla="*/ 0 h 4432"/>
                <a:gd name="T80" fmla="*/ 0 w 3859"/>
                <a:gd name="T81" fmla="*/ 0 h 4432"/>
                <a:gd name="T82" fmla="*/ 0 w 3859"/>
                <a:gd name="T83" fmla="*/ 0 h 4432"/>
                <a:gd name="T84" fmla="*/ 0 w 3859"/>
                <a:gd name="T85" fmla="*/ 0 h 4432"/>
                <a:gd name="T86" fmla="*/ 0 w 3859"/>
                <a:gd name="T87" fmla="*/ 0 h 4432"/>
                <a:gd name="T88" fmla="*/ 0 w 3859"/>
                <a:gd name="T89" fmla="*/ 0 h 4432"/>
                <a:gd name="T90" fmla="*/ 0 w 3859"/>
                <a:gd name="T91" fmla="*/ 0 h 4432"/>
                <a:gd name="T92" fmla="*/ 0 w 3859"/>
                <a:gd name="T93" fmla="*/ 0 h 4432"/>
                <a:gd name="T94" fmla="*/ 0 w 3859"/>
                <a:gd name="T95" fmla="*/ 0 h 4432"/>
                <a:gd name="T96" fmla="*/ 0 w 3859"/>
                <a:gd name="T97" fmla="*/ 0 h 4432"/>
                <a:gd name="T98" fmla="*/ 0 w 3859"/>
                <a:gd name="T99" fmla="*/ 0 h 4432"/>
                <a:gd name="T100" fmla="*/ 0 w 3859"/>
                <a:gd name="T101" fmla="*/ 0 h 4432"/>
                <a:gd name="T102" fmla="*/ 0 w 3859"/>
                <a:gd name="T103" fmla="*/ 0 h 4432"/>
                <a:gd name="T104" fmla="*/ 0 w 3859"/>
                <a:gd name="T105" fmla="*/ 0 h 4432"/>
                <a:gd name="T106" fmla="*/ 0 w 3859"/>
                <a:gd name="T107" fmla="*/ 0 h 4432"/>
                <a:gd name="T108" fmla="*/ 0 w 3859"/>
                <a:gd name="T109" fmla="*/ 0 h 4432"/>
                <a:gd name="T110" fmla="*/ 0 w 3859"/>
                <a:gd name="T111" fmla="*/ 0 h 4432"/>
                <a:gd name="T112" fmla="*/ 0 w 3859"/>
                <a:gd name="T113" fmla="*/ 0 h 4432"/>
                <a:gd name="T114" fmla="*/ 0 w 3859"/>
                <a:gd name="T115" fmla="*/ 0 h 443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59"/>
                <a:gd name="T175" fmla="*/ 0 h 4432"/>
                <a:gd name="T176" fmla="*/ 3859 w 3859"/>
                <a:gd name="T177" fmla="*/ 4432 h 443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59" h="4432">
                  <a:moveTo>
                    <a:pt x="3859" y="700"/>
                  </a:moveTo>
                  <a:lnTo>
                    <a:pt x="3634" y="856"/>
                  </a:lnTo>
                  <a:lnTo>
                    <a:pt x="3423" y="1017"/>
                  </a:lnTo>
                  <a:lnTo>
                    <a:pt x="3217" y="1195"/>
                  </a:lnTo>
                  <a:lnTo>
                    <a:pt x="3020" y="1384"/>
                  </a:lnTo>
                  <a:lnTo>
                    <a:pt x="2839" y="1585"/>
                  </a:lnTo>
                  <a:lnTo>
                    <a:pt x="2669" y="1795"/>
                  </a:lnTo>
                  <a:lnTo>
                    <a:pt x="2513" y="2016"/>
                  </a:lnTo>
                  <a:lnTo>
                    <a:pt x="2367" y="2246"/>
                  </a:lnTo>
                  <a:lnTo>
                    <a:pt x="2239" y="2481"/>
                  </a:lnTo>
                  <a:lnTo>
                    <a:pt x="2122" y="2728"/>
                  </a:lnTo>
                  <a:lnTo>
                    <a:pt x="2019" y="2977"/>
                  </a:lnTo>
                  <a:lnTo>
                    <a:pt x="1933" y="3233"/>
                  </a:lnTo>
                  <a:lnTo>
                    <a:pt x="1863" y="3494"/>
                  </a:lnTo>
                  <a:lnTo>
                    <a:pt x="1808" y="3758"/>
                  </a:lnTo>
                  <a:lnTo>
                    <a:pt x="1767" y="4026"/>
                  </a:lnTo>
                  <a:lnTo>
                    <a:pt x="1752" y="4201"/>
                  </a:lnTo>
                  <a:lnTo>
                    <a:pt x="1752" y="4181"/>
                  </a:lnTo>
                  <a:lnTo>
                    <a:pt x="1752" y="4432"/>
                  </a:lnTo>
                  <a:lnTo>
                    <a:pt x="1048" y="4210"/>
                  </a:lnTo>
                  <a:lnTo>
                    <a:pt x="993" y="4060"/>
                  </a:lnTo>
                  <a:lnTo>
                    <a:pt x="915" y="3914"/>
                  </a:lnTo>
                  <a:lnTo>
                    <a:pt x="829" y="3778"/>
                  </a:lnTo>
                  <a:lnTo>
                    <a:pt x="731" y="3649"/>
                  </a:lnTo>
                  <a:lnTo>
                    <a:pt x="614" y="3534"/>
                  </a:lnTo>
                  <a:lnTo>
                    <a:pt x="495" y="3424"/>
                  </a:lnTo>
                  <a:lnTo>
                    <a:pt x="363" y="3331"/>
                  </a:lnTo>
                  <a:lnTo>
                    <a:pt x="220" y="3251"/>
                  </a:lnTo>
                  <a:lnTo>
                    <a:pt x="72" y="3183"/>
                  </a:lnTo>
                  <a:lnTo>
                    <a:pt x="0" y="3157"/>
                  </a:lnTo>
                  <a:lnTo>
                    <a:pt x="481" y="2597"/>
                  </a:lnTo>
                  <a:lnTo>
                    <a:pt x="618" y="2701"/>
                  </a:lnTo>
                  <a:lnTo>
                    <a:pt x="759" y="2828"/>
                  </a:lnTo>
                  <a:lnTo>
                    <a:pt x="895" y="2962"/>
                  </a:lnTo>
                  <a:lnTo>
                    <a:pt x="1015" y="3111"/>
                  </a:lnTo>
                  <a:lnTo>
                    <a:pt x="1121" y="3267"/>
                  </a:lnTo>
                  <a:lnTo>
                    <a:pt x="1211" y="3432"/>
                  </a:lnTo>
                  <a:lnTo>
                    <a:pt x="1290" y="3604"/>
                  </a:lnTo>
                  <a:lnTo>
                    <a:pt x="1356" y="3784"/>
                  </a:lnTo>
                  <a:lnTo>
                    <a:pt x="1358" y="3770"/>
                  </a:lnTo>
                  <a:lnTo>
                    <a:pt x="1402" y="3479"/>
                  </a:lnTo>
                  <a:lnTo>
                    <a:pt x="1459" y="3183"/>
                  </a:lnTo>
                  <a:lnTo>
                    <a:pt x="1531" y="2900"/>
                  </a:lnTo>
                  <a:lnTo>
                    <a:pt x="1619" y="2614"/>
                  </a:lnTo>
                  <a:lnTo>
                    <a:pt x="1726" y="2336"/>
                  </a:lnTo>
                  <a:lnTo>
                    <a:pt x="1843" y="2067"/>
                  </a:lnTo>
                  <a:lnTo>
                    <a:pt x="1973" y="1799"/>
                  </a:lnTo>
                  <a:lnTo>
                    <a:pt x="2122" y="1540"/>
                  </a:lnTo>
                  <a:lnTo>
                    <a:pt x="2283" y="1291"/>
                  </a:lnTo>
                  <a:lnTo>
                    <a:pt x="2457" y="1049"/>
                  </a:lnTo>
                  <a:lnTo>
                    <a:pt x="2646" y="820"/>
                  </a:lnTo>
                  <a:lnTo>
                    <a:pt x="2844" y="594"/>
                  </a:lnTo>
                  <a:lnTo>
                    <a:pt x="3051" y="388"/>
                  </a:lnTo>
                  <a:lnTo>
                    <a:pt x="3275" y="189"/>
                  </a:lnTo>
                  <a:lnTo>
                    <a:pt x="3507" y="0"/>
                  </a:lnTo>
                  <a:lnTo>
                    <a:pt x="3859" y="700"/>
                  </a:lnTo>
                  <a:close/>
                </a:path>
              </a:pathLst>
            </a:custGeom>
            <a:solidFill>
              <a:srgbClr val="00FF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3" name="Group 28"/>
          <p:cNvGrpSpPr/>
          <p:nvPr/>
        </p:nvGrpSpPr>
        <p:grpSpPr bwMode="auto">
          <a:xfrm>
            <a:off x="11064054" y="3586566"/>
            <a:ext cx="404813" cy="442913"/>
            <a:chOff x="2448" y="2544"/>
            <a:chExt cx="825" cy="903"/>
          </a:xfrm>
        </p:grpSpPr>
        <p:sp>
          <p:nvSpPr>
            <p:cNvPr id="23560" name="Freeform 26"/>
            <p:cNvSpPr/>
            <p:nvPr/>
          </p:nvSpPr>
          <p:spPr bwMode="auto">
            <a:xfrm>
              <a:off x="2482" y="2612"/>
              <a:ext cx="791" cy="835"/>
            </a:xfrm>
            <a:custGeom>
              <a:avLst/>
              <a:gdLst>
                <a:gd name="T0" fmla="*/ 0 w 3955"/>
                <a:gd name="T1" fmla="*/ 0 h 4173"/>
                <a:gd name="T2" fmla="*/ 0 w 3955"/>
                <a:gd name="T3" fmla="*/ 0 h 4173"/>
                <a:gd name="T4" fmla="*/ 0 w 3955"/>
                <a:gd name="T5" fmla="*/ 0 h 4173"/>
                <a:gd name="T6" fmla="*/ 0 w 3955"/>
                <a:gd name="T7" fmla="*/ 0 h 4173"/>
                <a:gd name="T8" fmla="*/ 0 w 3955"/>
                <a:gd name="T9" fmla="*/ 0 h 4173"/>
                <a:gd name="T10" fmla="*/ 0 w 3955"/>
                <a:gd name="T11" fmla="*/ 0 h 4173"/>
                <a:gd name="T12" fmla="*/ 0 w 3955"/>
                <a:gd name="T13" fmla="*/ 0 h 4173"/>
                <a:gd name="T14" fmla="*/ 0 w 3955"/>
                <a:gd name="T15" fmla="*/ 0 h 4173"/>
                <a:gd name="T16" fmla="*/ 0 w 3955"/>
                <a:gd name="T17" fmla="*/ 0 h 4173"/>
                <a:gd name="T18" fmla="*/ 0 w 3955"/>
                <a:gd name="T19" fmla="*/ 0 h 4173"/>
                <a:gd name="T20" fmla="*/ 0 w 3955"/>
                <a:gd name="T21" fmla="*/ 0 h 4173"/>
                <a:gd name="T22" fmla="*/ 0 w 3955"/>
                <a:gd name="T23" fmla="*/ 0 h 4173"/>
                <a:gd name="T24" fmla="*/ 0 w 3955"/>
                <a:gd name="T25" fmla="*/ 0 h 4173"/>
                <a:gd name="T26" fmla="*/ 0 w 3955"/>
                <a:gd name="T27" fmla="*/ 0 h 4173"/>
                <a:gd name="T28" fmla="*/ 0 w 3955"/>
                <a:gd name="T29" fmla="*/ 0 h 4173"/>
                <a:gd name="T30" fmla="*/ 0 w 3955"/>
                <a:gd name="T31" fmla="*/ 0 h 4173"/>
                <a:gd name="T32" fmla="*/ 0 w 3955"/>
                <a:gd name="T33" fmla="*/ 0 h 4173"/>
                <a:gd name="T34" fmla="*/ 0 w 3955"/>
                <a:gd name="T35" fmla="*/ 0 h 4173"/>
                <a:gd name="T36" fmla="*/ 0 w 3955"/>
                <a:gd name="T37" fmla="*/ 0 h 4173"/>
                <a:gd name="T38" fmla="*/ 0 w 3955"/>
                <a:gd name="T39" fmla="*/ 0 h 4173"/>
                <a:gd name="T40" fmla="*/ 0 w 3955"/>
                <a:gd name="T41" fmla="*/ 0 h 4173"/>
                <a:gd name="T42" fmla="*/ 0 w 3955"/>
                <a:gd name="T43" fmla="*/ 0 h 4173"/>
                <a:gd name="T44" fmla="*/ 0 w 3955"/>
                <a:gd name="T45" fmla="*/ 0 h 4173"/>
                <a:gd name="T46" fmla="*/ 0 w 3955"/>
                <a:gd name="T47" fmla="*/ 0 h 4173"/>
                <a:gd name="T48" fmla="*/ 0 w 3955"/>
                <a:gd name="T49" fmla="*/ 0 h 4173"/>
                <a:gd name="T50" fmla="*/ 0 w 3955"/>
                <a:gd name="T51" fmla="*/ 0 h 4173"/>
                <a:gd name="T52" fmla="*/ 0 w 3955"/>
                <a:gd name="T53" fmla="*/ 0 h 4173"/>
                <a:gd name="T54" fmla="*/ 0 w 3955"/>
                <a:gd name="T55" fmla="*/ 0 h 4173"/>
                <a:gd name="T56" fmla="*/ 0 w 3955"/>
                <a:gd name="T57" fmla="*/ 0 h 4173"/>
                <a:gd name="T58" fmla="*/ 0 w 3955"/>
                <a:gd name="T59" fmla="*/ 0 h 4173"/>
                <a:gd name="T60" fmla="*/ 0 w 3955"/>
                <a:gd name="T61" fmla="*/ 0 h 4173"/>
                <a:gd name="T62" fmla="*/ 0 w 3955"/>
                <a:gd name="T63" fmla="*/ 0 h 4173"/>
                <a:gd name="T64" fmla="*/ 0 w 3955"/>
                <a:gd name="T65" fmla="*/ 0 h 4173"/>
                <a:gd name="T66" fmla="*/ 0 w 3955"/>
                <a:gd name="T67" fmla="*/ 0 h 4173"/>
                <a:gd name="T68" fmla="*/ 0 w 3955"/>
                <a:gd name="T69" fmla="*/ 0 h 4173"/>
                <a:gd name="T70" fmla="*/ 0 w 3955"/>
                <a:gd name="T71" fmla="*/ 0 h 4173"/>
                <a:gd name="T72" fmla="*/ 0 w 3955"/>
                <a:gd name="T73" fmla="*/ 0 h 4173"/>
                <a:gd name="T74" fmla="*/ 0 w 3955"/>
                <a:gd name="T75" fmla="*/ 0 h 4173"/>
                <a:gd name="T76" fmla="*/ 0 w 3955"/>
                <a:gd name="T77" fmla="*/ 0 h 4173"/>
                <a:gd name="T78" fmla="*/ 0 w 3955"/>
                <a:gd name="T79" fmla="*/ 0 h 4173"/>
                <a:gd name="T80" fmla="*/ 0 w 3955"/>
                <a:gd name="T81" fmla="*/ 0 h 4173"/>
                <a:gd name="T82" fmla="*/ 0 w 3955"/>
                <a:gd name="T83" fmla="*/ 0 h 4173"/>
                <a:gd name="T84" fmla="*/ 0 w 3955"/>
                <a:gd name="T85" fmla="*/ 0 h 4173"/>
                <a:gd name="T86" fmla="*/ 0 w 3955"/>
                <a:gd name="T87" fmla="*/ 0 h 4173"/>
                <a:gd name="T88" fmla="*/ 0 w 3955"/>
                <a:gd name="T89" fmla="*/ 0 h 4173"/>
                <a:gd name="T90" fmla="*/ 0 w 3955"/>
                <a:gd name="T91" fmla="*/ 0 h 4173"/>
                <a:gd name="T92" fmla="*/ 0 w 3955"/>
                <a:gd name="T93" fmla="*/ 0 h 4173"/>
                <a:gd name="T94" fmla="*/ 0 w 3955"/>
                <a:gd name="T95" fmla="*/ 0 h 4173"/>
                <a:gd name="T96" fmla="*/ 0 w 3955"/>
                <a:gd name="T97" fmla="*/ 0 h 4173"/>
                <a:gd name="T98" fmla="*/ 0 w 3955"/>
                <a:gd name="T99" fmla="*/ 0 h 4173"/>
                <a:gd name="T100" fmla="*/ 0 w 3955"/>
                <a:gd name="T101" fmla="*/ 0 h 4173"/>
                <a:gd name="T102" fmla="*/ 0 w 3955"/>
                <a:gd name="T103" fmla="*/ 0 h 4173"/>
                <a:gd name="T104" fmla="*/ 0 w 3955"/>
                <a:gd name="T105" fmla="*/ 0 h 4173"/>
                <a:gd name="T106" fmla="*/ 0 w 3955"/>
                <a:gd name="T107" fmla="*/ 0 h 4173"/>
                <a:gd name="T108" fmla="*/ 0 w 3955"/>
                <a:gd name="T109" fmla="*/ 0 h 4173"/>
                <a:gd name="T110" fmla="*/ 0 w 3955"/>
                <a:gd name="T111" fmla="*/ 0 h 4173"/>
                <a:gd name="T112" fmla="*/ 0 w 3955"/>
                <a:gd name="T113" fmla="*/ 0 h 417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955"/>
                <a:gd name="T172" fmla="*/ 0 h 4173"/>
                <a:gd name="T173" fmla="*/ 3955 w 3955"/>
                <a:gd name="T174" fmla="*/ 4173 h 417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955" h="4173">
                  <a:moveTo>
                    <a:pt x="440" y="4173"/>
                  </a:moveTo>
                  <a:lnTo>
                    <a:pt x="545" y="4000"/>
                  </a:lnTo>
                  <a:lnTo>
                    <a:pt x="748" y="3672"/>
                  </a:lnTo>
                  <a:lnTo>
                    <a:pt x="969" y="3359"/>
                  </a:lnTo>
                  <a:lnTo>
                    <a:pt x="1205" y="3056"/>
                  </a:lnTo>
                  <a:lnTo>
                    <a:pt x="1446" y="2764"/>
                  </a:lnTo>
                  <a:lnTo>
                    <a:pt x="1710" y="2482"/>
                  </a:lnTo>
                  <a:lnTo>
                    <a:pt x="1975" y="2207"/>
                  </a:lnTo>
                  <a:lnTo>
                    <a:pt x="2123" y="2350"/>
                  </a:lnTo>
                  <a:lnTo>
                    <a:pt x="2387" y="2625"/>
                  </a:lnTo>
                  <a:lnTo>
                    <a:pt x="2636" y="2920"/>
                  </a:lnTo>
                  <a:lnTo>
                    <a:pt x="2877" y="3217"/>
                  </a:lnTo>
                  <a:lnTo>
                    <a:pt x="3104" y="3526"/>
                  </a:lnTo>
                  <a:lnTo>
                    <a:pt x="3312" y="3848"/>
                  </a:lnTo>
                  <a:lnTo>
                    <a:pt x="3513" y="4173"/>
                  </a:lnTo>
                  <a:lnTo>
                    <a:pt x="3955" y="3335"/>
                  </a:lnTo>
                  <a:lnTo>
                    <a:pt x="3926" y="3316"/>
                  </a:lnTo>
                  <a:lnTo>
                    <a:pt x="3575" y="3058"/>
                  </a:lnTo>
                  <a:lnTo>
                    <a:pt x="3230" y="2785"/>
                  </a:lnTo>
                  <a:lnTo>
                    <a:pt x="2900" y="2503"/>
                  </a:lnTo>
                  <a:lnTo>
                    <a:pt x="2576" y="2207"/>
                  </a:lnTo>
                  <a:lnTo>
                    <a:pt x="2266" y="1896"/>
                  </a:lnTo>
                  <a:lnTo>
                    <a:pt x="2357" y="1806"/>
                  </a:lnTo>
                  <a:lnTo>
                    <a:pt x="2685" y="1481"/>
                  </a:lnTo>
                  <a:lnTo>
                    <a:pt x="3024" y="1174"/>
                  </a:lnTo>
                  <a:lnTo>
                    <a:pt x="3370" y="878"/>
                  </a:lnTo>
                  <a:lnTo>
                    <a:pt x="3734" y="597"/>
                  </a:lnTo>
                  <a:lnTo>
                    <a:pt x="3341" y="0"/>
                  </a:lnTo>
                  <a:lnTo>
                    <a:pt x="3154" y="283"/>
                  </a:lnTo>
                  <a:lnTo>
                    <a:pt x="2943" y="573"/>
                  </a:lnTo>
                  <a:lnTo>
                    <a:pt x="2722" y="853"/>
                  </a:lnTo>
                  <a:lnTo>
                    <a:pt x="2486" y="1126"/>
                  </a:lnTo>
                  <a:lnTo>
                    <a:pt x="2239" y="1386"/>
                  </a:lnTo>
                  <a:lnTo>
                    <a:pt x="1975" y="1632"/>
                  </a:lnTo>
                  <a:lnTo>
                    <a:pt x="1733" y="1399"/>
                  </a:lnTo>
                  <a:lnTo>
                    <a:pt x="1481" y="1142"/>
                  </a:lnTo>
                  <a:lnTo>
                    <a:pt x="1247" y="870"/>
                  </a:lnTo>
                  <a:lnTo>
                    <a:pt x="1020" y="590"/>
                  </a:lnTo>
                  <a:lnTo>
                    <a:pt x="812" y="298"/>
                  </a:lnTo>
                  <a:lnTo>
                    <a:pt x="611" y="0"/>
                  </a:lnTo>
                  <a:lnTo>
                    <a:pt x="223" y="597"/>
                  </a:lnTo>
                  <a:lnTo>
                    <a:pt x="326" y="674"/>
                  </a:lnTo>
                  <a:lnTo>
                    <a:pt x="683" y="961"/>
                  </a:lnTo>
                  <a:lnTo>
                    <a:pt x="1027" y="1261"/>
                  </a:lnTo>
                  <a:lnTo>
                    <a:pt x="1363" y="1572"/>
                  </a:lnTo>
                  <a:lnTo>
                    <a:pt x="1689" y="1896"/>
                  </a:lnTo>
                  <a:lnTo>
                    <a:pt x="1664" y="1925"/>
                  </a:lnTo>
                  <a:lnTo>
                    <a:pt x="1350" y="2231"/>
                  </a:lnTo>
                  <a:lnTo>
                    <a:pt x="1028" y="2527"/>
                  </a:lnTo>
                  <a:lnTo>
                    <a:pt x="696" y="2807"/>
                  </a:lnTo>
                  <a:lnTo>
                    <a:pt x="353" y="3077"/>
                  </a:lnTo>
                  <a:lnTo>
                    <a:pt x="0" y="3335"/>
                  </a:lnTo>
                  <a:lnTo>
                    <a:pt x="440" y="41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561" name="Freeform 27"/>
            <p:cNvSpPr/>
            <p:nvPr/>
          </p:nvSpPr>
          <p:spPr bwMode="auto">
            <a:xfrm>
              <a:off x="2448" y="2544"/>
              <a:ext cx="790" cy="835"/>
            </a:xfrm>
            <a:custGeom>
              <a:avLst/>
              <a:gdLst>
                <a:gd name="T0" fmla="*/ 0 w 3951"/>
                <a:gd name="T1" fmla="*/ 0 h 4175"/>
                <a:gd name="T2" fmla="*/ 0 w 3951"/>
                <a:gd name="T3" fmla="*/ 0 h 4175"/>
                <a:gd name="T4" fmla="*/ 0 w 3951"/>
                <a:gd name="T5" fmla="*/ 0 h 4175"/>
                <a:gd name="T6" fmla="*/ 0 w 3951"/>
                <a:gd name="T7" fmla="*/ 0 h 4175"/>
                <a:gd name="T8" fmla="*/ 0 w 3951"/>
                <a:gd name="T9" fmla="*/ 0 h 4175"/>
                <a:gd name="T10" fmla="*/ 0 w 3951"/>
                <a:gd name="T11" fmla="*/ 0 h 4175"/>
                <a:gd name="T12" fmla="*/ 0 w 3951"/>
                <a:gd name="T13" fmla="*/ 0 h 4175"/>
                <a:gd name="T14" fmla="*/ 0 w 3951"/>
                <a:gd name="T15" fmla="*/ 0 h 4175"/>
                <a:gd name="T16" fmla="*/ 0 w 3951"/>
                <a:gd name="T17" fmla="*/ 0 h 4175"/>
                <a:gd name="T18" fmla="*/ 0 w 3951"/>
                <a:gd name="T19" fmla="*/ 0 h 4175"/>
                <a:gd name="T20" fmla="*/ 0 w 3951"/>
                <a:gd name="T21" fmla="*/ 0 h 4175"/>
                <a:gd name="T22" fmla="*/ 0 w 3951"/>
                <a:gd name="T23" fmla="*/ 0 h 4175"/>
                <a:gd name="T24" fmla="*/ 0 w 3951"/>
                <a:gd name="T25" fmla="*/ 0 h 4175"/>
                <a:gd name="T26" fmla="*/ 0 w 3951"/>
                <a:gd name="T27" fmla="*/ 0 h 4175"/>
                <a:gd name="T28" fmla="*/ 0 w 3951"/>
                <a:gd name="T29" fmla="*/ 0 h 4175"/>
                <a:gd name="T30" fmla="*/ 0 w 3951"/>
                <a:gd name="T31" fmla="*/ 0 h 4175"/>
                <a:gd name="T32" fmla="*/ 0 w 3951"/>
                <a:gd name="T33" fmla="*/ 0 h 4175"/>
                <a:gd name="T34" fmla="*/ 0 w 3951"/>
                <a:gd name="T35" fmla="*/ 0 h 4175"/>
                <a:gd name="T36" fmla="*/ 0 w 3951"/>
                <a:gd name="T37" fmla="*/ 0 h 4175"/>
                <a:gd name="T38" fmla="*/ 0 w 3951"/>
                <a:gd name="T39" fmla="*/ 0 h 4175"/>
                <a:gd name="T40" fmla="*/ 0 w 3951"/>
                <a:gd name="T41" fmla="*/ 0 h 4175"/>
                <a:gd name="T42" fmla="*/ 0 w 3951"/>
                <a:gd name="T43" fmla="*/ 0 h 4175"/>
                <a:gd name="T44" fmla="*/ 0 w 3951"/>
                <a:gd name="T45" fmla="*/ 0 h 4175"/>
                <a:gd name="T46" fmla="*/ 0 w 3951"/>
                <a:gd name="T47" fmla="*/ 0 h 4175"/>
                <a:gd name="T48" fmla="*/ 0 w 3951"/>
                <a:gd name="T49" fmla="*/ 0 h 4175"/>
                <a:gd name="T50" fmla="*/ 0 w 3951"/>
                <a:gd name="T51" fmla="*/ 0 h 4175"/>
                <a:gd name="T52" fmla="*/ 0 w 3951"/>
                <a:gd name="T53" fmla="*/ 0 h 4175"/>
                <a:gd name="T54" fmla="*/ 0 w 3951"/>
                <a:gd name="T55" fmla="*/ 0 h 4175"/>
                <a:gd name="T56" fmla="*/ 0 w 3951"/>
                <a:gd name="T57" fmla="*/ 0 h 4175"/>
                <a:gd name="T58" fmla="*/ 0 w 3951"/>
                <a:gd name="T59" fmla="*/ 0 h 4175"/>
                <a:gd name="T60" fmla="*/ 0 w 3951"/>
                <a:gd name="T61" fmla="*/ 0 h 4175"/>
                <a:gd name="T62" fmla="*/ 0 w 3951"/>
                <a:gd name="T63" fmla="*/ 0 h 4175"/>
                <a:gd name="T64" fmla="*/ 0 w 3951"/>
                <a:gd name="T65" fmla="*/ 0 h 4175"/>
                <a:gd name="T66" fmla="*/ 0 w 3951"/>
                <a:gd name="T67" fmla="*/ 0 h 4175"/>
                <a:gd name="T68" fmla="*/ 0 w 3951"/>
                <a:gd name="T69" fmla="*/ 0 h 4175"/>
                <a:gd name="T70" fmla="*/ 0 w 3951"/>
                <a:gd name="T71" fmla="*/ 0 h 4175"/>
                <a:gd name="T72" fmla="*/ 0 w 3951"/>
                <a:gd name="T73" fmla="*/ 0 h 4175"/>
                <a:gd name="T74" fmla="*/ 0 w 3951"/>
                <a:gd name="T75" fmla="*/ 0 h 4175"/>
                <a:gd name="T76" fmla="*/ 0 w 3951"/>
                <a:gd name="T77" fmla="*/ 0 h 4175"/>
                <a:gd name="T78" fmla="*/ 0 w 3951"/>
                <a:gd name="T79" fmla="*/ 0 h 4175"/>
                <a:gd name="T80" fmla="*/ 0 w 3951"/>
                <a:gd name="T81" fmla="*/ 0 h 4175"/>
                <a:gd name="T82" fmla="*/ 0 w 3951"/>
                <a:gd name="T83" fmla="*/ 0 h 4175"/>
                <a:gd name="T84" fmla="*/ 0 w 3951"/>
                <a:gd name="T85" fmla="*/ 0 h 4175"/>
                <a:gd name="T86" fmla="*/ 0 w 3951"/>
                <a:gd name="T87" fmla="*/ 0 h 4175"/>
                <a:gd name="T88" fmla="*/ 0 w 3951"/>
                <a:gd name="T89" fmla="*/ 0 h 4175"/>
                <a:gd name="T90" fmla="*/ 0 w 3951"/>
                <a:gd name="T91" fmla="*/ 0 h 4175"/>
                <a:gd name="T92" fmla="*/ 0 w 3951"/>
                <a:gd name="T93" fmla="*/ 0 h 4175"/>
                <a:gd name="T94" fmla="*/ 0 w 3951"/>
                <a:gd name="T95" fmla="*/ 0 h 4175"/>
                <a:gd name="T96" fmla="*/ 0 w 3951"/>
                <a:gd name="T97" fmla="*/ 0 h 4175"/>
                <a:gd name="T98" fmla="*/ 0 w 3951"/>
                <a:gd name="T99" fmla="*/ 0 h 4175"/>
                <a:gd name="T100" fmla="*/ 0 w 3951"/>
                <a:gd name="T101" fmla="*/ 0 h 4175"/>
                <a:gd name="T102" fmla="*/ 0 w 3951"/>
                <a:gd name="T103" fmla="*/ 0 h 4175"/>
                <a:gd name="T104" fmla="*/ 0 w 3951"/>
                <a:gd name="T105" fmla="*/ 0 h 4175"/>
                <a:gd name="T106" fmla="*/ 0 w 3951"/>
                <a:gd name="T107" fmla="*/ 0 h 4175"/>
                <a:gd name="T108" fmla="*/ 0 w 3951"/>
                <a:gd name="T109" fmla="*/ 0 h 4175"/>
                <a:gd name="T110" fmla="*/ 0 w 3951"/>
                <a:gd name="T111" fmla="*/ 0 h 4175"/>
                <a:gd name="T112" fmla="*/ 0 w 3951"/>
                <a:gd name="T113" fmla="*/ 0 h 417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951"/>
                <a:gd name="T172" fmla="*/ 0 h 4175"/>
                <a:gd name="T173" fmla="*/ 3951 w 3951"/>
                <a:gd name="T174" fmla="*/ 4175 h 417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951" h="4175">
                  <a:moveTo>
                    <a:pt x="442" y="4175"/>
                  </a:moveTo>
                  <a:lnTo>
                    <a:pt x="544" y="3997"/>
                  </a:lnTo>
                  <a:lnTo>
                    <a:pt x="749" y="3677"/>
                  </a:lnTo>
                  <a:lnTo>
                    <a:pt x="971" y="3360"/>
                  </a:lnTo>
                  <a:lnTo>
                    <a:pt x="1202" y="3057"/>
                  </a:lnTo>
                  <a:lnTo>
                    <a:pt x="1449" y="2764"/>
                  </a:lnTo>
                  <a:lnTo>
                    <a:pt x="1707" y="2478"/>
                  </a:lnTo>
                  <a:lnTo>
                    <a:pt x="1976" y="2210"/>
                  </a:lnTo>
                  <a:lnTo>
                    <a:pt x="2121" y="2350"/>
                  </a:lnTo>
                  <a:lnTo>
                    <a:pt x="2387" y="2629"/>
                  </a:lnTo>
                  <a:lnTo>
                    <a:pt x="2634" y="2917"/>
                  </a:lnTo>
                  <a:lnTo>
                    <a:pt x="2875" y="3220"/>
                  </a:lnTo>
                  <a:lnTo>
                    <a:pt x="3101" y="3527"/>
                  </a:lnTo>
                  <a:lnTo>
                    <a:pt x="3313" y="3851"/>
                  </a:lnTo>
                  <a:lnTo>
                    <a:pt x="3511" y="4175"/>
                  </a:lnTo>
                  <a:lnTo>
                    <a:pt x="3951" y="3339"/>
                  </a:lnTo>
                  <a:lnTo>
                    <a:pt x="3925" y="3317"/>
                  </a:lnTo>
                  <a:lnTo>
                    <a:pt x="3574" y="3059"/>
                  </a:lnTo>
                  <a:lnTo>
                    <a:pt x="3229" y="2789"/>
                  </a:lnTo>
                  <a:lnTo>
                    <a:pt x="2897" y="2507"/>
                  </a:lnTo>
                  <a:lnTo>
                    <a:pt x="2574" y="2210"/>
                  </a:lnTo>
                  <a:lnTo>
                    <a:pt x="2264" y="1900"/>
                  </a:lnTo>
                  <a:lnTo>
                    <a:pt x="2356" y="1805"/>
                  </a:lnTo>
                  <a:lnTo>
                    <a:pt x="2680" y="1486"/>
                  </a:lnTo>
                  <a:lnTo>
                    <a:pt x="3024" y="1175"/>
                  </a:lnTo>
                  <a:lnTo>
                    <a:pt x="3369" y="879"/>
                  </a:lnTo>
                  <a:lnTo>
                    <a:pt x="3733" y="598"/>
                  </a:lnTo>
                  <a:lnTo>
                    <a:pt x="3341" y="0"/>
                  </a:lnTo>
                  <a:lnTo>
                    <a:pt x="3154" y="284"/>
                  </a:lnTo>
                  <a:lnTo>
                    <a:pt x="2944" y="576"/>
                  </a:lnTo>
                  <a:lnTo>
                    <a:pt x="2717" y="857"/>
                  </a:lnTo>
                  <a:lnTo>
                    <a:pt x="2485" y="1129"/>
                  </a:lnTo>
                  <a:lnTo>
                    <a:pt x="2236" y="1390"/>
                  </a:lnTo>
                  <a:lnTo>
                    <a:pt x="1976" y="1639"/>
                  </a:lnTo>
                  <a:lnTo>
                    <a:pt x="1732" y="1399"/>
                  </a:lnTo>
                  <a:lnTo>
                    <a:pt x="1482" y="1145"/>
                  </a:lnTo>
                  <a:lnTo>
                    <a:pt x="1242" y="875"/>
                  </a:lnTo>
                  <a:lnTo>
                    <a:pt x="1020" y="592"/>
                  </a:lnTo>
                  <a:lnTo>
                    <a:pt x="806" y="300"/>
                  </a:lnTo>
                  <a:lnTo>
                    <a:pt x="609" y="0"/>
                  </a:lnTo>
                  <a:lnTo>
                    <a:pt x="222" y="598"/>
                  </a:lnTo>
                  <a:lnTo>
                    <a:pt x="328" y="677"/>
                  </a:lnTo>
                  <a:lnTo>
                    <a:pt x="681" y="965"/>
                  </a:lnTo>
                  <a:lnTo>
                    <a:pt x="1028" y="1262"/>
                  </a:lnTo>
                  <a:lnTo>
                    <a:pt x="1362" y="1577"/>
                  </a:lnTo>
                  <a:lnTo>
                    <a:pt x="1683" y="1900"/>
                  </a:lnTo>
                  <a:lnTo>
                    <a:pt x="1659" y="1927"/>
                  </a:lnTo>
                  <a:lnTo>
                    <a:pt x="1350" y="2234"/>
                  </a:lnTo>
                  <a:lnTo>
                    <a:pt x="1030" y="2533"/>
                  </a:lnTo>
                  <a:lnTo>
                    <a:pt x="696" y="2811"/>
                  </a:lnTo>
                  <a:lnTo>
                    <a:pt x="353" y="3079"/>
                  </a:lnTo>
                  <a:lnTo>
                    <a:pt x="0" y="3339"/>
                  </a:lnTo>
                  <a:lnTo>
                    <a:pt x="442" y="4175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ldLvl="2" autoUpdateAnimBg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Write-back</a:t>
            </a:r>
            <a:endParaRPr lang="en-US" dirty="0"/>
          </a:p>
        </p:txBody>
      </p:sp>
      <p:sp>
        <p:nvSpPr>
          <p:cNvPr id="1127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With a write-back (or “copy-back” or “store-in”) cache, a data write </a:t>
            </a:r>
            <a:r>
              <a:rPr lang="en-US" i="1" dirty="0"/>
              <a:t>only</a:t>
            </a:r>
            <a:r>
              <a:rPr lang="en-US" dirty="0"/>
              <a:t> updates the cache:</a:t>
            </a:r>
            <a:endParaRPr lang="en-US" dirty="0"/>
          </a:p>
          <a:p>
            <a:pPr lvl="1">
              <a:defRPr/>
            </a:pPr>
            <a:r>
              <a:rPr lang="en-US" dirty="0"/>
              <a:t>cache and main memory are therefore </a:t>
            </a:r>
            <a:r>
              <a:rPr lang="en-US" dirty="0">
                <a:solidFill>
                  <a:srgbClr val="4365E2"/>
                </a:solidFill>
              </a:rPr>
              <a:t>not       coherent</a:t>
            </a:r>
            <a:r>
              <a:rPr lang="en-US" dirty="0"/>
              <a:t> after the write is performed</a:t>
            </a:r>
            <a:endParaRPr lang="en-US" dirty="0"/>
          </a:p>
          <a:p>
            <a:pPr lvl="1">
              <a:defRPr/>
            </a:pPr>
            <a:r>
              <a:rPr lang="en-US" dirty="0"/>
              <a:t>modified cache data is copied to the main memory </a:t>
            </a:r>
            <a:r>
              <a:rPr lang="en-US" dirty="0">
                <a:solidFill>
                  <a:srgbClr val="4365E2"/>
                </a:solidFill>
              </a:rPr>
              <a:t>only when about to be overwritten</a:t>
            </a:r>
            <a:r>
              <a:rPr lang="en-US" dirty="0"/>
              <a:t> in the cache (processor can continue)</a:t>
            </a:r>
            <a:endParaRPr lang="en-US" dirty="0"/>
          </a:p>
          <a:p>
            <a:pPr lvl="1">
              <a:defRPr/>
            </a:pPr>
            <a:r>
              <a:rPr lang="en-US" dirty="0"/>
              <a:t>must </a:t>
            </a:r>
            <a:r>
              <a:rPr lang="en-US" dirty="0">
                <a:solidFill>
                  <a:srgbClr val="4365E2"/>
                </a:solidFill>
              </a:rPr>
              <a:t>record</a:t>
            </a:r>
            <a:r>
              <a:rPr lang="en-US" dirty="0"/>
              <a:t> which data have changed</a:t>
            </a:r>
            <a:endParaRPr lang="en-GB" dirty="0"/>
          </a:p>
          <a:p>
            <a:pPr lvl="1">
              <a:defRPr/>
            </a:pPr>
            <a:r>
              <a:rPr lang="en-US" dirty="0"/>
              <a:t>only needs a main memory write cycle </a:t>
            </a:r>
            <a:r>
              <a:rPr lang="en-US" dirty="0">
                <a:solidFill>
                  <a:srgbClr val="4365E2"/>
                </a:solidFill>
              </a:rPr>
              <a:t>when necessary</a:t>
            </a:r>
            <a:endParaRPr lang="en-US" dirty="0">
              <a:solidFill>
                <a:srgbClr val="4365E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grpSp>
        <p:nvGrpSpPr>
          <p:cNvPr id="2" name="Group 8"/>
          <p:cNvGrpSpPr/>
          <p:nvPr/>
        </p:nvGrpSpPr>
        <p:grpSpPr bwMode="auto">
          <a:xfrm>
            <a:off x="3067913" y="4180256"/>
            <a:ext cx="379413" cy="442912"/>
            <a:chOff x="828" y="2640"/>
            <a:chExt cx="813" cy="951"/>
          </a:xfrm>
        </p:grpSpPr>
        <p:sp>
          <p:nvSpPr>
            <p:cNvPr id="24596" name="Freeform 9"/>
            <p:cNvSpPr/>
            <p:nvPr/>
          </p:nvSpPr>
          <p:spPr bwMode="auto">
            <a:xfrm>
              <a:off x="869" y="2705"/>
              <a:ext cx="772" cy="886"/>
            </a:xfrm>
            <a:custGeom>
              <a:avLst/>
              <a:gdLst>
                <a:gd name="T0" fmla="*/ 0 w 3861"/>
                <a:gd name="T1" fmla="*/ 0 h 4430"/>
                <a:gd name="T2" fmla="*/ 0 w 3861"/>
                <a:gd name="T3" fmla="*/ 0 h 4430"/>
                <a:gd name="T4" fmla="*/ 0 w 3861"/>
                <a:gd name="T5" fmla="*/ 0 h 4430"/>
                <a:gd name="T6" fmla="*/ 0 w 3861"/>
                <a:gd name="T7" fmla="*/ 0 h 4430"/>
                <a:gd name="T8" fmla="*/ 0 w 3861"/>
                <a:gd name="T9" fmla="*/ 0 h 4430"/>
                <a:gd name="T10" fmla="*/ 0 w 3861"/>
                <a:gd name="T11" fmla="*/ 0 h 4430"/>
                <a:gd name="T12" fmla="*/ 0 w 3861"/>
                <a:gd name="T13" fmla="*/ 0 h 4430"/>
                <a:gd name="T14" fmla="*/ 0 w 3861"/>
                <a:gd name="T15" fmla="*/ 0 h 4430"/>
                <a:gd name="T16" fmla="*/ 0 w 3861"/>
                <a:gd name="T17" fmla="*/ 0 h 4430"/>
                <a:gd name="T18" fmla="*/ 0 w 3861"/>
                <a:gd name="T19" fmla="*/ 0 h 4430"/>
                <a:gd name="T20" fmla="*/ 0 w 3861"/>
                <a:gd name="T21" fmla="*/ 0 h 4430"/>
                <a:gd name="T22" fmla="*/ 0 w 3861"/>
                <a:gd name="T23" fmla="*/ 0 h 4430"/>
                <a:gd name="T24" fmla="*/ 0 w 3861"/>
                <a:gd name="T25" fmla="*/ 0 h 4430"/>
                <a:gd name="T26" fmla="*/ 0 w 3861"/>
                <a:gd name="T27" fmla="*/ 0 h 4430"/>
                <a:gd name="T28" fmla="*/ 0 w 3861"/>
                <a:gd name="T29" fmla="*/ 0 h 4430"/>
                <a:gd name="T30" fmla="*/ 0 w 3861"/>
                <a:gd name="T31" fmla="*/ 0 h 4430"/>
                <a:gd name="T32" fmla="*/ 0 w 3861"/>
                <a:gd name="T33" fmla="*/ 0 h 4430"/>
                <a:gd name="T34" fmla="*/ 0 w 3861"/>
                <a:gd name="T35" fmla="*/ 0 h 4430"/>
                <a:gd name="T36" fmla="*/ 0 w 3861"/>
                <a:gd name="T37" fmla="*/ 0 h 4430"/>
                <a:gd name="T38" fmla="*/ 0 w 3861"/>
                <a:gd name="T39" fmla="*/ 0 h 4430"/>
                <a:gd name="T40" fmla="*/ 0 w 3861"/>
                <a:gd name="T41" fmla="*/ 0 h 4430"/>
                <a:gd name="T42" fmla="*/ 0 w 3861"/>
                <a:gd name="T43" fmla="*/ 0 h 4430"/>
                <a:gd name="T44" fmla="*/ 0 w 3861"/>
                <a:gd name="T45" fmla="*/ 0 h 4430"/>
                <a:gd name="T46" fmla="*/ 0 w 3861"/>
                <a:gd name="T47" fmla="*/ 0 h 4430"/>
                <a:gd name="T48" fmla="*/ 0 w 3861"/>
                <a:gd name="T49" fmla="*/ 0 h 4430"/>
                <a:gd name="T50" fmla="*/ 0 w 3861"/>
                <a:gd name="T51" fmla="*/ 0 h 4430"/>
                <a:gd name="T52" fmla="*/ 0 w 3861"/>
                <a:gd name="T53" fmla="*/ 0 h 4430"/>
                <a:gd name="T54" fmla="*/ 0 w 3861"/>
                <a:gd name="T55" fmla="*/ 0 h 4430"/>
                <a:gd name="T56" fmla="*/ 0 w 3861"/>
                <a:gd name="T57" fmla="*/ 0 h 4430"/>
                <a:gd name="T58" fmla="*/ 0 w 3861"/>
                <a:gd name="T59" fmla="*/ 0 h 4430"/>
                <a:gd name="T60" fmla="*/ 0 w 3861"/>
                <a:gd name="T61" fmla="*/ 0 h 4430"/>
                <a:gd name="T62" fmla="*/ 0 w 3861"/>
                <a:gd name="T63" fmla="*/ 0 h 4430"/>
                <a:gd name="T64" fmla="*/ 0 w 3861"/>
                <a:gd name="T65" fmla="*/ 0 h 4430"/>
                <a:gd name="T66" fmla="*/ 0 w 3861"/>
                <a:gd name="T67" fmla="*/ 0 h 4430"/>
                <a:gd name="T68" fmla="*/ 0 w 3861"/>
                <a:gd name="T69" fmla="*/ 0 h 4430"/>
                <a:gd name="T70" fmla="*/ 0 w 3861"/>
                <a:gd name="T71" fmla="*/ 0 h 4430"/>
                <a:gd name="T72" fmla="*/ 0 w 3861"/>
                <a:gd name="T73" fmla="*/ 0 h 4430"/>
                <a:gd name="T74" fmla="*/ 0 w 3861"/>
                <a:gd name="T75" fmla="*/ 0 h 4430"/>
                <a:gd name="T76" fmla="*/ 0 w 3861"/>
                <a:gd name="T77" fmla="*/ 0 h 4430"/>
                <a:gd name="T78" fmla="*/ 0 w 3861"/>
                <a:gd name="T79" fmla="*/ 0 h 4430"/>
                <a:gd name="T80" fmla="*/ 0 w 3861"/>
                <a:gd name="T81" fmla="*/ 0 h 4430"/>
                <a:gd name="T82" fmla="*/ 0 w 3861"/>
                <a:gd name="T83" fmla="*/ 0 h 4430"/>
                <a:gd name="T84" fmla="*/ 0 w 3861"/>
                <a:gd name="T85" fmla="*/ 0 h 4430"/>
                <a:gd name="T86" fmla="*/ 0 w 3861"/>
                <a:gd name="T87" fmla="*/ 0 h 4430"/>
                <a:gd name="T88" fmla="*/ 0 w 3861"/>
                <a:gd name="T89" fmla="*/ 0 h 4430"/>
                <a:gd name="T90" fmla="*/ 0 w 3861"/>
                <a:gd name="T91" fmla="*/ 0 h 4430"/>
                <a:gd name="T92" fmla="*/ 0 w 3861"/>
                <a:gd name="T93" fmla="*/ 0 h 4430"/>
                <a:gd name="T94" fmla="*/ 0 w 3861"/>
                <a:gd name="T95" fmla="*/ 0 h 4430"/>
                <a:gd name="T96" fmla="*/ 0 w 3861"/>
                <a:gd name="T97" fmla="*/ 0 h 4430"/>
                <a:gd name="T98" fmla="*/ 0 w 3861"/>
                <a:gd name="T99" fmla="*/ 0 h 4430"/>
                <a:gd name="T100" fmla="*/ 0 w 3861"/>
                <a:gd name="T101" fmla="*/ 0 h 4430"/>
                <a:gd name="T102" fmla="*/ 0 w 3861"/>
                <a:gd name="T103" fmla="*/ 0 h 4430"/>
                <a:gd name="T104" fmla="*/ 0 w 3861"/>
                <a:gd name="T105" fmla="*/ 0 h 4430"/>
                <a:gd name="T106" fmla="*/ 0 w 3861"/>
                <a:gd name="T107" fmla="*/ 0 h 4430"/>
                <a:gd name="T108" fmla="*/ 0 w 3861"/>
                <a:gd name="T109" fmla="*/ 0 h 4430"/>
                <a:gd name="T110" fmla="*/ 0 w 3861"/>
                <a:gd name="T111" fmla="*/ 0 h 4430"/>
                <a:gd name="T112" fmla="*/ 0 w 3861"/>
                <a:gd name="T113" fmla="*/ 0 h 4430"/>
                <a:gd name="T114" fmla="*/ 0 w 3861"/>
                <a:gd name="T115" fmla="*/ 0 h 44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61"/>
                <a:gd name="T175" fmla="*/ 0 h 4430"/>
                <a:gd name="T176" fmla="*/ 3861 w 3861"/>
                <a:gd name="T177" fmla="*/ 4430 h 443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61" h="4430">
                  <a:moveTo>
                    <a:pt x="3861" y="702"/>
                  </a:moveTo>
                  <a:lnTo>
                    <a:pt x="3637" y="855"/>
                  </a:lnTo>
                  <a:lnTo>
                    <a:pt x="3421" y="1017"/>
                  </a:lnTo>
                  <a:lnTo>
                    <a:pt x="3219" y="1195"/>
                  </a:lnTo>
                  <a:lnTo>
                    <a:pt x="3023" y="1386"/>
                  </a:lnTo>
                  <a:lnTo>
                    <a:pt x="2841" y="1581"/>
                  </a:lnTo>
                  <a:lnTo>
                    <a:pt x="2673" y="1794"/>
                  </a:lnTo>
                  <a:lnTo>
                    <a:pt x="2517" y="2013"/>
                  </a:lnTo>
                  <a:lnTo>
                    <a:pt x="2369" y="2242"/>
                  </a:lnTo>
                  <a:lnTo>
                    <a:pt x="2241" y="2480"/>
                  </a:lnTo>
                  <a:lnTo>
                    <a:pt x="2128" y="2723"/>
                  </a:lnTo>
                  <a:lnTo>
                    <a:pt x="2024" y="2975"/>
                  </a:lnTo>
                  <a:lnTo>
                    <a:pt x="1939" y="3231"/>
                  </a:lnTo>
                  <a:lnTo>
                    <a:pt x="1868" y="3491"/>
                  </a:lnTo>
                  <a:lnTo>
                    <a:pt x="1809" y="3758"/>
                  </a:lnTo>
                  <a:lnTo>
                    <a:pt x="1769" y="4020"/>
                  </a:lnTo>
                  <a:lnTo>
                    <a:pt x="1753" y="4200"/>
                  </a:lnTo>
                  <a:lnTo>
                    <a:pt x="1753" y="4177"/>
                  </a:lnTo>
                  <a:lnTo>
                    <a:pt x="1753" y="4430"/>
                  </a:lnTo>
                  <a:lnTo>
                    <a:pt x="1052" y="4209"/>
                  </a:lnTo>
                  <a:lnTo>
                    <a:pt x="991" y="4058"/>
                  </a:lnTo>
                  <a:lnTo>
                    <a:pt x="924" y="3909"/>
                  </a:lnTo>
                  <a:lnTo>
                    <a:pt x="830" y="3777"/>
                  </a:lnTo>
                  <a:lnTo>
                    <a:pt x="736" y="3647"/>
                  </a:lnTo>
                  <a:lnTo>
                    <a:pt x="619" y="3529"/>
                  </a:lnTo>
                  <a:lnTo>
                    <a:pt x="497" y="3423"/>
                  </a:lnTo>
                  <a:lnTo>
                    <a:pt x="368" y="3328"/>
                  </a:lnTo>
                  <a:lnTo>
                    <a:pt x="224" y="3251"/>
                  </a:lnTo>
                  <a:lnTo>
                    <a:pt x="73" y="3182"/>
                  </a:lnTo>
                  <a:lnTo>
                    <a:pt x="0" y="3156"/>
                  </a:lnTo>
                  <a:lnTo>
                    <a:pt x="484" y="2594"/>
                  </a:lnTo>
                  <a:lnTo>
                    <a:pt x="623" y="2694"/>
                  </a:lnTo>
                  <a:lnTo>
                    <a:pt x="766" y="2823"/>
                  </a:lnTo>
                  <a:lnTo>
                    <a:pt x="901" y="2959"/>
                  </a:lnTo>
                  <a:lnTo>
                    <a:pt x="1015" y="3108"/>
                  </a:lnTo>
                  <a:lnTo>
                    <a:pt x="1124" y="3262"/>
                  </a:lnTo>
                  <a:lnTo>
                    <a:pt x="1218" y="3430"/>
                  </a:lnTo>
                  <a:lnTo>
                    <a:pt x="1296" y="3603"/>
                  </a:lnTo>
                  <a:lnTo>
                    <a:pt x="1360" y="3783"/>
                  </a:lnTo>
                  <a:lnTo>
                    <a:pt x="1365" y="3770"/>
                  </a:lnTo>
                  <a:lnTo>
                    <a:pt x="1406" y="3475"/>
                  </a:lnTo>
                  <a:lnTo>
                    <a:pt x="1462" y="3182"/>
                  </a:lnTo>
                  <a:lnTo>
                    <a:pt x="1536" y="2898"/>
                  </a:lnTo>
                  <a:lnTo>
                    <a:pt x="1624" y="2612"/>
                  </a:lnTo>
                  <a:lnTo>
                    <a:pt x="1728" y="2335"/>
                  </a:lnTo>
                  <a:lnTo>
                    <a:pt x="1845" y="2063"/>
                  </a:lnTo>
                  <a:lnTo>
                    <a:pt x="1980" y="1798"/>
                  </a:lnTo>
                  <a:lnTo>
                    <a:pt x="2128" y="1535"/>
                  </a:lnTo>
                  <a:lnTo>
                    <a:pt x="2284" y="1290"/>
                  </a:lnTo>
                  <a:lnTo>
                    <a:pt x="2462" y="1045"/>
                  </a:lnTo>
                  <a:lnTo>
                    <a:pt x="2648" y="816"/>
                  </a:lnTo>
                  <a:lnTo>
                    <a:pt x="2847" y="593"/>
                  </a:lnTo>
                  <a:lnTo>
                    <a:pt x="3056" y="384"/>
                  </a:lnTo>
                  <a:lnTo>
                    <a:pt x="3278" y="189"/>
                  </a:lnTo>
                  <a:lnTo>
                    <a:pt x="3510" y="0"/>
                  </a:lnTo>
                  <a:lnTo>
                    <a:pt x="3861" y="70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597" name="Freeform 10"/>
            <p:cNvSpPr/>
            <p:nvPr/>
          </p:nvSpPr>
          <p:spPr bwMode="auto">
            <a:xfrm>
              <a:off x="828" y="2640"/>
              <a:ext cx="772" cy="886"/>
            </a:xfrm>
            <a:custGeom>
              <a:avLst/>
              <a:gdLst>
                <a:gd name="T0" fmla="*/ 0 w 3859"/>
                <a:gd name="T1" fmla="*/ 0 h 4432"/>
                <a:gd name="T2" fmla="*/ 0 w 3859"/>
                <a:gd name="T3" fmla="*/ 0 h 4432"/>
                <a:gd name="T4" fmla="*/ 0 w 3859"/>
                <a:gd name="T5" fmla="*/ 0 h 4432"/>
                <a:gd name="T6" fmla="*/ 0 w 3859"/>
                <a:gd name="T7" fmla="*/ 0 h 4432"/>
                <a:gd name="T8" fmla="*/ 0 w 3859"/>
                <a:gd name="T9" fmla="*/ 0 h 4432"/>
                <a:gd name="T10" fmla="*/ 0 w 3859"/>
                <a:gd name="T11" fmla="*/ 0 h 4432"/>
                <a:gd name="T12" fmla="*/ 0 w 3859"/>
                <a:gd name="T13" fmla="*/ 0 h 4432"/>
                <a:gd name="T14" fmla="*/ 0 w 3859"/>
                <a:gd name="T15" fmla="*/ 0 h 4432"/>
                <a:gd name="T16" fmla="*/ 0 w 3859"/>
                <a:gd name="T17" fmla="*/ 0 h 4432"/>
                <a:gd name="T18" fmla="*/ 0 w 3859"/>
                <a:gd name="T19" fmla="*/ 0 h 4432"/>
                <a:gd name="T20" fmla="*/ 0 w 3859"/>
                <a:gd name="T21" fmla="*/ 0 h 4432"/>
                <a:gd name="T22" fmla="*/ 0 w 3859"/>
                <a:gd name="T23" fmla="*/ 0 h 4432"/>
                <a:gd name="T24" fmla="*/ 0 w 3859"/>
                <a:gd name="T25" fmla="*/ 0 h 4432"/>
                <a:gd name="T26" fmla="*/ 0 w 3859"/>
                <a:gd name="T27" fmla="*/ 0 h 4432"/>
                <a:gd name="T28" fmla="*/ 0 w 3859"/>
                <a:gd name="T29" fmla="*/ 0 h 4432"/>
                <a:gd name="T30" fmla="*/ 0 w 3859"/>
                <a:gd name="T31" fmla="*/ 0 h 4432"/>
                <a:gd name="T32" fmla="*/ 0 w 3859"/>
                <a:gd name="T33" fmla="*/ 0 h 4432"/>
                <a:gd name="T34" fmla="*/ 0 w 3859"/>
                <a:gd name="T35" fmla="*/ 0 h 4432"/>
                <a:gd name="T36" fmla="*/ 0 w 3859"/>
                <a:gd name="T37" fmla="*/ 0 h 4432"/>
                <a:gd name="T38" fmla="*/ 0 w 3859"/>
                <a:gd name="T39" fmla="*/ 0 h 4432"/>
                <a:gd name="T40" fmla="*/ 0 w 3859"/>
                <a:gd name="T41" fmla="*/ 0 h 4432"/>
                <a:gd name="T42" fmla="*/ 0 w 3859"/>
                <a:gd name="T43" fmla="*/ 0 h 4432"/>
                <a:gd name="T44" fmla="*/ 0 w 3859"/>
                <a:gd name="T45" fmla="*/ 0 h 4432"/>
                <a:gd name="T46" fmla="*/ 0 w 3859"/>
                <a:gd name="T47" fmla="*/ 0 h 4432"/>
                <a:gd name="T48" fmla="*/ 0 w 3859"/>
                <a:gd name="T49" fmla="*/ 0 h 4432"/>
                <a:gd name="T50" fmla="*/ 0 w 3859"/>
                <a:gd name="T51" fmla="*/ 0 h 4432"/>
                <a:gd name="T52" fmla="*/ 0 w 3859"/>
                <a:gd name="T53" fmla="*/ 0 h 4432"/>
                <a:gd name="T54" fmla="*/ 0 w 3859"/>
                <a:gd name="T55" fmla="*/ 0 h 4432"/>
                <a:gd name="T56" fmla="*/ 0 w 3859"/>
                <a:gd name="T57" fmla="*/ 0 h 4432"/>
                <a:gd name="T58" fmla="*/ 0 w 3859"/>
                <a:gd name="T59" fmla="*/ 0 h 4432"/>
                <a:gd name="T60" fmla="*/ 0 w 3859"/>
                <a:gd name="T61" fmla="*/ 0 h 4432"/>
                <a:gd name="T62" fmla="*/ 0 w 3859"/>
                <a:gd name="T63" fmla="*/ 0 h 4432"/>
                <a:gd name="T64" fmla="*/ 0 w 3859"/>
                <a:gd name="T65" fmla="*/ 0 h 4432"/>
                <a:gd name="T66" fmla="*/ 0 w 3859"/>
                <a:gd name="T67" fmla="*/ 0 h 4432"/>
                <a:gd name="T68" fmla="*/ 0 w 3859"/>
                <a:gd name="T69" fmla="*/ 0 h 4432"/>
                <a:gd name="T70" fmla="*/ 0 w 3859"/>
                <a:gd name="T71" fmla="*/ 0 h 4432"/>
                <a:gd name="T72" fmla="*/ 0 w 3859"/>
                <a:gd name="T73" fmla="*/ 0 h 4432"/>
                <a:gd name="T74" fmla="*/ 0 w 3859"/>
                <a:gd name="T75" fmla="*/ 0 h 4432"/>
                <a:gd name="T76" fmla="*/ 0 w 3859"/>
                <a:gd name="T77" fmla="*/ 0 h 4432"/>
                <a:gd name="T78" fmla="*/ 0 w 3859"/>
                <a:gd name="T79" fmla="*/ 0 h 4432"/>
                <a:gd name="T80" fmla="*/ 0 w 3859"/>
                <a:gd name="T81" fmla="*/ 0 h 4432"/>
                <a:gd name="T82" fmla="*/ 0 w 3859"/>
                <a:gd name="T83" fmla="*/ 0 h 4432"/>
                <a:gd name="T84" fmla="*/ 0 w 3859"/>
                <a:gd name="T85" fmla="*/ 0 h 4432"/>
                <a:gd name="T86" fmla="*/ 0 w 3859"/>
                <a:gd name="T87" fmla="*/ 0 h 4432"/>
                <a:gd name="T88" fmla="*/ 0 w 3859"/>
                <a:gd name="T89" fmla="*/ 0 h 4432"/>
                <a:gd name="T90" fmla="*/ 0 w 3859"/>
                <a:gd name="T91" fmla="*/ 0 h 4432"/>
                <a:gd name="T92" fmla="*/ 0 w 3859"/>
                <a:gd name="T93" fmla="*/ 0 h 4432"/>
                <a:gd name="T94" fmla="*/ 0 w 3859"/>
                <a:gd name="T95" fmla="*/ 0 h 4432"/>
                <a:gd name="T96" fmla="*/ 0 w 3859"/>
                <a:gd name="T97" fmla="*/ 0 h 4432"/>
                <a:gd name="T98" fmla="*/ 0 w 3859"/>
                <a:gd name="T99" fmla="*/ 0 h 4432"/>
                <a:gd name="T100" fmla="*/ 0 w 3859"/>
                <a:gd name="T101" fmla="*/ 0 h 4432"/>
                <a:gd name="T102" fmla="*/ 0 w 3859"/>
                <a:gd name="T103" fmla="*/ 0 h 4432"/>
                <a:gd name="T104" fmla="*/ 0 w 3859"/>
                <a:gd name="T105" fmla="*/ 0 h 4432"/>
                <a:gd name="T106" fmla="*/ 0 w 3859"/>
                <a:gd name="T107" fmla="*/ 0 h 4432"/>
                <a:gd name="T108" fmla="*/ 0 w 3859"/>
                <a:gd name="T109" fmla="*/ 0 h 4432"/>
                <a:gd name="T110" fmla="*/ 0 w 3859"/>
                <a:gd name="T111" fmla="*/ 0 h 4432"/>
                <a:gd name="T112" fmla="*/ 0 w 3859"/>
                <a:gd name="T113" fmla="*/ 0 h 4432"/>
                <a:gd name="T114" fmla="*/ 0 w 3859"/>
                <a:gd name="T115" fmla="*/ 0 h 443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59"/>
                <a:gd name="T175" fmla="*/ 0 h 4432"/>
                <a:gd name="T176" fmla="*/ 3859 w 3859"/>
                <a:gd name="T177" fmla="*/ 4432 h 443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59" h="4432">
                  <a:moveTo>
                    <a:pt x="3859" y="700"/>
                  </a:moveTo>
                  <a:lnTo>
                    <a:pt x="3634" y="856"/>
                  </a:lnTo>
                  <a:lnTo>
                    <a:pt x="3423" y="1017"/>
                  </a:lnTo>
                  <a:lnTo>
                    <a:pt x="3217" y="1195"/>
                  </a:lnTo>
                  <a:lnTo>
                    <a:pt x="3020" y="1384"/>
                  </a:lnTo>
                  <a:lnTo>
                    <a:pt x="2839" y="1585"/>
                  </a:lnTo>
                  <a:lnTo>
                    <a:pt x="2669" y="1795"/>
                  </a:lnTo>
                  <a:lnTo>
                    <a:pt x="2513" y="2016"/>
                  </a:lnTo>
                  <a:lnTo>
                    <a:pt x="2367" y="2246"/>
                  </a:lnTo>
                  <a:lnTo>
                    <a:pt x="2239" y="2481"/>
                  </a:lnTo>
                  <a:lnTo>
                    <a:pt x="2122" y="2728"/>
                  </a:lnTo>
                  <a:lnTo>
                    <a:pt x="2019" y="2977"/>
                  </a:lnTo>
                  <a:lnTo>
                    <a:pt x="1933" y="3233"/>
                  </a:lnTo>
                  <a:lnTo>
                    <a:pt x="1863" y="3494"/>
                  </a:lnTo>
                  <a:lnTo>
                    <a:pt x="1808" y="3758"/>
                  </a:lnTo>
                  <a:lnTo>
                    <a:pt x="1767" y="4026"/>
                  </a:lnTo>
                  <a:lnTo>
                    <a:pt x="1752" y="4201"/>
                  </a:lnTo>
                  <a:lnTo>
                    <a:pt x="1752" y="4181"/>
                  </a:lnTo>
                  <a:lnTo>
                    <a:pt x="1752" y="4432"/>
                  </a:lnTo>
                  <a:lnTo>
                    <a:pt x="1048" y="4210"/>
                  </a:lnTo>
                  <a:lnTo>
                    <a:pt x="993" y="4060"/>
                  </a:lnTo>
                  <a:lnTo>
                    <a:pt x="915" y="3914"/>
                  </a:lnTo>
                  <a:lnTo>
                    <a:pt x="829" y="3778"/>
                  </a:lnTo>
                  <a:lnTo>
                    <a:pt x="731" y="3649"/>
                  </a:lnTo>
                  <a:lnTo>
                    <a:pt x="614" y="3534"/>
                  </a:lnTo>
                  <a:lnTo>
                    <a:pt x="495" y="3424"/>
                  </a:lnTo>
                  <a:lnTo>
                    <a:pt x="363" y="3331"/>
                  </a:lnTo>
                  <a:lnTo>
                    <a:pt x="220" y="3251"/>
                  </a:lnTo>
                  <a:lnTo>
                    <a:pt x="72" y="3183"/>
                  </a:lnTo>
                  <a:lnTo>
                    <a:pt x="0" y="3157"/>
                  </a:lnTo>
                  <a:lnTo>
                    <a:pt x="481" y="2597"/>
                  </a:lnTo>
                  <a:lnTo>
                    <a:pt x="618" y="2701"/>
                  </a:lnTo>
                  <a:lnTo>
                    <a:pt x="759" y="2828"/>
                  </a:lnTo>
                  <a:lnTo>
                    <a:pt x="895" y="2962"/>
                  </a:lnTo>
                  <a:lnTo>
                    <a:pt x="1015" y="3111"/>
                  </a:lnTo>
                  <a:lnTo>
                    <a:pt x="1121" y="3267"/>
                  </a:lnTo>
                  <a:lnTo>
                    <a:pt x="1211" y="3432"/>
                  </a:lnTo>
                  <a:lnTo>
                    <a:pt x="1290" y="3604"/>
                  </a:lnTo>
                  <a:lnTo>
                    <a:pt x="1356" y="3784"/>
                  </a:lnTo>
                  <a:lnTo>
                    <a:pt x="1358" y="3770"/>
                  </a:lnTo>
                  <a:lnTo>
                    <a:pt x="1402" y="3479"/>
                  </a:lnTo>
                  <a:lnTo>
                    <a:pt x="1459" y="3183"/>
                  </a:lnTo>
                  <a:lnTo>
                    <a:pt x="1531" y="2900"/>
                  </a:lnTo>
                  <a:lnTo>
                    <a:pt x="1619" y="2614"/>
                  </a:lnTo>
                  <a:lnTo>
                    <a:pt x="1726" y="2336"/>
                  </a:lnTo>
                  <a:lnTo>
                    <a:pt x="1843" y="2067"/>
                  </a:lnTo>
                  <a:lnTo>
                    <a:pt x="1973" y="1799"/>
                  </a:lnTo>
                  <a:lnTo>
                    <a:pt x="2122" y="1540"/>
                  </a:lnTo>
                  <a:lnTo>
                    <a:pt x="2283" y="1291"/>
                  </a:lnTo>
                  <a:lnTo>
                    <a:pt x="2457" y="1049"/>
                  </a:lnTo>
                  <a:lnTo>
                    <a:pt x="2646" y="820"/>
                  </a:lnTo>
                  <a:lnTo>
                    <a:pt x="2844" y="594"/>
                  </a:lnTo>
                  <a:lnTo>
                    <a:pt x="3051" y="388"/>
                  </a:lnTo>
                  <a:lnTo>
                    <a:pt x="3275" y="189"/>
                  </a:lnTo>
                  <a:lnTo>
                    <a:pt x="3507" y="0"/>
                  </a:lnTo>
                  <a:lnTo>
                    <a:pt x="3859" y="700"/>
                  </a:lnTo>
                  <a:close/>
                </a:path>
              </a:pathLst>
            </a:custGeom>
            <a:solidFill>
              <a:srgbClr val="00FF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3" name="Group 17"/>
          <p:cNvGrpSpPr/>
          <p:nvPr/>
        </p:nvGrpSpPr>
        <p:grpSpPr bwMode="auto">
          <a:xfrm>
            <a:off x="10763285" y="5520856"/>
            <a:ext cx="379413" cy="442913"/>
            <a:chOff x="828" y="2640"/>
            <a:chExt cx="813" cy="951"/>
          </a:xfrm>
        </p:grpSpPr>
        <p:sp>
          <p:nvSpPr>
            <p:cNvPr id="24594" name="Freeform 18"/>
            <p:cNvSpPr/>
            <p:nvPr/>
          </p:nvSpPr>
          <p:spPr bwMode="auto">
            <a:xfrm>
              <a:off x="869" y="2705"/>
              <a:ext cx="772" cy="886"/>
            </a:xfrm>
            <a:custGeom>
              <a:avLst/>
              <a:gdLst>
                <a:gd name="T0" fmla="*/ 0 w 3861"/>
                <a:gd name="T1" fmla="*/ 0 h 4430"/>
                <a:gd name="T2" fmla="*/ 0 w 3861"/>
                <a:gd name="T3" fmla="*/ 0 h 4430"/>
                <a:gd name="T4" fmla="*/ 0 w 3861"/>
                <a:gd name="T5" fmla="*/ 0 h 4430"/>
                <a:gd name="T6" fmla="*/ 0 w 3861"/>
                <a:gd name="T7" fmla="*/ 0 h 4430"/>
                <a:gd name="T8" fmla="*/ 0 w 3861"/>
                <a:gd name="T9" fmla="*/ 0 h 4430"/>
                <a:gd name="T10" fmla="*/ 0 w 3861"/>
                <a:gd name="T11" fmla="*/ 0 h 4430"/>
                <a:gd name="T12" fmla="*/ 0 w 3861"/>
                <a:gd name="T13" fmla="*/ 0 h 4430"/>
                <a:gd name="T14" fmla="*/ 0 w 3861"/>
                <a:gd name="T15" fmla="*/ 0 h 4430"/>
                <a:gd name="T16" fmla="*/ 0 w 3861"/>
                <a:gd name="T17" fmla="*/ 0 h 4430"/>
                <a:gd name="T18" fmla="*/ 0 w 3861"/>
                <a:gd name="T19" fmla="*/ 0 h 4430"/>
                <a:gd name="T20" fmla="*/ 0 w 3861"/>
                <a:gd name="T21" fmla="*/ 0 h 4430"/>
                <a:gd name="T22" fmla="*/ 0 w 3861"/>
                <a:gd name="T23" fmla="*/ 0 h 4430"/>
                <a:gd name="T24" fmla="*/ 0 w 3861"/>
                <a:gd name="T25" fmla="*/ 0 h 4430"/>
                <a:gd name="T26" fmla="*/ 0 w 3861"/>
                <a:gd name="T27" fmla="*/ 0 h 4430"/>
                <a:gd name="T28" fmla="*/ 0 w 3861"/>
                <a:gd name="T29" fmla="*/ 0 h 4430"/>
                <a:gd name="T30" fmla="*/ 0 w 3861"/>
                <a:gd name="T31" fmla="*/ 0 h 4430"/>
                <a:gd name="T32" fmla="*/ 0 w 3861"/>
                <a:gd name="T33" fmla="*/ 0 h 4430"/>
                <a:gd name="T34" fmla="*/ 0 w 3861"/>
                <a:gd name="T35" fmla="*/ 0 h 4430"/>
                <a:gd name="T36" fmla="*/ 0 w 3861"/>
                <a:gd name="T37" fmla="*/ 0 h 4430"/>
                <a:gd name="T38" fmla="*/ 0 w 3861"/>
                <a:gd name="T39" fmla="*/ 0 h 4430"/>
                <a:gd name="T40" fmla="*/ 0 w 3861"/>
                <a:gd name="T41" fmla="*/ 0 h 4430"/>
                <a:gd name="T42" fmla="*/ 0 w 3861"/>
                <a:gd name="T43" fmla="*/ 0 h 4430"/>
                <a:gd name="T44" fmla="*/ 0 w 3861"/>
                <a:gd name="T45" fmla="*/ 0 h 4430"/>
                <a:gd name="T46" fmla="*/ 0 w 3861"/>
                <a:gd name="T47" fmla="*/ 0 h 4430"/>
                <a:gd name="T48" fmla="*/ 0 w 3861"/>
                <a:gd name="T49" fmla="*/ 0 h 4430"/>
                <a:gd name="T50" fmla="*/ 0 w 3861"/>
                <a:gd name="T51" fmla="*/ 0 h 4430"/>
                <a:gd name="T52" fmla="*/ 0 w 3861"/>
                <a:gd name="T53" fmla="*/ 0 h 4430"/>
                <a:gd name="T54" fmla="*/ 0 w 3861"/>
                <a:gd name="T55" fmla="*/ 0 h 4430"/>
                <a:gd name="T56" fmla="*/ 0 w 3861"/>
                <a:gd name="T57" fmla="*/ 0 h 4430"/>
                <a:gd name="T58" fmla="*/ 0 w 3861"/>
                <a:gd name="T59" fmla="*/ 0 h 4430"/>
                <a:gd name="T60" fmla="*/ 0 w 3861"/>
                <a:gd name="T61" fmla="*/ 0 h 4430"/>
                <a:gd name="T62" fmla="*/ 0 w 3861"/>
                <a:gd name="T63" fmla="*/ 0 h 4430"/>
                <a:gd name="T64" fmla="*/ 0 w 3861"/>
                <a:gd name="T65" fmla="*/ 0 h 4430"/>
                <a:gd name="T66" fmla="*/ 0 w 3861"/>
                <a:gd name="T67" fmla="*/ 0 h 4430"/>
                <a:gd name="T68" fmla="*/ 0 w 3861"/>
                <a:gd name="T69" fmla="*/ 0 h 4430"/>
                <a:gd name="T70" fmla="*/ 0 w 3861"/>
                <a:gd name="T71" fmla="*/ 0 h 4430"/>
                <a:gd name="T72" fmla="*/ 0 w 3861"/>
                <a:gd name="T73" fmla="*/ 0 h 4430"/>
                <a:gd name="T74" fmla="*/ 0 w 3861"/>
                <a:gd name="T75" fmla="*/ 0 h 4430"/>
                <a:gd name="T76" fmla="*/ 0 w 3861"/>
                <a:gd name="T77" fmla="*/ 0 h 4430"/>
                <a:gd name="T78" fmla="*/ 0 w 3861"/>
                <a:gd name="T79" fmla="*/ 0 h 4430"/>
                <a:gd name="T80" fmla="*/ 0 w 3861"/>
                <a:gd name="T81" fmla="*/ 0 h 4430"/>
                <a:gd name="T82" fmla="*/ 0 w 3861"/>
                <a:gd name="T83" fmla="*/ 0 h 4430"/>
                <a:gd name="T84" fmla="*/ 0 w 3861"/>
                <a:gd name="T85" fmla="*/ 0 h 4430"/>
                <a:gd name="T86" fmla="*/ 0 w 3861"/>
                <a:gd name="T87" fmla="*/ 0 h 4430"/>
                <a:gd name="T88" fmla="*/ 0 w 3861"/>
                <a:gd name="T89" fmla="*/ 0 h 4430"/>
                <a:gd name="T90" fmla="*/ 0 w 3861"/>
                <a:gd name="T91" fmla="*/ 0 h 4430"/>
                <a:gd name="T92" fmla="*/ 0 w 3861"/>
                <a:gd name="T93" fmla="*/ 0 h 4430"/>
                <a:gd name="T94" fmla="*/ 0 w 3861"/>
                <a:gd name="T95" fmla="*/ 0 h 4430"/>
                <a:gd name="T96" fmla="*/ 0 w 3861"/>
                <a:gd name="T97" fmla="*/ 0 h 4430"/>
                <a:gd name="T98" fmla="*/ 0 w 3861"/>
                <a:gd name="T99" fmla="*/ 0 h 4430"/>
                <a:gd name="T100" fmla="*/ 0 w 3861"/>
                <a:gd name="T101" fmla="*/ 0 h 4430"/>
                <a:gd name="T102" fmla="*/ 0 w 3861"/>
                <a:gd name="T103" fmla="*/ 0 h 4430"/>
                <a:gd name="T104" fmla="*/ 0 w 3861"/>
                <a:gd name="T105" fmla="*/ 0 h 4430"/>
                <a:gd name="T106" fmla="*/ 0 w 3861"/>
                <a:gd name="T107" fmla="*/ 0 h 4430"/>
                <a:gd name="T108" fmla="*/ 0 w 3861"/>
                <a:gd name="T109" fmla="*/ 0 h 4430"/>
                <a:gd name="T110" fmla="*/ 0 w 3861"/>
                <a:gd name="T111" fmla="*/ 0 h 4430"/>
                <a:gd name="T112" fmla="*/ 0 w 3861"/>
                <a:gd name="T113" fmla="*/ 0 h 4430"/>
                <a:gd name="T114" fmla="*/ 0 w 3861"/>
                <a:gd name="T115" fmla="*/ 0 h 443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61"/>
                <a:gd name="T175" fmla="*/ 0 h 4430"/>
                <a:gd name="T176" fmla="*/ 3861 w 3861"/>
                <a:gd name="T177" fmla="*/ 4430 h 443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61" h="4430">
                  <a:moveTo>
                    <a:pt x="3861" y="702"/>
                  </a:moveTo>
                  <a:lnTo>
                    <a:pt x="3637" y="855"/>
                  </a:lnTo>
                  <a:lnTo>
                    <a:pt x="3421" y="1017"/>
                  </a:lnTo>
                  <a:lnTo>
                    <a:pt x="3219" y="1195"/>
                  </a:lnTo>
                  <a:lnTo>
                    <a:pt x="3023" y="1386"/>
                  </a:lnTo>
                  <a:lnTo>
                    <a:pt x="2841" y="1581"/>
                  </a:lnTo>
                  <a:lnTo>
                    <a:pt x="2673" y="1794"/>
                  </a:lnTo>
                  <a:lnTo>
                    <a:pt x="2517" y="2013"/>
                  </a:lnTo>
                  <a:lnTo>
                    <a:pt x="2369" y="2242"/>
                  </a:lnTo>
                  <a:lnTo>
                    <a:pt x="2241" y="2480"/>
                  </a:lnTo>
                  <a:lnTo>
                    <a:pt x="2128" y="2723"/>
                  </a:lnTo>
                  <a:lnTo>
                    <a:pt x="2024" y="2975"/>
                  </a:lnTo>
                  <a:lnTo>
                    <a:pt x="1939" y="3231"/>
                  </a:lnTo>
                  <a:lnTo>
                    <a:pt x="1868" y="3491"/>
                  </a:lnTo>
                  <a:lnTo>
                    <a:pt x="1809" y="3758"/>
                  </a:lnTo>
                  <a:lnTo>
                    <a:pt x="1769" y="4020"/>
                  </a:lnTo>
                  <a:lnTo>
                    <a:pt x="1753" y="4200"/>
                  </a:lnTo>
                  <a:lnTo>
                    <a:pt x="1753" y="4177"/>
                  </a:lnTo>
                  <a:lnTo>
                    <a:pt x="1753" y="4430"/>
                  </a:lnTo>
                  <a:lnTo>
                    <a:pt x="1052" y="4209"/>
                  </a:lnTo>
                  <a:lnTo>
                    <a:pt x="991" y="4058"/>
                  </a:lnTo>
                  <a:lnTo>
                    <a:pt x="924" y="3909"/>
                  </a:lnTo>
                  <a:lnTo>
                    <a:pt x="830" y="3777"/>
                  </a:lnTo>
                  <a:lnTo>
                    <a:pt x="736" y="3647"/>
                  </a:lnTo>
                  <a:lnTo>
                    <a:pt x="619" y="3529"/>
                  </a:lnTo>
                  <a:lnTo>
                    <a:pt x="497" y="3423"/>
                  </a:lnTo>
                  <a:lnTo>
                    <a:pt x="368" y="3328"/>
                  </a:lnTo>
                  <a:lnTo>
                    <a:pt x="224" y="3251"/>
                  </a:lnTo>
                  <a:lnTo>
                    <a:pt x="73" y="3182"/>
                  </a:lnTo>
                  <a:lnTo>
                    <a:pt x="0" y="3156"/>
                  </a:lnTo>
                  <a:lnTo>
                    <a:pt x="484" y="2594"/>
                  </a:lnTo>
                  <a:lnTo>
                    <a:pt x="623" y="2694"/>
                  </a:lnTo>
                  <a:lnTo>
                    <a:pt x="766" y="2823"/>
                  </a:lnTo>
                  <a:lnTo>
                    <a:pt x="901" y="2959"/>
                  </a:lnTo>
                  <a:lnTo>
                    <a:pt x="1015" y="3108"/>
                  </a:lnTo>
                  <a:lnTo>
                    <a:pt x="1124" y="3262"/>
                  </a:lnTo>
                  <a:lnTo>
                    <a:pt x="1218" y="3430"/>
                  </a:lnTo>
                  <a:lnTo>
                    <a:pt x="1296" y="3603"/>
                  </a:lnTo>
                  <a:lnTo>
                    <a:pt x="1360" y="3783"/>
                  </a:lnTo>
                  <a:lnTo>
                    <a:pt x="1365" y="3770"/>
                  </a:lnTo>
                  <a:lnTo>
                    <a:pt x="1406" y="3475"/>
                  </a:lnTo>
                  <a:lnTo>
                    <a:pt x="1462" y="3182"/>
                  </a:lnTo>
                  <a:lnTo>
                    <a:pt x="1536" y="2898"/>
                  </a:lnTo>
                  <a:lnTo>
                    <a:pt x="1624" y="2612"/>
                  </a:lnTo>
                  <a:lnTo>
                    <a:pt x="1728" y="2335"/>
                  </a:lnTo>
                  <a:lnTo>
                    <a:pt x="1845" y="2063"/>
                  </a:lnTo>
                  <a:lnTo>
                    <a:pt x="1980" y="1798"/>
                  </a:lnTo>
                  <a:lnTo>
                    <a:pt x="2128" y="1535"/>
                  </a:lnTo>
                  <a:lnTo>
                    <a:pt x="2284" y="1290"/>
                  </a:lnTo>
                  <a:lnTo>
                    <a:pt x="2462" y="1045"/>
                  </a:lnTo>
                  <a:lnTo>
                    <a:pt x="2648" y="816"/>
                  </a:lnTo>
                  <a:lnTo>
                    <a:pt x="2847" y="593"/>
                  </a:lnTo>
                  <a:lnTo>
                    <a:pt x="3056" y="384"/>
                  </a:lnTo>
                  <a:lnTo>
                    <a:pt x="3278" y="189"/>
                  </a:lnTo>
                  <a:lnTo>
                    <a:pt x="3510" y="0"/>
                  </a:lnTo>
                  <a:lnTo>
                    <a:pt x="3861" y="70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595" name="Freeform 19"/>
            <p:cNvSpPr/>
            <p:nvPr/>
          </p:nvSpPr>
          <p:spPr bwMode="auto">
            <a:xfrm>
              <a:off x="828" y="2640"/>
              <a:ext cx="772" cy="886"/>
            </a:xfrm>
            <a:custGeom>
              <a:avLst/>
              <a:gdLst>
                <a:gd name="T0" fmla="*/ 0 w 3859"/>
                <a:gd name="T1" fmla="*/ 0 h 4432"/>
                <a:gd name="T2" fmla="*/ 0 w 3859"/>
                <a:gd name="T3" fmla="*/ 0 h 4432"/>
                <a:gd name="T4" fmla="*/ 0 w 3859"/>
                <a:gd name="T5" fmla="*/ 0 h 4432"/>
                <a:gd name="T6" fmla="*/ 0 w 3859"/>
                <a:gd name="T7" fmla="*/ 0 h 4432"/>
                <a:gd name="T8" fmla="*/ 0 w 3859"/>
                <a:gd name="T9" fmla="*/ 0 h 4432"/>
                <a:gd name="T10" fmla="*/ 0 w 3859"/>
                <a:gd name="T11" fmla="*/ 0 h 4432"/>
                <a:gd name="T12" fmla="*/ 0 w 3859"/>
                <a:gd name="T13" fmla="*/ 0 h 4432"/>
                <a:gd name="T14" fmla="*/ 0 w 3859"/>
                <a:gd name="T15" fmla="*/ 0 h 4432"/>
                <a:gd name="T16" fmla="*/ 0 w 3859"/>
                <a:gd name="T17" fmla="*/ 0 h 4432"/>
                <a:gd name="T18" fmla="*/ 0 w 3859"/>
                <a:gd name="T19" fmla="*/ 0 h 4432"/>
                <a:gd name="T20" fmla="*/ 0 w 3859"/>
                <a:gd name="T21" fmla="*/ 0 h 4432"/>
                <a:gd name="T22" fmla="*/ 0 w 3859"/>
                <a:gd name="T23" fmla="*/ 0 h 4432"/>
                <a:gd name="T24" fmla="*/ 0 w 3859"/>
                <a:gd name="T25" fmla="*/ 0 h 4432"/>
                <a:gd name="T26" fmla="*/ 0 w 3859"/>
                <a:gd name="T27" fmla="*/ 0 h 4432"/>
                <a:gd name="T28" fmla="*/ 0 w 3859"/>
                <a:gd name="T29" fmla="*/ 0 h 4432"/>
                <a:gd name="T30" fmla="*/ 0 w 3859"/>
                <a:gd name="T31" fmla="*/ 0 h 4432"/>
                <a:gd name="T32" fmla="*/ 0 w 3859"/>
                <a:gd name="T33" fmla="*/ 0 h 4432"/>
                <a:gd name="T34" fmla="*/ 0 w 3859"/>
                <a:gd name="T35" fmla="*/ 0 h 4432"/>
                <a:gd name="T36" fmla="*/ 0 w 3859"/>
                <a:gd name="T37" fmla="*/ 0 h 4432"/>
                <a:gd name="T38" fmla="*/ 0 w 3859"/>
                <a:gd name="T39" fmla="*/ 0 h 4432"/>
                <a:gd name="T40" fmla="*/ 0 w 3859"/>
                <a:gd name="T41" fmla="*/ 0 h 4432"/>
                <a:gd name="T42" fmla="*/ 0 w 3859"/>
                <a:gd name="T43" fmla="*/ 0 h 4432"/>
                <a:gd name="T44" fmla="*/ 0 w 3859"/>
                <a:gd name="T45" fmla="*/ 0 h 4432"/>
                <a:gd name="T46" fmla="*/ 0 w 3859"/>
                <a:gd name="T47" fmla="*/ 0 h 4432"/>
                <a:gd name="T48" fmla="*/ 0 w 3859"/>
                <a:gd name="T49" fmla="*/ 0 h 4432"/>
                <a:gd name="T50" fmla="*/ 0 w 3859"/>
                <a:gd name="T51" fmla="*/ 0 h 4432"/>
                <a:gd name="T52" fmla="*/ 0 w 3859"/>
                <a:gd name="T53" fmla="*/ 0 h 4432"/>
                <a:gd name="T54" fmla="*/ 0 w 3859"/>
                <a:gd name="T55" fmla="*/ 0 h 4432"/>
                <a:gd name="T56" fmla="*/ 0 w 3859"/>
                <a:gd name="T57" fmla="*/ 0 h 4432"/>
                <a:gd name="T58" fmla="*/ 0 w 3859"/>
                <a:gd name="T59" fmla="*/ 0 h 4432"/>
                <a:gd name="T60" fmla="*/ 0 w 3859"/>
                <a:gd name="T61" fmla="*/ 0 h 4432"/>
                <a:gd name="T62" fmla="*/ 0 w 3859"/>
                <a:gd name="T63" fmla="*/ 0 h 4432"/>
                <a:gd name="T64" fmla="*/ 0 w 3859"/>
                <a:gd name="T65" fmla="*/ 0 h 4432"/>
                <a:gd name="T66" fmla="*/ 0 w 3859"/>
                <a:gd name="T67" fmla="*/ 0 h 4432"/>
                <a:gd name="T68" fmla="*/ 0 w 3859"/>
                <a:gd name="T69" fmla="*/ 0 h 4432"/>
                <a:gd name="T70" fmla="*/ 0 w 3859"/>
                <a:gd name="T71" fmla="*/ 0 h 4432"/>
                <a:gd name="T72" fmla="*/ 0 w 3859"/>
                <a:gd name="T73" fmla="*/ 0 h 4432"/>
                <a:gd name="T74" fmla="*/ 0 w 3859"/>
                <a:gd name="T75" fmla="*/ 0 h 4432"/>
                <a:gd name="T76" fmla="*/ 0 w 3859"/>
                <a:gd name="T77" fmla="*/ 0 h 4432"/>
                <a:gd name="T78" fmla="*/ 0 w 3859"/>
                <a:gd name="T79" fmla="*/ 0 h 4432"/>
                <a:gd name="T80" fmla="*/ 0 w 3859"/>
                <a:gd name="T81" fmla="*/ 0 h 4432"/>
                <a:gd name="T82" fmla="*/ 0 w 3859"/>
                <a:gd name="T83" fmla="*/ 0 h 4432"/>
                <a:gd name="T84" fmla="*/ 0 w 3859"/>
                <a:gd name="T85" fmla="*/ 0 h 4432"/>
                <a:gd name="T86" fmla="*/ 0 w 3859"/>
                <a:gd name="T87" fmla="*/ 0 h 4432"/>
                <a:gd name="T88" fmla="*/ 0 w 3859"/>
                <a:gd name="T89" fmla="*/ 0 h 4432"/>
                <a:gd name="T90" fmla="*/ 0 w 3859"/>
                <a:gd name="T91" fmla="*/ 0 h 4432"/>
                <a:gd name="T92" fmla="*/ 0 w 3859"/>
                <a:gd name="T93" fmla="*/ 0 h 4432"/>
                <a:gd name="T94" fmla="*/ 0 w 3859"/>
                <a:gd name="T95" fmla="*/ 0 h 4432"/>
                <a:gd name="T96" fmla="*/ 0 w 3859"/>
                <a:gd name="T97" fmla="*/ 0 h 4432"/>
                <a:gd name="T98" fmla="*/ 0 w 3859"/>
                <a:gd name="T99" fmla="*/ 0 h 4432"/>
                <a:gd name="T100" fmla="*/ 0 w 3859"/>
                <a:gd name="T101" fmla="*/ 0 h 4432"/>
                <a:gd name="T102" fmla="*/ 0 w 3859"/>
                <a:gd name="T103" fmla="*/ 0 h 4432"/>
                <a:gd name="T104" fmla="*/ 0 w 3859"/>
                <a:gd name="T105" fmla="*/ 0 h 4432"/>
                <a:gd name="T106" fmla="*/ 0 w 3859"/>
                <a:gd name="T107" fmla="*/ 0 h 4432"/>
                <a:gd name="T108" fmla="*/ 0 w 3859"/>
                <a:gd name="T109" fmla="*/ 0 h 4432"/>
                <a:gd name="T110" fmla="*/ 0 w 3859"/>
                <a:gd name="T111" fmla="*/ 0 h 4432"/>
                <a:gd name="T112" fmla="*/ 0 w 3859"/>
                <a:gd name="T113" fmla="*/ 0 h 4432"/>
                <a:gd name="T114" fmla="*/ 0 w 3859"/>
                <a:gd name="T115" fmla="*/ 0 h 443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859"/>
                <a:gd name="T175" fmla="*/ 0 h 4432"/>
                <a:gd name="T176" fmla="*/ 3859 w 3859"/>
                <a:gd name="T177" fmla="*/ 4432 h 443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859" h="4432">
                  <a:moveTo>
                    <a:pt x="3859" y="700"/>
                  </a:moveTo>
                  <a:lnTo>
                    <a:pt x="3634" y="856"/>
                  </a:lnTo>
                  <a:lnTo>
                    <a:pt x="3423" y="1017"/>
                  </a:lnTo>
                  <a:lnTo>
                    <a:pt x="3217" y="1195"/>
                  </a:lnTo>
                  <a:lnTo>
                    <a:pt x="3020" y="1384"/>
                  </a:lnTo>
                  <a:lnTo>
                    <a:pt x="2839" y="1585"/>
                  </a:lnTo>
                  <a:lnTo>
                    <a:pt x="2669" y="1795"/>
                  </a:lnTo>
                  <a:lnTo>
                    <a:pt x="2513" y="2016"/>
                  </a:lnTo>
                  <a:lnTo>
                    <a:pt x="2367" y="2246"/>
                  </a:lnTo>
                  <a:lnTo>
                    <a:pt x="2239" y="2481"/>
                  </a:lnTo>
                  <a:lnTo>
                    <a:pt x="2122" y="2728"/>
                  </a:lnTo>
                  <a:lnTo>
                    <a:pt x="2019" y="2977"/>
                  </a:lnTo>
                  <a:lnTo>
                    <a:pt x="1933" y="3233"/>
                  </a:lnTo>
                  <a:lnTo>
                    <a:pt x="1863" y="3494"/>
                  </a:lnTo>
                  <a:lnTo>
                    <a:pt x="1808" y="3758"/>
                  </a:lnTo>
                  <a:lnTo>
                    <a:pt x="1767" y="4026"/>
                  </a:lnTo>
                  <a:lnTo>
                    <a:pt x="1752" y="4201"/>
                  </a:lnTo>
                  <a:lnTo>
                    <a:pt x="1752" y="4181"/>
                  </a:lnTo>
                  <a:lnTo>
                    <a:pt x="1752" y="4432"/>
                  </a:lnTo>
                  <a:lnTo>
                    <a:pt x="1048" y="4210"/>
                  </a:lnTo>
                  <a:lnTo>
                    <a:pt x="993" y="4060"/>
                  </a:lnTo>
                  <a:lnTo>
                    <a:pt x="915" y="3914"/>
                  </a:lnTo>
                  <a:lnTo>
                    <a:pt x="829" y="3778"/>
                  </a:lnTo>
                  <a:lnTo>
                    <a:pt x="731" y="3649"/>
                  </a:lnTo>
                  <a:lnTo>
                    <a:pt x="614" y="3534"/>
                  </a:lnTo>
                  <a:lnTo>
                    <a:pt x="495" y="3424"/>
                  </a:lnTo>
                  <a:lnTo>
                    <a:pt x="363" y="3331"/>
                  </a:lnTo>
                  <a:lnTo>
                    <a:pt x="220" y="3251"/>
                  </a:lnTo>
                  <a:lnTo>
                    <a:pt x="72" y="3183"/>
                  </a:lnTo>
                  <a:lnTo>
                    <a:pt x="0" y="3157"/>
                  </a:lnTo>
                  <a:lnTo>
                    <a:pt x="481" y="2597"/>
                  </a:lnTo>
                  <a:lnTo>
                    <a:pt x="618" y="2701"/>
                  </a:lnTo>
                  <a:lnTo>
                    <a:pt x="759" y="2828"/>
                  </a:lnTo>
                  <a:lnTo>
                    <a:pt x="895" y="2962"/>
                  </a:lnTo>
                  <a:lnTo>
                    <a:pt x="1015" y="3111"/>
                  </a:lnTo>
                  <a:lnTo>
                    <a:pt x="1121" y="3267"/>
                  </a:lnTo>
                  <a:lnTo>
                    <a:pt x="1211" y="3432"/>
                  </a:lnTo>
                  <a:lnTo>
                    <a:pt x="1290" y="3604"/>
                  </a:lnTo>
                  <a:lnTo>
                    <a:pt x="1356" y="3784"/>
                  </a:lnTo>
                  <a:lnTo>
                    <a:pt x="1358" y="3770"/>
                  </a:lnTo>
                  <a:lnTo>
                    <a:pt x="1402" y="3479"/>
                  </a:lnTo>
                  <a:lnTo>
                    <a:pt x="1459" y="3183"/>
                  </a:lnTo>
                  <a:lnTo>
                    <a:pt x="1531" y="2900"/>
                  </a:lnTo>
                  <a:lnTo>
                    <a:pt x="1619" y="2614"/>
                  </a:lnTo>
                  <a:lnTo>
                    <a:pt x="1726" y="2336"/>
                  </a:lnTo>
                  <a:lnTo>
                    <a:pt x="1843" y="2067"/>
                  </a:lnTo>
                  <a:lnTo>
                    <a:pt x="1973" y="1799"/>
                  </a:lnTo>
                  <a:lnTo>
                    <a:pt x="2122" y="1540"/>
                  </a:lnTo>
                  <a:lnTo>
                    <a:pt x="2283" y="1291"/>
                  </a:lnTo>
                  <a:lnTo>
                    <a:pt x="2457" y="1049"/>
                  </a:lnTo>
                  <a:lnTo>
                    <a:pt x="2646" y="820"/>
                  </a:lnTo>
                  <a:lnTo>
                    <a:pt x="2844" y="594"/>
                  </a:lnTo>
                  <a:lnTo>
                    <a:pt x="3051" y="388"/>
                  </a:lnTo>
                  <a:lnTo>
                    <a:pt x="3275" y="189"/>
                  </a:lnTo>
                  <a:lnTo>
                    <a:pt x="3507" y="0"/>
                  </a:lnTo>
                  <a:lnTo>
                    <a:pt x="3859" y="700"/>
                  </a:lnTo>
                  <a:close/>
                </a:path>
              </a:pathLst>
            </a:custGeom>
            <a:solidFill>
              <a:srgbClr val="00FF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4" name="Group 32"/>
          <p:cNvGrpSpPr/>
          <p:nvPr/>
        </p:nvGrpSpPr>
        <p:grpSpPr bwMode="auto">
          <a:xfrm>
            <a:off x="8048221" y="4752285"/>
            <a:ext cx="150032" cy="537615"/>
            <a:chOff x="5280" y="3312"/>
            <a:chExt cx="120" cy="430"/>
          </a:xfrm>
        </p:grpSpPr>
        <p:sp>
          <p:nvSpPr>
            <p:cNvPr id="24590" name="Freeform 27"/>
            <p:cNvSpPr/>
            <p:nvPr/>
          </p:nvSpPr>
          <p:spPr bwMode="auto">
            <a:xfrm>
              <a:off x="5299" y="3641"/>
              <a:ext cx="100" cy="101"/>
            </a:xfrm>
            <a:custGeom>
              <a:avLst/>
              <a:gdLst>
                <a:gd name="T0" fmla="*/ 0 w 908"/>
                <a:gd name="T1" fmla="*/ 0 h 904"/>
                <a:gd name="T2" fmla="*/ 0 w 908"/>
                <a:gd name="T3" fmla="*/ 0 h 904"/>
                <a:gd name="T4" fmla="*/ 0 w 908"/>
                <a:gd name="T5" fmla="*/ 0 h 904"/>
                <a:gd name="T6" fmla="*/ 0 w 908"/>
                <a:gd name="T7" fmla="*/ 0 h 904"/>
                <a:gd name="T8" fmla="*/ 0 w 908"/>
                <a:gd name="T9" fmla="*/ 0 h 904"/>
                <a:gd name="T10" fmla="*/ 0 w 908"/>
                <a:gd name="T11" fmla="*/ 0 h 904"/>
                <a:gd name="T12" fmla="*/ 0 w 908"/>
                <a:gd name="T13" fmla="*/ 0 h 904"/>
                <a:gd name="T14" fmla="*/ 0 w 908"/>
                <a:gd name="T15" fmla="*/ 0 h 904"/>
                <a:gd name="T16" fmla="*/ 0 w 908"/>
                <a:gd name="T17" fmla="*/ 0 h 904"/>
                <a:gd name="T18" fmla="*/ 0 w 908"/>
                <a:gd name="T19" fmla="*/ 0 h 904"/>
                <a:gd name="T20" fmla="*/ 0 w 908"/>
                <a:gd name="T21" fmla="*/ 0 h 904"/>
                <a:gd name="T22" fmla="*/ 0 w 908"/>
                <a:gd name="T23" fmla="*/ 0 h 904"/>
                <a:gd name="T24" fmla="*/ 0 w 908"/>
                <a:gd name="T25" fmla="*/ 0 h 904"/>
                <a:gd name="T26" fmla="*/ 0 w 908"/>
                <a:gd name="T27" fmla="*/ 0 h 904"/>
                <a:gd name="T28" fmla="*/ 0 w 908"/>
                <a:gd name="T29" fmla="*/ 0 h 904"/>
                <a:gd name="T30" fmla="*/ 0 w 908"/>
                <a:gd name="T31" fmla="*/ 0 h 904"/>
                <a:gd name="T32" fmla="*/ 0 w 908"/>
                <a:gd name="T33" fmla="*/ 0 h 904"/>
                <a:gd name="T34" fmla="*/ 0 w 908"/>
                <a:gd name="T35" fmla="*/ 0 h 904"/>
                <a:gd name="T36" fmla="*/ 0 w 908"/>
                <a:gd name="T37" fmla="*/ 0 h 904"/>
                <a:gd name="T38" fmla="*/ 0 w 908"/>
                <a:gd name="T39" fmla="*/ 0 h 904"/>
                <a:gd name="T40" fmla="*/ 0 w 908"/>
                <a:gd name="T41" fmla="*/ 0 h 904"/>
                <a:gd name="T42" fmla="*/ 0 w 908"/>
                <a:gd name="T43" fmla="*/ 0 h 904"/>
                <a:gd name="T44" fmla="*/ 0 w 908"/>
                <a:gd name="T45" fmla="*/ 0 h 904"/>
                <a:gd name="T46" fmla="*/ 0 w 908"/>
                <a:gd name="T47" fmla="*/ 0 h 904"/>
                <a:gd name="T48" fmla="*/ 0 w 908"/>
                <a:gd name="T49" fmla="*/ 0 h 904"/>
                <a:gd name="T50" fmla="*/ 0 w 908"/>
                <a:gd name="T51" fmla="*/ 0 h 904"/>
                <a:gd name="T52" fmla="*/ 0 w 908"/>
                <a:gd name="T53" fmla="*/ 0 h 904"/>
                <a:gd name="T54" fmla="*/ 0 w 908"/>
                <a:gd name="T55" fmla="*/ 0 h 904"/>
                <a:gd name="T56" fmla="*/ 0 w 908"/>
                <a:gd name="T57" fmla="*/ 0 h 904"/>
                <a:gd name="T58" fmla="*/ 0 w 908"/>
                <a:gd name="T59" fmla="*/ 0 h 904"/>
                <a:gd name="T60" fmla="*/ 0 w 908"/>
                <a:gd name="T61" fmla="*/ 0 h 904"/>
                <a:gd name="T62" fmla="*/ 0 w 908"/>
                <a:gd name="T63" fmla="*/ 0 h 904"/>
                <a:gd name="T64" fmla="*/ 0 w 908"/>
                <a:gd name="T65" fmla="*/ 0 h 904"/>
                <a:gd name="T66" fmla="*/ 0 w 908"/>
                <a:gd name="T67" fmla="*/ 0 h 904"/>
                <a:gd name="T68" fmla="*/ 0 w 908"/>
                <a:gd name="T69" fmla="*/ 0 h 904"/>
                <a:gd name="T70" fmla="*/ 0 w 908"/>
                <a:gd name="T71" fmla="*/ 0 h 904"/>
                <a:gd name="T72" fmla="*/ 0 w 908"/>
                <a:gd name="T73" fmla="*/ 0 h 904"/>
                <a:gd name="T74" fmla="*/ 0 w 908"/>
                <a:gd name="T75" fmla="*/ 0 h 904"/>
                <a:gd name="T76" fmla="*/ 0 w 908"/>
                <a:gd name="T77" fmla="*/ 0 h 904"/>
                <a:gd name="T78" fmla="*/ 0 w 908"/>
                <a:gd name="T79" fmla="*/ 0 h 904"/>
                <a:gd name="T80" fmla="*/ 0 w 908"/>
                <a:gd name="T81" fmla="*/ 0 h 904"/>
                <a:gd name="T82" fmla="*/ 0 w 908"/>
                <a:gd name="T83" fmla="*/ 0 h 904"/>
                <a:gd name="T84" fmla="*/ 0 w 908"/>
                <a:gd name="T85" fmla="*/ 0 h 904"/>
                <a:gd name="T86" fmla="*/ 0 w 908"/>
                <a:gd name="T87" fmla="*/ 0 h 904"/>
                <a:gd name="T88" fmla="*/ 0 w 908"/>
                <a:gd name="T89" fmla="*/ 0 h 904"/>
                <a:gd name="T90" fmla="*/ 0 w 908"/>
                <a:gd name="T91" fmla="*/ 0 h 904"/>
                <a:gd name="T92" fmla="*/ 0 w 908"/>
                <a:gd name="T93" fmla="*/ 0 h 904"/>
                <a:gd name="T94" fmla="*/ 0 w 908"/>
                <a:gd name="T95" fmla="*/ 0 h 904"/>
                <a:gd name="T96" fmla="*/ 0 w 908"/>
                <a:gd name="T97" fmla="*/ 0 h 904"/>
                <a:gd name="T98" fmla="*/ 0 w 908"/>
                <a:gd name="T99" fmla="*/ 0 h 904"/>
                <a:gd name="T100" fmla="*/ 0 w 908"/>
                <a:gd name="T101" fmla="*/ 0 h 904"/>
                <a:gd name="T102" fmla="*/ 0 w 908"/>
                <a:gd name="T103" fmla="*/ 0 h 90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908"/>
                <a:gd name="T157" fmla="*/ 0 h 904"/>
                <a:gd name="T158" fmla="*/ 908 w 908"/>
                <a:gd name="T159" fmla="*/ 904 h 90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908" h="904">
                  <a:moveTo>
                    <a:pt x="908" y="454"/>
                  </a:moveTo>
                  <a:lnTo>
                    <a:pt x="903" y="397"/>
                  </a:lnTo>
                  <a:lnTo>
                    <a:pt x="893" y="343"/>
                  </a:lnTo>
                  <a:lnTo>
                    <a:pt x="876" y="289"/>
                  </a:lnTo>
                  <a:lnTo>
                    <a:pt x="854" y="238"/>
                  </a:lnTo>
                  <a:lnTo>
                    <a:pt x="823" y="191"/>
                  </a:lnTo>
                  <a:lnTo>
                    <a:pt x="789" y="147"/>
                  </a:lnTo>
                  <a:lnTo>
                    <a:pt x="746" y="109"/>
                  </a:lnTo>
                  <a:lnTo>
                    <a:pt x="702" y="74"/>
                  </a:lnTo>
                  <a:lnTo>
                    <a:pt x="652" y="46"/>
                  </a:lnTo>
                  <a:lnTo>
                    <a:pt x="601" y="24"/>
                  </a:lnTo>
                  <a:lnTo>
                    <a:pt x="548" y="8"/>
                  </a:lnTo>
                  <a:lnTo>
                    <a:pt x="492" y="2"/>
                  </a:lnTo>
                  <a:lnTo>
                    <a:pt x="435" y="0"/>
                  </a:lnTo>
                  <a:lnTo>
                    <a:pt x="382" y="7"/>
                  </a:lnTo>
                  <a:lnTo>
                    <a:pt x="326" y="18"/>
                  </a:lnTo>
                  <a:lnTo>
                    <a:pt x="273" y="38"/>
                  </a:lnTo>
                  <a:lnTo>
                    <a:pt x="223" y="63"/>
                  </a:lnTo>
                  <a:lnTo>
                    <a:pt x="175" y="96"/>
                  </a:lnTo>
                  <a:lnTo>
                    <a:pt x="134" y="132"/>
                  </a:lnTo>
                  <a:lnTo>
                    <a:pt x="98" y="174"/>
                  </a:lnTo>
                  <a:lnTo>
                    <a:pt x="65" y="220"/>
                  </a:lnTo>
                  <a:lnTo>
                    <a:pt x="39" y="268"/>
                  </a:lnTo>
                  <a:lnTo>
                    <a:pt x="18" y="322"/>
                  </a:lnTo>
                  <a:lnTo>
                    <a:pt x="7" y="376"/>
                  </a:lnTo>
                  <a:lnTo>
                    <a:pt x="0" y="435"/>
                  </a:lnTo>
                  <a:lnTo>
                    <a:pt x="2" y="487"/>
                  </a:lnTo>
                  <a:lnTo>
                    <a:pt x="10" y="542"/>
                  </a:lnTo>
                  <a:lnTo>
                    <a:pt x="24" y="598"/>
                  </a:lnTo>
                  <a:lnTo>
                    <a:pt x="46" y="650"/>
                  </a:lnTo>
                  <a:lnTo>
                    <a:pt x="72" y="698"/>
                  </a:lnTo>
                  <a:lnTo>
                    <a:pt x="104" y="745"/>
                  </a:lnTo>
                  <a:lnTo>
                    <a:pt x="145" y="783"/>
                  </a:lnTo>
                  <a:lnTo>
                    <a:pt x="187" y="821"/>
                  </a:lnTo>
                  <a:lnTo>
                    <a:pt x="235" y="850"/>
                  </a:lnTo>
                  <a:lnTo>
                    <a:pt x="285" y="873"/>
                  </a:lnTo>
                  <a:lnTo>
                    <a:pt x="339" y="891"/>
                  </a:lnTo>
                  <a:lnTo>
                    <a:pt x="396" y="901"/>
                  </a:lnTo>
                  <a:lnTo>
                    <a:pt x="451" y="904"/>
                  </a:lnTo>
                  <a:lnTo>
                    <a:pt x="507" y="903"/>
                  </a:lnTo>
                  <a:lnTo>
                    <a:pt x="560" y="891"/>
                  </a:lnTo>
                  <a:lnTo>
                    <a:pt x="613" y="877"/>
                  </a:lnTo>
                  <a:lnTo>
                    <a:pt x="666" y="855"/>
                  </a:lnTo>
                  <a:lnTo>
                    <a:pt x="714" y="823"/>
                  </a:lnTo>
                  <a:lnTo>
                    <a:pt x="759" y="791"/>
                  </a:lnTo>
                  <a:lnTo>
                    <a:pt x="798" y="750"/>
                  </a:lnTo>
                  <a:lnTo>
                    <a:pt x="831" y="703"/>
                  </a:lnTo>
                  <a:lnTo>
                    <a:pt x="859" y="657"/>
                  </a:lnTo>
                  <a:lnTo>
                    <a:pt x="882" y="604"/>
                  </a:lnTo>
                  <a:lnTo>
                    <a:pt x="899" y="551"/>
                  </a:lnTo>
                  <a:lnTo>
                    <a:pt x="906" y="495"/>
                  </a:lnTo>
                  <a:lnTo>
                    <a:pt x="908" y="45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591" name="Freeform 28"/>
            <p:cNvSpPr/>
            <p:nvPr/>
          </p:nvSpPr>
          <p:spPr bwMode="auto">
            <a:xfrm>
              <a:off x="5297" y="3335"/>
              <a:ext cx="103" cy="280"/>
            </a:xfrm>
            <a:custGeom>
              <a:avLst/>
              <a:gdLst>
                <a:gd name="T0" fmla="*/ 0 w 924"/>
                <a:gd name="T1" fmla="*/ 0 h 2519"/>
                <a:gd name="T2" fmla="*/ 0 w 924"/>
                <a:gd name="T3" fmla="*/ 0 h 2519"/>
                <a:gd name="T4" fmla="*/ 0 w 924"/>
                <a:gd name="T5" fmla="*/ 0 h 2519"/>
                <a:gd name="T6" fmla="*/ 0 w 924"/>
                <a:gd name="T7" fmla="*/ 0 h 2519"/>
                <a:gd name="T8" fmla="*/ 0 w 924"/>
                <a:gd name="T9" fmla="*/ 0 h 2519"/>
                <a:gd name="T10" fmla="*/ 0 w 924"/>
                <a:gd name="T11" fmla="*/ 0 h 2519"/>
                <a:gd name="T12" fmla="*/ 0 w 924"/>
                <a:gd name="T13" fmla="*/ 0 h 2519"/>
                <a:gd name="T14" fmla="*/ 0 w 924"/>
                <a:gd name="T15" fmla="*/ 0 h 2519"/>
                <a:gd name="T16" fmla="*/ 0 w 924"/>
                <a:gd name="T17" fmla="*/ 0 h 2519"/>
                <a:gd name="T18" fmla="*/ 0 w 924"/>
                <a:gd name="T19" fmla="*/ 0 h 2519"/>
                <a:gd name="T20" fmla="*/ 0 w 924"/>
                <a:gd name="T21" fmla="*/ 0 h 2519"/>
                <a:gd name="T22" fmla="*/ 0 w 924"/>
                <a:gd name="T23" fmla="*/ 0 h 2519"/>
                <a:gd name="T24" fmla="*/ 0 w 924"/>
                <a:gd name="T25" fmla="*/ 0 h 2519"/>
                <a:gd name="T26" fmla="*/ 0 w 924"/>
                <a:gd name="T27" fmla="*/ 0 h 2519"/>
                <a:gd name="T28" fmla="*/ 0 w 924"/>
                <a:gd name="T29" fmla="*/ 0 h 2519"/>
                <a:gd name="T30" fmla="*/ 0 w 924"/>
                <a:gd name="T31" fmla="*/ 0 h 2519"/>
                <a:gd name="T32" fmla="*/ 0 w 924"/>
                <a:gd name="T33" fmla="*/ 0 h 2519"/>
                <a:gd name="T34" fmla="*/ 0 w 924"/>
                <a:gd name="T35" fmla="*/ 0 h 2519"/>
                <a:gd name="T36" fmla="*/ 0 w 924"/>
                <a:gd name="T37" fmla="*/ 0 h 2519"/>
                <a:gd name="T38" fmla="*/ 0 w 924"/>
                <a:gd name="T39" fmla="*/ 0 h 2519"/>
                <a:gd name="T40" fmla="*/ 0 w 924"/>
                <a:gd name="T41" fmla="*/ 0 h 2519"/>
                <a:gd name="T42" fmla="*/ 0 w 924"/>
                <a:gd name="T43" fmla="*/ 0 h 2519"/>
                <a:gd name="T44" fmla="*/ 0 w 924"/>
                <a:gd name="T45" fmla="*/ 0 h 2519"/>
                <a:gd name="T46" fmla="*/ 0 w 924"/>
                <a:gd name="T47" fmla="*/ 0 h 2519"/>
                <a:gd name="T48" fmla="*/ 0 w 924"/>
                <a:gd name="T49" fmla="*/ 0 h 2519"/>
                <a:gd name="T50" fmla="*/ 0 w 924"/>
                <a:gd name="T51" fmla="*/ 0 h 2519"/>
                <a:gd name="T52" fmla="*/ 0 w 924"/>
                <a:gd name="T53" fmla="*/ 0 h 2519"/>
                <a:gd name="T54" fmla="*/ 0 w 924"/>
                <a:gd name="T55" fmla="*/ 0 h 2519"/>
                <a:gd name="T56" fmla="*/ 0 w 924"/>
                <a:gd name="T57" fmla="*/ 0 h 2519"/>
                <a:gd name="T58" fmla="*/ 0 w 924"/>
                <a:gd name="T59" fmla="*/ 0 h 2519"/>
                <a:gd name="T60" fmla="*/ 0 w 924"/>
                <a:gd name="T61" fmla="*/ 0 h 2519"/>
                <a:gd name="T62" fmla="*/ 0 w 924"/>
                <a:gd name="T63" fmla="*/ 0 h 2519"/>
                <a:gd name="T64" fmla="*/ 0 w 924"/>
                <a:gd name="T65" fmla="*/ 0 h 2519"/>
                <a:gd name="T66" fmla="*/ 0 w 924"/>
                <a:gd name="T67" fmla="*/ 0 h 2519"/>
                <a:gd name="T68" fmla="*/ 0 w 924"/>
                <a:gd name="T69" fmla="*/ 0 h 2519"/>
                <a:gd name="T70" fmla="*/ 0 w 924"/>
                <a:gd name="T71" fmla="*/ 0 h 2519"/>
                <a:gd name="T72" fmla="*/ 0 w 924"/>
                <a:gd name="T73" fmla="*/ 0 h 2519"/>
                <a:gd name="T74" fmla="*/ 0 w 924"/>
                <a:gd name="T75" fmla="*/ 0 h 2519"/>
                <a:gd name="T76" fmla="*/ 0 w 924"/>
                <a:gd name="T77" fmla="*/ 0 h 2519"/>
                <a:gd name="T78" fmla="*/ 0 w 924"/>
                <a:gd name="T79" fmla="*/ 0 h 2519"/>
                <a:gd name="T80" fmla="*/ 0 w 924"/>
                <a:gd name="T81" fmla="*/ 0 h 2519"/>
                <a:gd name="T82" fmla="*/ 0 w 924"/>
                <a:gd name="T83" fmla="*/ 0 h 2519"/>
                <a:gd name="T84" fmla="*/ 0 w 924"/>
                <a:gd name="T85" fmla="*/ 0 h 2519"/>
                <a:gd name="T86" fmla="*/ 0 w 924"/>
                <a:gd name="T87" fmla="*/ 0 h 2519"/>
                <a:gd name="T88" fmla="*/ 0 w 924"/>
                <a:gd name="T89" fmla="*/ 0 h 2519"/>
                <a:gd name="T90" fmla="*/ 0 w 924"/>
                <a:gd name="T91" fmla="*/ 0 h 2519"/>
                <a:gd name="T92" fmla="*/ 0 w 924"/>
                <a:gd name="T93" fmla="*/ 0 h 2519"/>
                <a:gd name="T94" fmla="*/ 0 w 924"/>
                <a:gd name="T95" fmla="*/ 0 h 2519"/>
                <a:gd name="T96" fmla="*/ 0 w 924"/>
                <a:gd name="T97" fmla="*/ 0 h 2519"/>
                <a:gd name="T98" fmla="*/ 0 w 924"/>
                <a:gd name="T99" fmla="*/ 0 h 2519"/>
                <a:gd name="T100" fmla="*/ 0 w 924"/>
                <a:gd name="T101" fmla="*/ 0 h 2519"/>
                <a:gd name="T102" fmla="*/ 0 w 924"/>
                <a:gd name="T103" fmla="*/ 0 h 2519"/>
                <a:gd name="T104" fmla="*/ 0 w 924"/>
                <a:gd name="T105" fmla="*/ 0 h 2519"/>
                <a:gd name="T106" fmla="*/ 0 w 924"/>
                <a:gd name="T107" fmla="*/ 0 h 2519"/>
                <a:gd name="T108" fmla="*/ 0 w 924"/>
                <a:gd name="T109" fmla="*/ 0 h 2519"/>
                <a:gd name="T110" fmla="*/ 0 w 924"/>
                <a:gd name="T111" fmla="*/ 0 h 2519"/>
                <a:gd name="T112" fmla="*/ 0 w 924"/>
                <a:gd name="T113" fmla="*/ 0 h 2519"/>
                <a:gd name="T114" fmla="*/ 0 w 924"/>
                <a:gd name="T115" fmla="*/ 0 h 2519"/>
                <a:gd name="T116" fmla="*/ 0 w 924"/>
                <a:gd name="T117" fmla="*/ 0 h 2519"/>
                <a:gd name="T118" fmla="*/ 0 w 924"/>
                <a:gd name="T119" fmla="*/ 0 h 2519"/>
                <a:gd name="T120" fmla="*/ 0 w 924"/>
                <a:gd name="T121" fmla="*/ 0 h 2519"/>
                <a:gd name="T122" fmla="*/ 0 w 924"/>
                <a:gd name="T123" fmla="*/ 0 h 251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924"/>
                <a:gd name="T187" fmla="*/ 0 h 2519"/>
                <a:gd name="T188" fmla="*/ 924 w 924"/>
                <a:gd name="T189" fmla="*/ 2519 h 2519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924" h="2519">
                  <a:moveTo>
                    <a:pt x="23" y="381"/>
                  </a:moveTo>
                  <a:lnTo>
                    <a:pt x="26" y="372"/>
                  </a:lnTo>
                  <a:lnTo>
                    <a:pt x="36" y="318"/>
                  </a:lnTo>
                  <a:lnTo>
                    <a:pt x="55" y="271"/>
                  </a:lnTo>
                  <a:lnTo>
                    <a:pt x="80" y="221"/>
                  </a:lnTo>
                  <a:lnTo>
                    <a:pt x="111" y="174"/>
                  </a:lnTo>
                  <a:lnTo>
                    <a:pt x="148" y="132"/>
                  </a:lnTo>
                  <a:lnTo>
                    <a:pt x="188" y="94"/>
                  </a:lnTo>
                  <a:lnTo>
                    <a:pt x="235" y="63"/>
                  </a:lnTo>
                  <a:lnTo>
                    <a:pt x="285" y="38"/>
                  </a:lnTo>
                  <a:lnTo>
                    <a:pt x="336" y="19"/>
                  </a:lnTo>
                  <a:lnTo>
                    <a:pt x="394" y="4"/>
                  </a:lnTo>
                  <a:lnTo>
                    <a:pt x="447" y="0"/>
                  </a:lnTo>
                  <a:lnTo>
                    <a:pt x="503" y="3"/>
                  </a:lnTo>
                  <a:lnTo>
                    <a:pt x="559" y="9"/>
                  </a:lnTo>
                  <a:lnTo>
                    <a:pt x="611" y="26"/>
                  </a:lnTo>
                  <a:lnTo>
                    <a:pt x="661" y="48"/>
                  </a:lnTo>
                  <a:lnTo>
                    <a:pt x="711" y="75"/>
                  </a:lnTo>
                  <a:lnTo>
                    <a:pt x="755" y="109"/>
                  </a:lnTo>
                  <a:lnTo>
                    <a:pt x="794" y="147"/>
                  </a:lnTo>
                  <a:lnTo>
                    <a:pt x="829" y="192"/>
                  </a:lnTo>
                  <a:lnTo>
                    <a:pt x="858" y="238"/>
                  </a:lnTo>
                  <a:lnTo>
                    <a:pt x="878" y="289"/>
                  </a:lnTo>
                  <a:lnTo>
                    <a:pt x="897" y="342"/>
                  </a:lnTo>
                  <a:lnTo>
                    <a:pt x="905" y="395"/>
                  </a:lnTo>
                  <a:lnTo>
                    <a:pt x="918" y="453"/>
                  </a:lnTo>
                  <a:lnTo>
                    <a:pt x="920" y="531"/>
                  </a:lnTo>
                  <a:lnTo>
                    <a:pt x="924" y="668"/>
                  </a:lnTo>
                  <a:lnTo>
                    <a:pt x="921" y="804"/>
                  </a:lnTo>
                  <a:lnTo>
                    <a:pt x="915" y="939"/>
                  </a:lnTo>
                  <a:lnTo>
                    <a:pt x="905" y="1075"/>
                  </a:lnTo>
                  <a:lnTo>
                    <a:pt x="890" y="1208"/>
                  </a:lnTo>
                  <a:lnTo>
                    <a:pt x="872" y="1340"/>
                  </a:lnTo>
                  <a:lnTo>
                    <a:pt x="849" y="1473"/>
                  </a:lnTo>
                  <a:lnTo>
                    <a:pt x="821" y="1601"/>
                  </a:lnTo>
                  <a:lnTo>
                    <a:pt x="793" y="1726"/>
                  </a:lnTo>
                  <a:lnTo>
                    <a:pt x="755" y="1850"/>
                  </a:lnTo>
                  <a:lnTo>
                    <a:pt x="718" y="1971"/>
                  </a:lnTo>
                  <a:lnTo>
                    <a:pt x="671" y="2088"/>
                  </a:lnTo>
                  <a:lnTo>
                    <a:pt x="625" y="2203"/>
                  </a:lnTo>
                  <a:lnTo>
                    <a:pt x="574" y="2311"/>
                  </a:lnTo>
                  <a:lnTo>
                    <a:pt x="523" y="2419"/>
                  </a:lnTo>
                  <a:lnTo>
                    <a:pt x="465" y="2519"/>
                  </a:lnTo>
                  <a:lnTo>
                    <a:pt x="462" y="2519"/>
                  </a:lnTo>
                  <a:lnTo>
                    <a:pt x="426" y="2460"/>
                  </a:lnTo>
                  <a:lnTo>
                    <a:pt x="371" y="2356"/>
                  </a:lnTo>
                  <a:lnTo>
                    <a:pt x="319" y="2247"/>
                  </a:lnTo>
                  <a:lnTo>
                    <a:pt x="270" y="2137"/>
                  </a:lnTo>
                  <a:lnTo>
                    <a:pt x="224" y="2020"/>
                  </a:lnTo>
                  <a:lnTo>
                    <a:pt x="184" y="1900"/>
                  </a:lnTo>
                  <a:lnTo>
                    <a:pt x="148" y="1781"/>
                  </a:lnTo>
                  <a:lnTo>
                    <a:pt x="115" y="1653"/>
                  </a:lnTo>
                  <a:lnTo>
                    <a:pt x="87" y="1525"/>
                  </a:lnTo>
                  <a:lnTo>
                    <a:pt x="61" y="1395"/>
                  </a:lnTo>
                  <a:lnTo>
                    <a:pt x="41" y="1262"/>
                  </a:lnTo>
                  <a:lnTo>
                    <a:pt x="23" y="1130"/>
                  </a:lnTo>
                  <a:lnTo>
                    <a:pt x="12" y="997"/>
                  </a:lnTo>
                  <a:lnTo>
                    <a:pt x="4" y="861"/>
                  </a:lnTo>
                  <a:lnTo>
                    <a:pt x="0" y="726"/>
                  </a:lnTo>
                  <a:lnTo>
                    <a:pt x="1" y="588"/>
                  </a:lnTo>
                  <a:lnTo>
                    <a:pt x="7" y="453"/>
                  </a:lnTo>
                  <a:lnTo>
                    <a:pt x="23" y="38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592" name="Freeform 29"/>
            <p:cNvSpPr/>
            <p:nvPr/>
          </p:nvSpPr>
          <p:spPr bwMode="auto">
            <a:xfrm>
              <a:off x="5281" y="3619"/>
              <a:ext cx="101" cy="100"/>
            </a:xfrm>
            <a:custGeom>
              <a:avLst/>
              <a:gdLst>
                <a:gd name="T0" fmla="*/ 0 w 908"/>
                <a:gd name="T1" fmla="*/ 0 h 904"/>
                <a:gd name="T2" fmla="*/ 0 w 908"/>
                <a:gd name="T3" fmla="*/ 0 h 904"/>
                <a:gd name="T4" fmla="*/ 0 w 908"/>
                <a:gd name="T5" fmla="*/ 0 h 904"/>
                <a:gd name="T6" fmla="*/ 0 w 908"/>
                <a:gd name="T7" fmla="*/ 0 h 904"/>
                <a:gd name="T8" fmla="*/ 0 w 908"/>
                <a:gd name="T9" fmla="*/ 0 h 904"/>
                <a:gd name="T10" fmla="*/ 0 w 908"/>
                <a:gd name="T11" fmla="*/ 0 h 904"/>
                <a:gd name="T12" fmla="*/ 0 w 908"/>
                <a:gd name="T13" fmla="*/ 0 h 904"/>
                <a:gd name="T14" fmla="*/ 0 w 908"/>
                <a:gd name="T15" fmla="*/ 0 h 904"/>
                <a:gd name="T16" fmla="*/ 0 w 908"/>
                <a:gd name="T17" fmla="*/ 0 h 904"/>
                <a:gd name="T18" fmla="*/ 0 w 908"/>
                <a:gd name="T19" fmla="*/ 0 h 904"/>
                <a:gd name="T20" fmla="*/ 0 w 908"/>
                <a:gd name="T21" fmla="*/ 0 h 904"/>
                <a:gd name="T22" fmla="*/ 0 w 908"/>
                <a:gd name="T23" fmla="*/ 0 h 904"/>
                <a:gd name="T24" fmla="*/ 0 w 908"/>
                <a:gd name="T25" fmla="*/ 0 h 904"/>
                <a:gd name="T26" fmla="*/ 0 w 908"/>
                <a:gd name="T27" fmla="*/ 0 h 904"/>
                <a:gd name="T28" fmla="*/ 0 w 908"/>
                <a:gd name="T29" fmla="*/ 0 h 904"/>
                <a:gd name="T30" fmla="*/ 0 w 908"/>
                <a:gd name="T31" fmla="*/ 0 h 904"/>
                <a:gd name="T32" fmla="*/ 0 w 908"/>
                <a:gd name="T33" fmla="*/ 0 h 904"/>
                <a:gd name="T34" fmla="*/ 0 w 908"/>
                <a:gd name="T35" fmla="*/ 0 h 904"/>
                <a:gd name="T36" fmla="*/ 0 w 908"/>
                <a:gd name="T37" fmla="*/ 0 h 904"/>
                <a:gd name="T38" fmla="*/ 0 w 908"/>
                <a:gd name="T39" fmla="*/ 0 h 904"/>
                <a:gd name="T40" fmla="*/ 0 w 908"/>
                <a:gd name="T41" fmla="*/ 0 h 904"/>
                <a:gd name="T42" fmla="*/ 0 w 908"/>
                <a:gd name="T43" fmla="*/ 0 h 904"/>
                <a:gd name="T44" fmla="*/ 0 w 908"/>
                <a:gd name="T45" fmla="*/ 0 h 904"/>
                <a:gd name="T46" fmla="*/ 0 w 908"/>
                <a:gd name="T47" fmla="*/ 0 h 904"/>
                <a:gd name="T48" fmla="*/ 0 w 908"/>
                <a:gd name="T49" fmla="*/ 0 h 904"/>
                <a:gd name="T50" fmla="*/ 0 w 908"/>
                <a:gd name="T51" fmla="*/ 0 h 904"/>
                <a:gd name="T52" fmla="*/ 0 w 908"/>
                <a:gd name="T53" fmla="*/ 0 h 904"/>
                <a:gd name="T54" fmla="*/ 0 w 908"/>
                <a:gd name="T55" fmla="*/ 0 h 904"/>
                <a:gd name="T56" fmla="*/ 0 w 908"/>
                <a:gd name="T57" fmla="*/ 0 h 904"/>
                <a:gd name="T58" fmla="*/ 0 w 908"/>
                <a:gd name="T59" fmla="*/ 0 h 904"/>
                <a:gd name="T60" fmla="*/ 0 w 908"/>
                <a:gd name="T61" fmla="*/ 0 h 904"/>
                <a:gd name="T62" fmla="*/ 0 w 908"/>
                <a:gd name="T63" fmla="*/ 0 h 904"/>
                <a:gd name="T64" fmla="*/ 0 w 908"/>
                <a:gd name="T65" fmla="*/ 0 h 904"/>
                <a:gd name="T66" fmla="*/ 0 w 908"/>
                <a:gd name="T67" fmla="*/ 0 h 904"/>
                <a:gd name="T68" fmla="*/ 0 w 908"/>
                <a:gd name="T69" fmla="*/ 0 h 904"/>
                <a:gd name="T70" fmla="*/ 0 w 908"/>
                <a:gd name="T71" fmla="*/ 0 h 904"/>
                <a:gd name="T72" fmla="*/ 0 w 908"/>
                <a:gd name="T73" fmla="*/ 0 h 904"/>
                <a:gd name="T74" fmla="*/ 0 w 908"/>
                <a:gd name="T75" fmla="*/ 0 h 904"/>
                <a:gd name="T76" fmla="*/ 0 w 908"/>
                <a:gd name="T77" fmla="*/ 0 h 904"/>
                <a:gd name="T78" fmla="*/ 0 w 908"/>
                <a:gd name="T79" fmla="*/ 0 h 904"/>
                <a:gd name="T80" fmla="*/ 0 w 908"/>
                <a:gd name="T81" fmla="*/ 0 h 904"/>
                <a:gd name="T82" fmla="*/ 0 w 908"/>
                <a:gd name="T83" fmla="*/ 0 h 904"/>
                <a:gd name="T84" fmla="*/ 0 w 908"/>
                <a:gd name="T85" fmla="*/ 0 h 904"/>
                <a:gd name="T86" fmla="*/ 0 w 908"/>
                <a:gd name="T87" fmla="*/ 0 h 904"/>
                <a:gd name="T88" fmla="*/ 0 w 908"/>
                <a:gd name="T89" fmla="*/ 0 h 904"/>
                <a:gd name="T90" fmla="*/ 0 w 908"/>
                <a:gd name="T91" fmla="*/ 0 h 904"/>
                <a:gd name="T92" fmla="*/ 0 w 908"/>
                <a:gd name="T93" fmla="*/ 0 h 904"/>
                <a:gd name="T94" fmla="*/ 0 w 908"/>
                <a:gd name="T95" fmla="*/ 0 h 904"/>
                <a:gd name="T96" fmla="*/ 0 w 908"/>
                <a:gd name="T97" fmla="*/ 0 h 904"/>
                <a:gd name="T98" fmla="*/ 0 w 908"/>
                <a:gd name="T99" fmla="*/ 0 h 904"/>
                <a:gd name="T100" fmla="*/ 0 w 908"/>
                <a:gd name="T101" fmla="*/ 0 h 904"/>
                <a:gd name="T102" fmla="*/ 0 w 908"/>
                <a:gd name="T103" fmla="*/ 0 h 90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908"/>
                <a:gd name="T157" fmla="*/ 0 h 904"/>
                <a:gd name="T158" fmla="*/ 908 w 908"/>
                <a:gd name="T159" fmla="*/ 904 h 90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908" h="904">
                  <a:moveTo>
                    <a:pt x="908" y="453"/>
                  </a:moveTo>
                  <a:lnTo>
                    <a:pt x="904" y="394"/>
                  </a:lnTo>
                  <a:lnTo>
                    <a:pt x="894" y="340"/>
                  </a:lnTo>
                  <a:lnTo>
                    <a:pt x="879" y="287"/>
                  </a:lnTo>
                  <a:lnTo>
                    <a:pt x="853" y="238"/>
                  </a:lnTo>
                  <a:lnTo>
                    <a:pt x="824" y="189"/>
                  </a:lnTo>
                  <a:lnTo>
                    <a:pt x="789" y="147"/>
                  </a:lnTo>
                  <a:lnTo>
                    <a:pt x="747" y="109"/>
                  </a:lnTo>
                  <a:lnTo>
                    <a:pt x="703" y="74"/>
                  </a:lnTo>
                  <a:lnTo>
                    <a:pt x="654" y="44"/>
                  </a:lnTo>
                  <a:lnTo>
                    <a:pt x="604" y="24"/>
                  </a:lnTo>
                  <a:lnTo>
                    <a:pt x="549" y="9"/>
                  </a:lnTo>
                  <a:lnTo>
                    <a:pt x="493" y="2"/>
                  </a:lnTo>
                  <a:lnTo>
                    <a:pt x="436" y="0"/>
                  </a:lnTo>
                  <a:lnTo>
                    <a:pt x="381" y="6"/>
                  </a:lnTo>
                  <a:lnTo>
                    <a:pt x="326" y="19"/>
                  </a:lnTo>
                  <a:lnTo>
                    <a:pt x="273" y="37"/>
                  </a:lnTo>
                  <a:lnTo>
                    <a:pt x="224" y="63"/>
                  </a:lnTo>
                  <a:lnTo>
                    <a:pt x="176" y="93"/>
                  </a:lnTo>
                  <a:lnTo>
                    <a:pt x="134" y="133"/>
                  </a:lnTo>
                  <a:lnTo>
                    <a:pt x="97" y="173"/>
                  </a:lnTo>
                  <a:lnTo>
                    <a:pt x="65" y="219"/>
                  </a:lnTo>
                  <a:lnTo>
                    <a:pt x="38" y="267"/>
                  </a:lnTo>
                  <a:lnTo>
                    <a:pt x="18" y="322"/>
                  </a:lnTo>
                  <a:lnTo>
                    <a:pt x="8" y="374"/>
                  </a:lnTo>
                  <a:lnTo>
                    <a:pt x="0" y="433"/>
                  </a:lnTo>
                  <a:lnTo>
                    <a:pt x="1" y="489"/>
                  </a:lnTo>
                  <a:lnTo>
                    <a:pt x="8" y="543"/>
                  </a:lnTo>
                  <a:lnTo>
                    <a:pt x="25" y="598"/>
                  </a:lnTo>
                  <a:lnTo>
                    <a:pt x="46" y="648"/>
                  </a:lnTo>
                  <a:lnTo>
                    <a:pt x="72" y="697"/>
                  </a:lnTo>
                  <a:lnTo>
                    <a:pt x="105" y="742"/>
                  </a:lnTo>
                  <a:lnTo>
                    <a:pt x="146" y="782"/>
                  </a:lnTo>
                  <a:lnTo>
                    <a:pt x="188" y="819"/>
                  </a:lnTo>
                  <a:lnTo>
                    <a:pt x="237" y="849"/>
                  </a:lnTo>
                  <a:lnTo>
                    <a:pt x="287" y="873"/>
                  </a:lnTo>
                  <a:lnTo>
                    <a:pt x="341" y="891"/>
                  </a:lnTo>
                  <a:lnTo>
                    <a:pt x="395" y="901"/>
                  </a:lnTo>
                  <a:lnTo>
                    <a:pt x="451" y="904"/>
                  </a:lnTo>
                  <a:lnTo>
                    <a:pt x="507" y="903"/>
                  </a:lnTo>
                  <a:lnTo>
                    <a:pt x="561" y="891"/>
                  </a:lnTo>
                  <a:lnTo>
                    <a:pt x="617" y="876"/>
                  </a:lnTo>
                  <a:lnTo>
                    <a:pt x="667" y="853"/>
                  </a:lnTo>
                  <a:lnTo>
                    <a:pt x="715" y="822"/>
                  </a:lnTo>
                  <a:lnTo>
                    <a:pt x="759" y="787"/>
                  </a:lnTo>
                  <a:lnTo>
                    <a:pt x="797" y="748"/>
                  </a:lnTo>
                  <a:lnTo>
                    <a:pt x="831" y="700"/>
                  </a:lnTo>
                  <a:lnTo>
                    <a:pt x="860" y="656"/>
                  </a:lnTo>
                  <a:lnTo>
                    <a:pt x="883" y="604"/>
                  </a:lnTo>
                  <a:lnTo>
                    <a:pt x="899" y="552"/>
                  </a:lnTo>
                  <a:lnTo>
                    <a:pt x="905" y="496"/>
                  </a:lnTo>
                  <a:lnTo>
                    <a:pt x="908" y="453"/>
                  </a:lnTo>
                  <a:close/>
                </a:path>
              </a:pathLst>
            </a:custGeom>
            <a:solidFill>
              <a:srgbClr val="FFCC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593" name="Freeform 30"/>
            <p:cNvSpPr/>
            <p:nvPr/>
          </p:nvSpPr>
          <p:spPr bwMode="auto">
            <a:xfrm>
              <a:off x="5280" y="3312"/>
              <a:ext cx="102" cy="280"/>
            </a:xfrm>
            <a:custGeom>
              <a:avLst/>
              <a:gdLst>
                <a:gd name="T0" fmla="*/ 0 w 922"/>
                <a:gd name="T1" fmla="*/ 0 h 2518"/>
                <a:gd name="T2" fmla="*/ 0 w 922"/>
                <a:gd name="T3" fmla="*/ 0 h 2518"/>
                <a:gd name="T4" fmla="*/ 0 w 922"/>
                <a:gd name="T5" fmla="*/ 0 h 2518"/>
                <a:gd name="T6" fmla="*/ 0 w 922"/>
                <a:gd name="T7" fmla="*/ 0 h 2518"/>
                <a:gd name="T8" fmla="*/ 0 w 922"/>
                <a:gd name="T9" fmla="*/ 0 h 2518"/>
                <a:gd name="T10" fmla="*/ 0 w 922"/>
                <a:gd name="T11" fmla="*/ 0 h 2518"/>
                <a:gd name="T12" fmla="*/ 0 w 922"/>
                <a:gd name="T13" fmla="*/ 0 h 2518"/>
                <a:gd name="T14" fmla="*/ 0 w 922"/>
                <a:gd name="T15" fmla="*/ 0 h 2518"/>
                <a:gd name="T16" fmla="*/ 0 w 922"/>
                <a:gd name="T17" fmla="*/ 0 h 2518"/>
                <a:gd name="T18" fmla="*/ 0 w 922"/>
                <a:gd name="T19" fmla="*/ 0 h 2518"/>
                <a:gd name="T20" fmla="*/ 0 w 922"/>
                <a:gd name="T21" fmla="*/ 0 h 2518"/>
                <a:gd name="T22" fmla="*/ 0 w 922"/>
                <a:gd name="T23" fmla="*/ 0 h 2518"/>
                <a:gd name="T24" fmla="*/ 0 w 922"/>
                <a:gd name="T25" fmla="*/ 0 h 2518"/>
                <a:gd name="T26" fmla="*/ 0 w 922"/>
                <a:gd name="T27" fmla="*/ 0 h 2518"/>
                <a:gd name="T28" fmla="*/ 0 w 922"/>
                <a:gd name="T29" fmla="*/ 0 h 2518"/>
                <a:gd name="T30" fmla="*/ 0 w 922"/>
                <a:gd name="T31" fmla="*/ 0 h 2518"/>
                <a:gd name="T32" fmla="*/ 0 w 922"/>
                <a:gd name="T33" fmla="*/ 0 h 2518"/>
                <a:gd name="T34" fmla="*/ 0 w 922"/>
                <a:gd name="T35" fmla="*/ 0 h 2518"/>
                <a:gd name="T36" fmla="*/ 0 w 922"/>
                <a:gd name="T37" fmla="*/ 0 h 2518"/>
                <a:gd name="T38" fmla="*/ 0 w 922"/>
                <a:gd name="T39" fmla="*/ 0 h 2518"/>
                <a:gd name="T40" fmla="*/ 0 w 922"/>
                <a:gd name="T41" fmla="*/ 0 h 2518"/>
                <a:gd name="T42" fmla="*/ 0 w 922"/>
                <a:gd name="T43" fmla="*/ 0 h 2518"/>
                <a:gd name="T44" fmla="*/ 0 w 922"/>
                <a:gd name="T45" fmla="*/ 0 h 2518"/>
                <a:gd name="T46" fmla="*/ 0 w 922"/>
                <a:gd name="T47" fmla="*/ 0 h 2518"/>
                <a:gd name="T48" fmla="*/ 0 w 922"/>
                <a:gd name="T49" fmla="*/ 0 h 2518"/>
                <a:gd name="T50" fmla="*/ 0 w 922"/>
                <a:gd name="T51" fmla="*/ 0 h 2518"/>
                <a:gd name="T52" fmla="*/ 0 w 922"/>
                <a:gd name="T53" fmla="*/ 0 h 2518"/>
                <a:gd name="T54" fmla="*/ 0 w 922"/>
                <a:gd name="T55" fmla="*/ 0 h 2518"/>
                <a:gd name="T56" fmla="*/ 0 w 922"/>
                <a:gd name="T57" fmla="*/ 0 h 2518"/>
                <a:gd name="T58" fmla="*/ 0 w 922"/>
                <a:gd name="T59" fmla="*/ 0 h 2518"/>
                <a:gd name="T60" fmla="*/ 0 w 922"/>
                <a:gd name="T61" fmla="*/ 0 h 2518"/>
                <a:gd name="T62" fmla="*/ 0 w 922"/>
                <a:gd name="T63" fmla="*/ 0 h 2518"/>
                <a:gd name="T64" fmla="*/ 0 w 922"/>
                <a:gd name="T65" fmla="*/ 0 h 2518"/>
                <a:gd name="T66" fmla="*/ 0 w 922"/>
                <a:gd name="T67" fmla="*/ 0 h 2518"/>
                <a:gd name="T68" fmla="*/ 0 w 922"/>
                <a:gd name="T69" fmla="*/ 0 h 2518"/>
                <a:gd name="T70" fmla="*/ 0 w 922"/>
                <a:gd name="T71" fmla="*/ 0 h 2518"/>
                <a:gd name="T72" fmla="*/ 0 w 922"/>
                <a:gd name="T73" fmla="*/ 0 h 2518"/>
                <a:gd name="T74" fmla="*/ 0 w 922"/>
                <a:gd name="T75" fmla="*/ 0 h 2518"/>
                <a:gd name="T76" fmla="*/ 0 w 922"/>
                <a:gd name="T77" fmla="*/ 0 h 2518"/>
                <a:gd name="T78" fmla="*/ 0 w 922"/>
                <a:gd name="T79" fmla="*/ 0 h 2518"/>
                <a:gd name="T80" fmla="*/ 0 w 922"/>
                <a:gd name="T81" fmla="*/ 0 h 2518"/>
                <a:gd name="T82" fmla="*/ 0 w 922"/>
                <a:gd name="T83" fmla="*/ 0 h 2518"/>
                <a:gd name="T84" fmla="*/ 0 w 922"/>
                <a:gd name="T85" fmla="*/ 0 h 2518"/>
                <a:gd name="T86" fmla="*/ 0 w 922"/>
                <a:gd name="T87" fmla="*/ 0 h 2518"/>
                <a:gd name="T88" fmla="*/ 0 w 922"/>
                <a:gd name="T89" fmla="*/ 0 h 2518"/>
                <a:gd name="T90" fmla="*/ 0 w 922"/>
                <a:gd name="T91" fmla="*/ 0 h 2518"/>
                <a:gd name="T92" fmla="*/ 0 w 922"/>
                <a:gd name="T93" fmla="*/ 0 h 2518"/>
                <a:gd name="T94" fmla="*/ 0 w 922"/>
                <a:gd name="T95" fmla="*/ 0 h 2518"/>
                <a:gd name="T96" fmla="*/ 0 w 922"/>
                <a:gd name="T97" fmla="*/ 0 h 2518"/>
                <a:gd name="T98" fmla="*/ 0 w 922"/>
                <a:gd name="T99" fmla="*/ 0 h 2518"/>
                <a:gd name="T100" fmla="*/ 0 w 922"/>
                <a:gd name="T101" fmla="*/ 0 h 2518"/>
                <a:gd name="T102" fmla="*/ 0 w 922"/>
                <a:gd name="T103" fmla="*/ 0 h 2518"/>
                <a:gd name="T104" fmla="*/ 0 w 922"/>
                <a:gd name="T105" fmla="*/ 0 h 2518"/>
                <a:gd name="T106" fmla="*/ 0 w 922"/>
                <a:gd name="T107" fmla="*/ 0 h 2518"/>
                <a:gd name="T108" fmla="*/ 0 w 922"/>
                <a:gd name="T109" fmla="*/ 0 h 2518"/>
                <a:gd name="T110" fmla="*/ 0 w 922"/>
                <a:gd name="T111" fmla="*/ 0 h 2518"/>
                <a:gd name="T112" fmla="*/ 0 w 922"/>
                <a:gd name="T113" fmla="*/ 0 h 2518"/>
                <a:gd name="T114" fmla="*/ 0 w 922"/>
                <a:gd name="T115" fmla="*/ 0 h 2518"/>
                <a:gd name="T116" fmla="*/ 0 w 922"/>
                <a:gd name="T117" fmla="*/ 0 h 2518"/>
                <a:gd name="T118" fmla="*/ 0 w 922"/>
                <a:gd name="T119" fmla="*/ 0 h 2518"/>
                <a:gd name="T120" fmla="*/ 0 w 922"/>
                <a:gd name="T121" fmla="*/ 0 h 2518"/>
                <a:gd name="T122" fmla="*/ 0 w 922"/>
                <a:gd name="T123" fmla="*/ 0 h 251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922"/>
                <a:gd name="T187" fmla="*/ 0 h 2518"/>
                <a:gd name="T188" fmla="*/ 922 w 922"/>
                <a:gd name="T189" fmla="*/ 2518 h 251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922" h="2518">
                  <a:moveTo>
                    <a:pt x="19" y="384"/>
                  </a:moveTo>
                  <a:lnTo>
                    <a:pt x="21" y="375"/>
                  </a:lnTo>
                  <a:lnTo>
                    <a:pt x="34" y="320"/>
                  </a:lnTo>
                  <a:lnTo>
                    <a:pt x="53" y="269"/>
                  </a:lnTo>
                  <a:lnTo>
                    <a:pt x="80" y="219"/>
                  </a:lnTo>
                  <a:lnTo>
                    <a:pt x="109" y="173"/>
                  </a:lnTo>
                  <a:lnTo>
                    <a:pt x="144" y="130"/>
                  </a:lnTo>
                  <a:lnTo>
                    <a:pt x="185" y="93"/>
                  </a:lnTo>
                  <a:lnTo>
                    <a:pt x="233" y="62"/>
                  </a:lnTo>
                  <a:lnTo>
                    <a:pt x="282" y="39"/>
                  </a:lnTo>
                  <a:lnTo>
                    <a:pt x="334" y="18"/>
                  </a:lnTo>
                  <a:lnTo>
                    <a:pt x="390" y="5"/>
                  </a:lnTo>
                  <a:lnTo>
                    <a:pt x="445" y="0"/>
                  </a:lnTo>
                  <a:lnTo>
                    <a:pt x="502" y="1"/>
                  </a:lnTo>
                  <a:lnTo>
                    <a:pt x="556" y="9"/>
                  </a:lnTo>
                  <a:lnTo>
                    <a:pt x="611" y="23"/>
                  </a:lnTo>
                  <a:lnTo>
                    <a:pt x="659" y="47"/>
                  </a:lnTo>
                  <a:lnTo>
                    <a:pt x="709" y="73"/>
                  </a:lnTo>
                  <a:lnTo>
                    <a:pt x="752" y="108"/>
                  </a:lnTo>
                  <a:lnTo>
                    <a:pt x="790" y="146"/>
                  </a:lnTo>
                  <a:lnTo>
                    <a:pt x="826" y="192"/>
                  </a:lnTo>
                  <a:lnTo>
                    <a:pt x="854" y="237"/>
                  </a:lnTo>
                  <a:lnTo>
                    <a:pt x="876" y="292"/>
                  </a:lnTo>
                  <a:lnTo>
                    <a:pt x="894" y="343"/>
                  </a:lnTo>
                  <a:lnTo>
                    <a:pt x="903" y="396"/>
                  </a:lnTo>
                  <a:lnTo>
                    <a:pt x="914" y="454"/>
                  </a:lnTo>
                  <a:lnTo>
                    <a:pt x="917" y="530"/>
                  </a:lnTo>
                  <a:lnTo>
                    <a:pt x="922" y="669"/>
                  </a:lnTo>
                  <a:lnTo>
                    <a:pt x="918" y="804"/>
                  </a:lnTo>
                  <a:lnTo>
                    <a:pt x="913" y="941"/>
                  </a:lnTo>
                  <a:lnTo>
                    <a:pt x="903" y="1074"/>
                  </a:lnTo>
                  <a:lnTo>
                    <a:pt x="888" y="1208"/>
                  </a:lnTo>
                  <a:lnTo>
                    <a:pt x="871" y="1342"/>
                  </a:lnTo>
                  <a:lnTo>
                    <a:pt x="845" y="1470"/>
                  </a:lnTo>
                  <a:lnTo>
                    <a:pt x="819" y="1600"/>
                  </a:lnTo>
                  <a:lnTo>
                    <a:pt x="789" y="1727"/>
                  </a:lnTo>
                  <a:lnTo>
                    <a:pt x="752" y="1851"/>
                  </a:lnTo>
                  <a:lnTo>
                    <a:pt x="715" y="1971"/>
                  </a:lnTo>
                  <a:lnTo>
                    <a:pt x="669" y="2089"/>
                  </a:lnTo>
                  <a:lnTo>
                    <a:pt x="626" y="2202"/>
                  </a:lnTo>
                  <a:lnTo>
                    <a:pt x="573" y="2314"/>
                  </a:lnTo>
                  <a:lnTo>
                    <a:pt x="520" y="2419"/>
                  </a:lnTo>
                  <a:lnTo>
                    <a:pt x="462" y="2518"/>
                  </a:lnTo>
                  <a:lnTo>
                    <a:pt x="457" y="2518"/>
                  </a:lnTo>
                  <a:lnTo>
                    <a:pt x="425" y="2458"/>
                  </a:lnTo>
                  <a:lnTo>
                    <a:pt x="368" y="2357"/>
                  </a:lnTo>
                  <a:lnTo>
                    <a:pt x="317" y="2250"/>
                  </a:lnTo>
                  <a:lnTo>
                    <a:pt x="268" y="2136"/>
                  </a:lnTo>
                  <a:lnTo>
                    <a:pt x="223" y="2019"/>
                  </a:lnTo>
                  <a:lnTo>
                    <a:pt x="182" y="1902"/>
                  </a:lnTo>
                  <a:lnTo>
                    <a:pt x="144" y="1779"/>
                  </a:lnTo>
                  <a:lnTo>
                    <a:pt x="113" y="1654"/>
                  </a:lnTo>
                  <a:lnTo>
                    <a:pt x="82" y="1527"/>
                  </a:lnTo>
                  <a:lnTo>
                    <a:pt x="58" y="1395"/>
                  </a:lnTo>
                  <a:lnTo>
                    <a:pt x="39" y="1264"/>
                  </a:lnTo>
                  <a:lnTo>
                    <a:pt x="19" y="1130"/>
                  </a:lnTo>
                  <a:lnTo>
                    <a:pt x="9" y="997"/>
                  </a:lnTo>
                  <a:lnTo>
                    <a:pt x="2" y="860"/>
                  </a:lnTo>
                  <a:lnTo>
                    <a:pt x="0" y="726"/>
                  </a:lnTo>
                  <a:lnTo>
                    <a:pt x="0" y="588"/>
                  </a:lnTo>
                  <a:lnTo>
                    <a:pt x="5" y="454"/>
                  </a:lnTo>
                  <a:lnTo>
                    <a:pt x="19" y="384"/>
                  </a:lnTo>
                  <a:close/>
                </a:path>
              </a:pathLst>
            </a:custGeom>
            <a:solidFill>
              <a:srgbClr val="FFCC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5" name="Group 38"/>
          <p:cNvGrpSpPr/>
          <p:nvPr/>
        </p:nvGrpSpPr>
        <p:grpSpPr bwMode="auto">
          <a:xfrm>
            <a:off x="6016380" y="2649692"/>
            <a:ext cx="404812" cy="442912"/>
            <a:chOff x="2448" y="2544"/>
            <a:chExt cx="825" cy="903"/>
          </a:xfrm>
        </p:grpSpPr>
        <p:sp>
          <p:nvSpPr>
            <p:cNvPr id="24588" name="Freeform 39"/>
            <p:cNvSpPr/>
            <p:nvPr/>
          </p:nvSpPr>
          <p:spPr bwMode="auto">
            <a:xfrm>
              <a:off x="2482" y="2612"/>
              <a:ext cx="791" cy="835"/>
            </a:xfrm>
            <a:custGeom>
              <a:avLst/>
              <a:gdLst>
                <a:gd name="T0" fmla="*/ 0 w 3955"/>
                <a:gd name="T1" fmla="*/ 0 h 4173"/>
                <a:gd name="T2" fmla="*/ 0 w 3955"/>
                <a:gd name="T3" fmla="*/ 0 h 4173"/>
                <a:gd name="T4" fmla="*/ 0 w 3955"/>
                <a:gd name="T5" fmla="*/ 0 h 4173"/>
                <a:gd name="T6" fmla="*/ 0 w 3955"/>
                <a:gd name="T7" fmla="*/ 0 h 4173"/>
                <a:gd name="T8" fmla="*/ 0 w 3955"/>
                <a:gd name="T9" fmla="*/ 0 h 4173"/>
                <a:gd name="T10" fmla="*/ 0 w 3955"/>
                <a:gd name="T11" fmla="*/ 0 h 4173"/>
                <a:gd name="T12" fmla="*/ 0 w 3955"/>
                <a:gd name="T13" fmla="*/ 0 h 4173"/>
                <a:gd name="T14" fmla="*/ 0 w 3955"/>
                <a:gd name="T15" fmla="*/ 0 h 4173"/>
                <a:gd name="T16" fmla="*/ 0 w 3955"/>
                <a:gd name="T17" fmla="*/ 0 h 4173"/>
                <a:gd name="T18" fmla="*/ 0 w 3955"/>
                <a:gd name="T19" fmla="*/ 0 h 4173"/>
                <a:gd name="T20" fmla="*/ 0 w 3955"/>
                <a:gd name="T21" fmla="*/ 0 h 4173"/>
                <a:gd name="T22" fmla="*/ 0 w 3955"/>
                <a:gd name="T23" fmla="*/ 0 h 4173"/>
                <a:gd name="T24" fmla="*/ 0 w 3955"/>
                <a:gd name="T25" fmla="*/ 0 h 4173"/>
                <a:gd name="T26" fmla="*/ 0 w 3955"/>
                <a:gd name="T27" fmla="*/ 0 h 4173"/>
                <a:gd name="T28" fmla="*/ 0 w 3955"/>
                <a:gd name="T29" fmla="*/ 0 h 4173"/>
                <a:gd name="T30" fmla="*/ 0 w 3955"/>
                <a:gd name="T31" fmla="*/ 0 h 4173"/>
                <a:gd name="T32" fmla="*/ 0 w 3955"/>
                <a:gd name="T33" fmla="*/ 0 h 4173"/>
                <a:gd name="T34" fmla="*/ 0 w 3955"/>
                <a:gd name="T35" fmla="*/ 0 h 4173"/>
                <a:gd name="T36" fmla="*/ 0 w 3955"/>
                <a:gd name="T37" fmla="*/ 0 h 4173"/>
                <a:gd name="T38" fmla="*/ 0 w 3955"/>
                <a:gd name="T39" fmla="*/ 0 h 4173"/>
                <a:gd name="T40" fmla="*/ 0 w 3955"/>
                <a:gd name="T41" fmla="*/ 0 h 4173"/>
                <a:gd name="T42" fmla="*/ 0 w 3955"/>
                <a:gd name="T43" fmla="*/ 0 h 4173"/>
                <a:gd name="T44" fmla="*/ 0 w 3955"/>
                <a:gd name="T45" fmla="*/ 0 h 4173"/>
                <a:gd name="T46" fmla="*/ 0 w 3955"/>
                <a:gd name="T47" fmla="*/ 0 h 4173"/>
                <a:gd name="T48" fmla="*/ 0 w 3955"/>
                <a:gd name="T49" fmla="*/ 0 h 4173"/>
                <a:gd name="T50" fmla="*/ 0 w 3955"/>
                <a:gd name="T51" fmla="*/ 0 h 4173"/>
                <a:gd name="T52" fmla="*/ 0 w 3955"/>
                <a:gd name="T53" fmla="*/ 0 h 4173"/>
                <a:gd name="T54" fmla="*/ 0 w 3955"/>
                <a:gd name="T55" fmla="*/ 0 h 4173"/>
                <a:gd name="T56" fmla="*/ 0 w 3955"/>
                <a:gd name="T57" fmla="*/ 0 h 4173"/>
                <a:gd name="T58" fmla="*/ 0 w 3955"/>
                <a:gd name="T59" fmla="*/ 0 h 4173"/>
                <a:gd name="T60" fmla="*/ 0 w 3955"/>
                <a:gd name="T61" fmla="*/ 0 h 4173"/>
                <a:gd name="T62" fmla="*/ 0 w 3955"/>
                <a:gd name="T63" fmla="*/ 0 h 4173"/>
                <a:gd name="T64" fmla="*/ 0 w 3955"/>
                <a:gd name="T65" fmla="*/ 0 h 4173"/>
                <a:gd name="T66" fmla="*/ 0 w 3955"/>
                <a:gd name="T67" fmla="*/ 0 h 4173"/>
                <a:gd name="T68" fmla="*/ 0 w 3955"/>
                <a:gd name="T69" fmla="*/ 0 h 4173"/>
                <a:gd name="T70" fmla="*/ 0 w 3955"/>
                <a:gd name="T71" fmla="*/ 0 h 4173"/>
                <a:gd name="T72" fmla="*/ 0 w 3955"/>
                <a:gd name="T73" fmla="*/ 0 h 4173"/>
                <a:gd name="T74" fmla="*/ 0 w 3955"/>
                <a:gd name="T75" fmla="*/ 0 h 4173"/>
                <a:gd name="T76" fmla="*/ 0 w 3955"/>
                <a:gd name="T77" fmla="*/ 0 h 4173"/>
                <a:gd name="T78" fmla="*/ 0 w 3955"/>
                <a:gd name="T79" fmla="*/ 0 h 4173"/>
                <a:gd name="T80" fmla="*/ 0 w 3955"/>
                <a:gd name="T81" fmla="*/ 0 h 4173"/>
                <a:gd name="T82" fmla="*/ 0 w 3955"/>
                <a:gd name="T83" fmla="*/ 0 h 4173"/>
                <a:gd name="T84" fmla="*/ 0 w 3955"/>
                <a:gd name="T85" fmla="*/ 0 h 4173"/>
                <a:gd name="T86" fmla="*/ 0 w 3955"/>
                <a:gd name="T87" fmla="*/ 0 h 4173"/>
                <a:gd name="T88" fmla="*/ 0 w 3955"/>
                <a:gd name="T89" fmla="*/ 0 h 4173"/>
                <a:gd name="T90" fmla="*/ 0 w 3955"/>
                <a:gd name="T91" fmla="*/ 0 h 4173"/>
                <a:gd name="T92" fmla="*/ 0 w 3955"/>
                <a:gd name="T93" fmla="*/ 0 h 4173"/>
                <a:gd name="T94" fmla="*/ 0 w 3955"/>
                <a:gd name="T95" fmla="*/ 0 h 4173"/>
                <a:gd name="T96" fmla="*/ 0 w 3955"/>
                <a:gd name="T97" fmla="*/ 0 h 4173"/>
                <a:gd name="T98" fmla="*/ 0 w 3955"/>
                <a:gd name="T99" fmla="*/ 0 h 4173"/>
                <a:gd name="T100" fmla="*/ 0 w 3955"/>
                <a:gd name="T101" fmla="*/ 0 h 4173"/>
                <a:gd name="T102" fmla="*/ 0 w 3955"/>
                <a:gd name="T103" fmla="*/ 0 h 4173"/>
                <a:gd name="T104" fmla="*/ 0 w 3955"/>
                <a:gd name="T105" fmla="*/ 0 h 4173"/>
                <a:gd name="T106" fmla="*/ 0 w 3955"/>
                <a:gd name="T107" fmla="*/ 0 h 4173"/>
                <a:gd name="T108" fmla="*/ 0 w 3955"/>
                <a:gd name="T109" fmla="*/ 0 h 4173"/>
                <a:gd name="T110" fmla="*/ 0 w 3955"/>
                <a:gd name="T111" fmla="*/ 0 h 4173"/>
                <a:gd name="T112" fmla="*/ 0 w 3955"/>
                <a:gd name="T113" fmla="*/ 0 h 417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955"/>
                <a:gd name="T172" fmla="*/ 0 h 4173"/>
                <a:gd name="T173" fmla="*/ 3955 w 3955"/>
                <a:gd name="T174" fmla="*/ 4173 h 417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955" h="4173">
                  <a:moveTo>
                    <a:pt x="440" y="4173"/>
                  </a:moveTo>
                  <a:lnTo>
                    <a:pt x="545" y="4000"/>
                  </a:lnTo>
                  <a:lnTo>
                    <a:pt x="748" y="3672"/>
                  </a:lnTo>
                  <a:lnTo>
                    <a:pt x="969" y="3359"/>
                  </a:lnTo>
                  <a:lnTo>
                    <a:pt x="1205" y="3056"/>
                  </a:lnTo>
                  <a:lnTo>
                    <a:pt x="1446" y="2764"/>
                  </a:lnTo>
                  <a:lnTo>
                    <a:pt x="1710" y="2482"/>
                  </a:lnTo>
                  <a:lnTo>
                    <a:pt x="1975" y="2207"/>
                  </a:lnTo>
                  <a:lnTo>
                    <a:pt x="2123" y="2350"/>
                  </a:lnTo>
                  <a:lnTo>
                    <a:pt x="2387" y="2625"/>
                  </a:lnTo>
                  <a:lnTo>
                    <a:pt x="2636" y="2920"/>
                  </a:lnTo>
                  <a:lnTo>
                    <a:pt x="2877" y="3217"/>
                  </a:lnTo>
                  <a:lnTo>
                    <a:pt x="3104" y="3526"/>
                  </a:lnTo>
                  <a:lnTo>
                    <a:pt x="3312" y="3848"/>
                  </a:lnTo>
                  <a:lnTo>
                    <a:pt x="3513" y="4173"/>
                  </a:lnTo>
                  <a:lnTo>
                    <a:pt x="3955" y="3335"/>
                  </a:lnTo>
                  <a:lnTo>
                    <a:pt x="3926" y="3316"/>
                  </a:lnTo>
                  <a:lnTo>
                    <a:pt x="3575" y="3058"/>
                  </a:lnTo>
                  <a:lnTo>
                    <a:pt x="3230" y="2785"/>
                  </a:lnTo>
                  <a:lnTo>
                    <a:pt x="2900" y="2503"/>
                  </a:lnTo>
                  <a:lnTo>
                    <a:pt x="2576" y="2207"/>
                  </a:lnTo>
                  <a:lnTo>
                    <a:pt x="2266" y="1896"/>
                  </a:lnTo>
                  <a:lnTo>
                    <a:pt x="2357" y="1806"/>
                  </a:lnTo>
                  <a:lnTo>
                    <a:pt x="2685" y="1481"/>
                  </a:lnTo>
                  <a:lnTo>
                    <a:pt x="3024" y="1174"/>
                  </a:lnTo>
                  <a:lnTo>
                    <a:pt x="3370" y="878"/>
                  </a:lnTo>
                  <a:lnTo>
                    <a:pt x="3734" y="597"/>
                  </a:lnTo>
                  <a:lnTo>
                    <a:pt x="3341" y="0"/>
                  </a:lnTo>
                  <a:lnTo>
                    <a:pt x="3154" y="283"/>
                  </a:lnTo>
                  <a:lnTo>
                    <a:pt x="2943" y="573"/>
                  </a:lnTo>
                  <a:lnTo>
                    <a:pt x="2722" y="853"/>
                  </a:lnTo>
                  <a:lnTo>
                    <a:pt x="2486" y="1126"/>
                  </a:lnTo>
                  <a:lnTo>
                    <a:pt x="2239" y="1386"/>
                  </a:lnTo>
                  <a:lnTo>
                    <a:pt x="1975" y="1632"/>
                  </a:lnTo>
                  <a:lnTo>
                    <a:pt x="1733" y="1399"/>
                  </a:lnTo>
                  <a:lnTo>
                    <a:pt x="1481" y="1142"/>
                  </a:lnTo>
                  <a:lnTo>
                    <a:pt x="1247" y="870"/>
                  </a:lnTo>
                  <a:lnTo>
                    <a:pt x="1020" y="590"/>
                  </a:lnTo>
                  <a:lnTo>
                    <a:pt x="812" y="298"/>
                  </a:lnTo>
                  <a:lnTo>
                    <a:pt x="611" y="0"/>
                  </a:lnTo>
                  <a:lnTo>
                    <a:pt x="223" y="597"/>
                  </a:lnTo>
                  <a:lnTo>
                    <a:pt x="326" y="674"/>
                  </a:lnTo>
                  <a:lnTo>
                    <a:pt x="683" y="961"/>
                  </a:lnTo>
                  <a:lnTo>
                    <a:pt x="1027" y="1261"/>
                  </a:lnTo>
                  <a:lnTo>
                    <a:pt x="1363" y="1572"/>
                  </a:lnTo>
                  <a:lnTo>
                    <a:pt x="1689" y="1896"/>
                  </a:lnTo>
                  <a:lnTo>
                    <a:pt x="1664" y="1925"/>
                  </a:lnTo>
                  <a:lnTo>
                    <a:pt x="1350" y="2231"/>
                  </a:lnTo>
                  <a:lnTo>
                    <a:pt x="1028" y="2527"/>
                  </a:lnTo>
                  <a:lnTo>
                    <a:pt x="696" y="2807"/>
                  </a:lnTo>
                  <a:lnTo>
                    <a:pt x="353" y="3077"/>
                  </a:lnTo>
                  <a:lnTo>
                    <a:pt x="0" y="3335"/>
                  </a:lnTo>
                  <a:lnTo>
                    <a:pt x="440" y="41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589" name="Freeform 40"/>
            <p:cNvSpPr/>
            <p:nvPr/>
          </p:nvSpPr>
          <p:spPr bwMode="auto">
            <a:xfrm>
              <a:off x="2448" y="2544"/>
              <a:ext cx="790" cy="835"/>
            </a:xfrm>
            <a:custGeom>
              <a:avLst/>
              <a:gdLst>
                <a:gd name="T0" fmla="*/ 0 w 3951"/>
                <a:gd name="T1" fmla="*/ 0 h 4175"/>
                <a:gd name="T2" fmla="*/ 0 w 3951"/>
                <a:gd name="T3" fmla="*/ 0 h 4175"/>
                <a:gd name="T4" fmla="*/ 0 w 3951"/>
                <a:gd name="T5" fmla="*/ 0 h 4175"/>
                <a:gd name="T6" fmla="*/ 0 w 3951"/>
                <a:gd name="T7" fmla="*/ 0 h 4175"/>
                <a:gd name="T8" fmla="*/ 0 w 3951"/>
                <a:gd name="T9" fmla="*/ 0 h 4175"/>
                <a:gd name="T10" fmla="*/ 0 w 3951"/>
                <a:gd name="T11" fmla="*/ 0 h 4175"/>
                <a:gd name="T12" fmla="*/ 0 w 3951"/>
                <a:gd name="T13" fmla="*/ 0 h 4175"/>
                <a:gd name="T14" fmla="*/ 0 w 3951"/>
                <a:gd name="T15" fmla="*/ 0 h 4175"/>
                <a:gd name="T16" fmla="*/ 0 w 3951"/>
                <a:gd name="T17" fmla="*/ 0 h 4175"/>
                <a:gd name="T18" fmla="*/ 0 w 3951"/>
                <a:gd name="T19" fmla="*/ 0 h 4175"/>
                <a:gd name="T20" fmla="*/ 0 w 3951"/>
                <a:gd name="T21" fmla="*/ 0 h 4175"/>
                <a:gd name="T22" fmla="*/ 0 w 3951"/>
                <a:gd name="T23" fmla="*/ 0 h 4175"/>
                <a:gd name="T24" fmla="*/ 0 w 3951"/>
                <a:gd name="T25" fmla="*/ 0 h 4175"/>
                <a:gd name="T26" fmla="*/ 0 w 3951"/>
                <a:gd name="T27" fmla="*/ 0 h 4175"/>
                <a:gd name="T28" fmla="*/ 0 w 3951"/>
                <a:gd name="T29" fmla="*/ 0 h 4175"/>
                <a:gd name="T30" fmla="*/ 0 w 3951"/>
                <a:gd name="T31" fmla="*/ 0 h 4175"/>
                <a:gd name="T32" fmla="*/ 0 w 3951"/>
                <a:gd name="T33" fmla="*/ 0 h 4175"/>
                <a:gd name="T34" fmla="*/ 0 w 3951"/>
                <a:gd name="T35" fmla="*/ 0 h 4175"/>
                <a:gd name="T36" fmla="*/ 0 w 3951"/>
                <a:gd name="T37" fmla="*/ 0 h 4175"/>
                <a:gd name="T38" fmla="*/ 0 w 3951"/>
                <a:gd name="T39" fmla="*/ 0 h 4175"/>
                <a:gd name="T40" fmla="*/ 0 w 3951"/>
                <a:gd name="T41" fmla="*/ 0 h 4175"/>
                <a:gd name="T42" fmla="*/ 0 w 3951"/>
                <a:gd name="T43" fmla="*/ 0 h 4175"/>
                <a:gd name="T44" fmla="*/ 0 w 3951"/>
                <a:gd name="T45" fmla="*/ 0 h 4175"/>
                <a:gd name="T46" fmla="*/ 0 w 3951"/>
                <a:gd name="T47" fmla="*/ 0 h 4175"/>
                <a:gd name="T48" fmla="*/ 0 w 3951"/>
                <a:gd name="T49" fmla="*/ 0 h 4175"/>
                <a:gd name="T50" fmla="*/ 0 w 3951"/>
                <a:gd name="T51" fmla="*/ 0 h 4175"/>
                <a:gd name="T52" fmla="*/ 0 w 3951"/>
                <a:gd name="T53" fmla="*/ 0 h 4175"/>
                <a:gd name="T54" fmla="*/ 0 w 3951"/>
                <a:gd name="T55" fmla="*/ 0 h 4175"/>
                <a:gd name="T56" fmla="*/ 0 w 3951"/>
                <a:gd name="T57" fmla="*/ 0 h 4175"/>
                <a:gd name="T58" fmla="*/ 0 w 3951"/>
                <a:gd name="T59" fmla="*/ 0 h 4175"/>
                <a:gd name="T60" fmla="*/ 0 w 3951"/>
                <a:gd name="T61" fmla="*/ 0 h 4175"/>
                <a:gd name="T62" fmla="*/ 0 w 3951"/>
                <a:gd name="T63" fmla="*/ 0 h 4175"/>
                <a:gd name="T64" fmla="*/ 0 w 3951"/>
                <a:gd name="T65" fmla="*/ 0 h 4175"/>
                <a:gd name="T66" fmla="*/ 0 w 3951"/>
                <a:gd name="T67" fmla="*/ 0 h 4175"/>
                <a:gd name="T68" fmla="*/ 0 w 3951"/>
                <a:gd name="T69" fmla="*/ 0 h 4175"/>
                <a:gd name="T70" fmla="*/ 0 w 3951"/>
                <a:gd name="T71" fmla="*/ 0 h 4175"/>
                <a:gd name="T72" fmla="*/ 0 w 3951"/>
                <a:gd name="T73" fmla="*/ 0 h 4175"/>
                <a:gd name="T74" fmla="*/ 0 w 3951"/>
                <a:gd name="T75" fmla="*/ 0 h 4175"/>
                <a:gd name="T76" fmla="*/ 0 w 3951"/>
                <a:gd name="T77" fmla="*/ 0 h 4175"/>
                <a:gd name="T78" fmla="*/ 0 w 3951"/>
                <a:gd name="T79" fmla="*/ 0 h 4175"/>
                <a:gd name="T80" fmla="*/ 0 w 3951"/>
                <a:gd name="T81" fmla="*/ 0 h 4175"/>
                <a:gd name="T82" fmla="*/ 0 w 3951"/>
                <a:gd name="T83" fmla="*/ 0 h 4175"/>
                <a:gd name="T84" fmla="*/ 0 w 3951"/>
                <a:gd name="T85" fmla="*/ 0 h 4175"/>
                <a:gd name="T86" fmla="*/ 0 w 3951"/>
                <a:gd name="T87" fmla="*/ 0 h 4175"/>
                <a:gd name="T88" fmla="*/ 0 w 3951"/>
                <a:gd name="T89" fmla="*/ 0 h 4175"/>
                <a:gd name="T90" fmla="*/ 0 w 3951"/>
                <a:gd name="T91" fmla="*/ 0 h 4175"/>
                <a:gd name="T92" fmla="*/ 0 w 3951"/>
                <a:gd name="T93" fmla="*/ 0 h 4175"/>
                <a:gd name="T94" fmla="*/ 0 w 3951"/>
                <a:gd name="T95" fmla="*/ 0 h 4175"/>
                <a:gd name="T96" fmla="*/ 0 w 3951"/>
                <a:gd name="T97" fmla="*/ 0 h 4175"/>
                <a:gd name="T98" fmla="*/ 0 w 3951"/>
                <a:gd name="T99" fmla="*/ 0 h 4175"/>
                <a:gd name="T100" fmla="*/ 0 w 3951"/>
                <a:gd name="T101" fmla="*/ 0 h 4175"/>
                <a:gd name="T102" fmla="*/ 0 w 3951"/>
                <a:gd name="T103" fmla="*/ 0 h 4175"/>
                <a:gd name="T104" fmla="*/ 0 w 3951"/>
                <a:gd name="T105" fmla="*/ 0 h 4175"/>
                <a:gd name="T106" fmla="*/ 0 w 3951"/>
                <a:gd name="T107" fmla="*/ 0 h 4175"/>
                <a:gd name="T108" fmla="*/ 0 w 3951"/>
                <a:gd name="T109" fmla="*/ 0 h 4175"/>
                <a:gd name="T110" fmla="*/ 0 w 3951"/>
                <a:gd name="T111" fmla="*/ 0 h 4175"/>
                <a:gd name="T112" fmla="*/ 0 w 3951"/>
                <a:gd name="T113" fmla="*/ 0 h 417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951"/>
                <a:gd name="T172" fmla="*/ 0 h 4175"/>
                <a:gd name="T173" fmla="*/ 3951 w 3951"/>
                <a:gd name="T174" fmla="*/ 4175 h 417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951" h="4175">
                  <a:moveTo>
                    <a:pt x="442" y="4175"/>
                  </a:moveTo>
                  <a:lnTo>
                    <a:pt x="544" y="3997"/>
                  </a:lnTo>
                  <a:lnTo>
                    <a:pt x="749" y="3677"/>
                  </a:lnTo>
                  <a:lnTo>
                    <a:pt x="971" y="3360"/>
                  </a:lnTo>
                  <a:lnTo>
                    <a:pt x="1202" y="3057"/>
                  </a:lnTo>
                  <a:lnTo>
                    <a:pt x="1449" y="2764"/>
                  </a:lnTo>
                  <a:lnTo>
                    <a:pt x="1707" y="2478"/>
                  </a:lnTo>
                  <a:lnTo>
                    <a:pt x="1976" y="2210"/>
                  </a:lnTo>
                  <a:lnTo>
                    <a:pt x="2121" y="2350"/>
                  </a:lnTo>
                  <a:lnTo>
                    <a:pt x="2387" y="2629"/>
                  </a:lnTo>
                  <a:lnTo>
                    <a:pt x="2634" y="2917"/>
                  </a:lnTo>
                  <a:lnTo>
                    <a:pt x="2875" y="3220"/>
                  </a:lnTo>
                  <a:lnTo>
                    <a:pt x="3101" y="3527"/>
                  </a:lnTo>
                  <a:lnTo>
                    <a:pt x="3313" y="3851"/>
                  </a:lnTo>
                  <a:lnTo>
                    <a:pt x="3511" y="4175"/>
                  </a:lnTo>
                  <a:lnTo>
                    <a:pt x="3951" y="3339"/>
                  </a:lnTo>
                  <a:lnTo>
                    <a:pt x="3925" y="3317"/>
                  </a:lnTo>
                  <a:lnTo>
                    <a:pt x="3574" y="3059"/>
                  </a:lnTo>
                  <a:lnTo>
                    <a:pt x="3229" y="2789"/>
                  </a:lnTo>
                  <a:lnTo>
                    <a:pt x="2897" y="2507"/>
                  </a:lnTo>
                  <a:lnTo>
                    <a:pt x="2574" y="2210"/>
                  </a:lnTo>
                  <a:lnTo>
                    <a:pt x="2264" y="1900"/>
                  </a:lnTo>
                  <a:lnTo>
                    <a:pt x="2356" y="1805"/>
                  </a:lnTo>
                  <a:lnTo>
                    <a:pt x="2680" y="1486"/>
                  </a:lnTo>
                  <a:lnTo>
                    <a:pt x="3024" y="1175"/>
                  </a:lnTo>
                  <a:lnTo>
                    <a:pt x="3369" y="879"/>
                  </a:lnTo>
                  <a:lnTo>
                    <a:pt x="3733" y="598"/>
                  </a:lnTo>
                  <a:lnTo>
                    <a:pt x="3341" y="0"/>
                  </a:lnTo>
                  <a:lnTo>
                    <a:pt x="3154" y="284"/>
                  </a:lnTo>
                  <a:lnTo>
                    <a:pt x="2944" y="576"/>
                  </a:lnTo>
                  <a:lnTo>
                    <a:pt x="2717" y="857"/>
                  </a:lnTo>
                  <a:lnTo>
                    <a:pt x="2485" y="1129"/>
                  </a:lnTo>
                  <a:lnTo>
                    <a:pt x="2236" y="1390"/>
                  </a:lnTo>
                  <a:lnTo>
                    <a:pt x="1976" y="1639"/>
                  </a:lnTo>
                  <a:lnTo>
                    <a:pt x="1732" y="1399"/>
                  </a:lnTo>
                  <a:lnTo>
                    <a:pt x="1482" y="1145"/>
                  </a:lnTo>
                  <a:lnTo>
                    <a:pt x="1242" y="875"/>
                  </a:lnTo>
                  <a:lnTo>
                    <a:pt x="1020" y="592"/>
                  </a:lnTo>
                  <a:lnTo>
                    <a:pt x="806" y="300"/>
                  </a:lnTo>
                  <a:lnTo>
                    <a:pt x="609" y="0"/>
                  </a:lnTo>
                  <a:lnTo>
                    <a:pt x="222" y="598"/>
                  </a:lnTo>
                  <a:lnTo>
                    <a:pt x="328" y="677"/>
                  </a:lnTo>
                  <a:lnTo>
                    <a:pt x="681" y="965"/>
                  </a:lnTo>
                  <a:lnTo>
                    <a:pt x="1028" y="1262"/>
                  </a:lnTo>
                  <a:lnTo>
                    <a:pt x="1362" y="1577"/>
                  </a:lnTo>
                  <a:lnTo>
                    <a:pt x="1683" y="1900"/>
                  </a:lnTo>
                  <a:lnTo>
                    <a:pt x="1659" y="1927"/>
                  </a:lnTo>
                  <a:lnTo>
                    <a:pt x="1350" y="2234"/>
                  </a:lnTo>
                  <a:lnTo>
                    <a:pt x="1030" y="2533"/>
                  </a:lnTo>
                  <a:lnTo>
                    <a:pt x="696" y="2811"/>
                  </a:lnTo>
                  <a:lnTo>
                    <a:pt x="353" y="3079"/>
                  </a:lnTo>
                  <a:lnTo>
                    <a:pt x="0" y="3339"/>
                  </a:lnTo>
                  <a:lnTo>
                    <a:pt x="442" y="4175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bldLvl="2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External coherence</a:t>
            </a:r>
            <a:endParaRPr lang="en-GB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Consideration of coherence between processor cache and main memory is </a:t>
            </a:r>
            <a:r>
              <a:rPr lang="en-GB" i="1" dirty="0"/>
              <a:t>not enough</a:t>
            </a:r>
            <a:r>
              <a:rPr lang="en-GB" dirty="0"/>
              <a:t> if we have a system with </a:t>
            </a:r>
            <a:r>
              <a:rPr lang="en-GB" i="1" dirty="0"/>
              <a:t>more than one</a:t>
            </a:r>
            <a:r>
              <a:rPr lang="en-GB" dirty="0"/>
              <a:t> processor or other bus-master (multi-CPU, DMA, etc.).</a:t>
            </a:r>
            <a:endParaRPr lang="en-GB" dirty="0"/>
          </a:p>
          <a:p>
            <a:pPr>
              <a:defRPr/>
            </a:pPr>
            <a:r>
              <a:rPr lang="en-GB" dirty="0"/>
              <a:t>There are software and hardware protocols to monitor coherence e.g. the MESI protocol, as used in the Pentium and other Intel CPUs.</a:t>
            </a:r>
            <a:endParaRPr lang="en-GB" dirty="0"/>
          </a:p>
          <a:p>
            <a:pPr>
              <a:defRPr/>
            </a:pPr>
            <a:r>
              <a:rPr lang="en-GB" dirty="0"/>
              <a:t>Processors have to </a:t>
            </a:r>
            <a:r>
              <a:rPr lang="en-US" altLang="en-GB" dirty="0"/>
              <a:t>monitor </a:t>
            </a:r>
            <a:r>
              <a:rPr lang="en-GB" dirty="0"/>
              <a:t>(“snoop”) on reads made by other processors in order to update the status of their own cache(s). 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MESI protocol</a:t>
            </a:r>
            <a:endParaRPr lang="en-GB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Stores two bits for each cache way, indicating one of </a:t>
            </a:r>
            <a:r>
              <a:rPr lang="en-GB" i="1" dirty="0"/>
              <a:t>four possible states</a:t>
            </a:r>
            <a:r>
              <a:rPr lang="en-GB" dirty="0"/>
              <a:t> for that data:</a:t>
            </a:r>
            <a:endParaRPr lang="en-GB" dirty="0"/>
          </a:p>
          <a:p>
            <a:pPr lvl="1">
              <a:defRPr/>
            </a:pPr>
            <a:r>
              <a:rPr lang="en-GB" dirty="0">
                <a:solidFill>
                  <a:srgbClr val="4365E2"/>
                </a:solidFill>
              </a:rPr>
              <a:t>Modified</a:t>
            </a:r>
            <a:r>
              <a:rPr lang="en-GB" dirty="0"/>
              <a:t> - data in this way is </a:t>
            </a:r>
            <a:r>
              <a:rPr lang="en-GB" i="1" dirty="0"/>
              <a:t>newer than in main memory</a:t>
            </a:r>
            <a:r>
              <a:rPr lang="en-GB" dirty="0"/>
              <a:t> - </a:t>
            </a:r>
            <a:r>
              <a:rPr lang="en-GB" dirty="0">
                <a:solidFill>
                  <a:srgbClr val="FF0000"/>
                </a:solidFill>
              </a:rPr>
              <a:t>must be written back</a:t>
            </a:r>
            <a:r>
              <a:rPr lang="en-GB" dirty="0"/>
              <a:t> if another processor tries to read that address </a:t>
            </a:r>
            <a:endParaRPr lang="en-GB" dirty="0"/>
          </a:p>
          <a:p>
            <a:pPr lvl="1">
              <a:defRPr/>
            </a:pPr>
            <a:r>
              <a:rPr lang="en-GB" dirty="0">
                <a:solidFill>
                  <a:srgbClr val="4365E2"/>
                </a:solidFill>
              </a:rPr>
              <a:t>Exclusive </a:t>
            </a:r>
            <a:r>
              <a:rPr lang="en-GB" dirty="0"/>
              <a:t>- data in this way matches main memory and it is the </a:t>
            </a:r>
            <a:r>
              <a:rPr lang="en-GB" i="1" dirty="0"/>
              <a:t>only copy</a:t>
            </a:r>
            <a:endParaRPr lang="en-GB" i="1" dirty="0"/>
          </a:p>
          <a:p>
            <a:pPr lvl="1">
              <a:defRPr/>
            </a:pPr>
            <a:r>
              <a:rPr lang="en-GB" dirty="0">
                <a:solidFill>
                  <a:srgbClr val="4365E2"/>
                </a:solidFill>
              </a:rPr>
              <a:t>Shared </a:t>
            </a:r>
            <a:r>
              <a:rPr lang="en-GB" dirty="0"/>
              <a:t>- data in this way matches main memory but there are </a:t>
            </a:r>
            <a:r>
              <a:rPr lang="en-GB" i="1" dirty="0"/>
              <a:t>other copies</a:t>
            </a:r>
            <a:endParaRPr lang="en-GB" i="1" dirty="0"/>
          </a:p>
          <a:p>
            <a:pPr lvl="1">
              <a:defRPr/>
            </a:pPr>
            <a:r>
              <a:rPr lang="en-GB" dirty="0">
                <a:solidFill>
                  <a:srgbClr val="4365E2"/>
                </a:solidFill>
              </a:rPr>
              <a:t>Invalid </a:t>
            </a:r>
            <a:r>
              <a:rPr lang="en-GB" dirty="0"/>
              <a:t>- data is invalid or empty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ldLvl="2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D262-C824-4B20-9CA4-5EF0F9A876AE}" type="slidenum">
              <a:rPr lang="en-GB" altLang="en-US" smtClean="0"/>
            </a:fld>
            <a:endParaRPr lang="en-GB" altLang="en-US" dirty="0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002285" y="2648937"/>
            <a:ext cx="4187439" cy="2733773"/>
          </a:xfrm>
        </p:spPr>
        <p:txBody>
          <a:bodyPr/>
          <a:lstStyle/>
          <a:p>
            <a:pPr algn="ctr">
              <a:defRPr/>
            </a:pPr>
            <a:r>
              <a:rPr lang="en-GB" dirty="0"/>
              <a:t>Caches in Intel Processors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" name="Subtitle 1"/>
          <p:cNvSpPr>
            <a:spLocks noGrp="1"/>
          </p:cNvSpPr>
          <p:nvPr>
            <p:ph type="subTitle" idx="4294967295"/>
          </p:nvPr>
        </p:nvSpPr>
        <p:spPr>
          <a:xfrm>
            <a:off x="2668270" y="3686175"/>
            <a:ext cx="7759065" cy="249301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GB" sz="2400" dirty="0"/>
              <a:t>(processors from other manufacturers have gone through a similar evolution)</a:t>
            </a:r>
            <a:endParaRPr lang="en-GB" sz="2400" dirty="0"/>
          </a:p>
          <a:p>
            <a:pPr algn="ctr">
              <a:defRPr/>
            </a:pPr>
            <a:endParaRPr lang="en-GB" dirty="0"/>
          </a:p>
          <a:p>
            <a:pPr algn="ctr">
              <a:defRPr/>
            </a:pPr>
            <a:r>
              <a:rPr lang="en-US" altLang="en-GB" dirty="0"/>
              <a:t>You do not need to remember the details</a:t>
            </a:r>
            <a:endParaRPr lang="en-US" alt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Pentium Cache </a:t>
            </a:r>
            <a:endParaRPr lang="en-US" dirty="0"/>
          </a:p>
        </p:txBody>
      </p:sp>
      <p:sp>
        <p:nvSpPr>
          <p:cNvPr id="1331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Intel Pentium has </a:t>
            </a:r>
            <a:r>
              <a:rPr lang="en-US" dirty="0">
                <a:solidFill>
                  <a:srgbClr val="4365E2"/>
                </a:solidFill>
              </a:rPr>
              <a:t>two</a:t>
            </a:r>
            <a:r>
              <a:rPr lang="en-US" dirty="0"/>
              <a:t> on-chip caches: </a:t>
            </a:r>
            <a:endParaRPr lang="en-US" dirty="0"/>
          </a:p>
          <a:p>
            <a:pPr lvl="1">
              <a:defRPr/>
            </a:pPr>
            <a:r>
              <a:rPr lang="en-US" dirty="0"/>
              <a:t>a data cache</a:t>
            </a:r>
            <a:endParaRPr lang="en-US" dirty="0"/>
          </a:p>
          <a:p>
            <a:pPr lvl="1">
              <a:defRPr/>
            </a:pPr>
            <a:r>
              <a:rPr lang="en-US" dirty="0"/>
              <a:t>an instruction cache</a:t>
            </a:r>
            <a:endParaRPr lang="en-US" dirty="0"/>
          </a:p>
          <a:p>
            <a:pPr>
              <a:defRPr/>
            </a:pPr>
            <a:r>
              <a:rPr lang="en-US" dirty="0"/>
              <a:t>Each cache is 2-way set-associative with 128 sets, each with a way size of 32 bytes.  </a:t>
            </a:r>
            <a:endParaRPr lang="en-US" dirty="0"/>
          </a:p>
          <a:p>
            <a:pPr>
              <a:defRPr/>
            </a:pPr>
            <a:r>
              <a:rPr lang="en-US" dirty="0"/>
              <a:t>It is possible for data items down to the size     of a byte to be addressed in the cache.</a:t>
            </a:r>
            <a:endParaRPr lang="en-US" dirty="0"/>
          </a:p>
          <a:p>
            <a:pPr>
              <a:defRPr/>
            </a:pPr>
            <a:r>
              <a:rPr lang="en-US" dirty="0"/>
              <a:t>Cache size = </a:t>
            </a:r>
            <a:r>
              <a:rPr lang="en-US" dirty="0">
                <a:solidFill>
                  <a:srgbClr val="4365E2"/>
                </a:solidFill>
              </a:rPr>
              <a:t>line size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rgbClr val="4365E2"/>
                </a:solidFill>
              </a:rPr>
              <a:t># of ways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solidFill>
                  <a:srgbClr val="4365E2"/>
                </a:solidFill>
              </a:rPr>
              <a:t># of sets</a:t>
            </a:r>
            <a:r>
              <a:rPr lang="en-US" dirty="0"/>
              <a:t> (8K)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705377" y="-66"/>
            <a:ext cx="1290086" cy="877259"/>
          </a:xfrm>
          <a:prstGeom prst="rect">
            <a:avLst/>
          </a:prstGeom>
          <a:noFill/>
          <a:ln w="31750" cap="flat" cmpd="sng">
            <a:noFill/>
            <a:prstDash val="solid"/>
            <a:miter lim="800000"/>
            <a:headEnd type="none" w="sm" len="sm"/>
            <a:tailEnd type="none" w="lg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 extrusionH="76200" contourW="12700">
            <a:bevelT/>
            <a:extrusionClr>
              <a:schemeClr val="bg1"/>
            </a:extrusionClr>
            <a:contourClr>
              <a:schemeClr val="bg1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Pentium Cache </a:t>
            </a:r>
            <a:endParaRPr lang="en-US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i="1" dirty="0"/>
              <a:t>Write-back</a:t>
            </a:r>
            <a:r>
              <a:rPr lang="en-US" dirty="0"/>
              <a:t> is used by default, but can be set to perform </a:t>
            </a:r>
            <a:r>
              <a:rPr lang="en-US" i="1" dirty="0"/>
              <a:t>write-through</a:t>
            </a:r>
            <a:r>
              <a:rPr lang="en-US" dirty="0"/>
              <a:t> caching</a:t>
            </a:r>
            <a:endParaRPr lang="en-US" dirty="0"/>
          </a:p>
          <a:p>
            <a:pPr lvl="1">
              <a:defRPr/>
            </a:pPr>
            <a:r>
              <a:rPr lang="en-US" i="1" dirty="0"/>
              <a:t>Least-recently used</a:t>
            </a:r>
            <a:r>
              <a:rPr lang="en-US" dirty="0"/>
              <a:t> (LRU) replacement algorithm is used</a:t>
            </a:r>
            <a:endParaRPr lang="en-US" dirty="0"/>
          </a:p>
          <a:p>
            <a:pPr lvl="1">
              <a:defRPr/>
            </a:pPr>
            <a:r>
              <a:rPr lang="en-US" dirty="0"/>
              <a:t>A </a:t>
            </a:r>
            <a:r>
              <a:rPr lang="en-US" i="1" dirty="0"/>
              <a:t>single LRU bit</a:t>
            </a:r>
            <a:r>
              <a:rPr lang="en-US" dirty="0"/>
              <a:t> is associated with </a:t>
            </a:r>
            <a:r>
              <a:rPr lang="en-US" i="1" dirty="0"/>
              <a:t>each set</a:t>
            </a:r>
            <a:r>
              <a:rPr lang="en-US" dirty="0"/>
              <a:t> of two ways to indicate which way should be replaced first - stored in a 128-bit table</a:t>
            </a:r>
            <a:endParaRPr lang="en-US" dirty="0"/>
          </a:p>
          <a:p>
            <a:pPr lvl="1">
              <a:defRPr/>
            </a:pPr>
            <a:r>
              <a:rPr lang="en-US" dirty="0"/>
              <a:t>N.B. LRU and MESI bits are </a:t>
            </a:r>
            <a:r>
              <a:rPr lang="en-US" i="1" dirty="0"/>
              <a:t>not</a:t>
            </a:r>
            <a:r>
              <a:rPr lang="en-US" dirty="0"/>
              <a:t> part of </a:t>
            </a:r>
            <a:r>
              <a:rPr lang="en-US" i="1" dirty="0"/>
              <a:t>cache size calculations</a:t>
            </a:r>
            <a:r>
              <a:rPr lang="en-US" dirty="0"/>
              <a:t> – size is </a:t>
            </a:r>
            <a:r>
              <a:rPr lang="en-US" i="1" dirty="0"/>
              <a:t>payload only</a:t>
            </a:r>
            <a:r>
              <a:rPr lang="en-US" dirty="0"/>
              <a:t>!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512972" y="61529"/>
            <a:ext cx="1290086" cy="877259"/>
          </a:xfrm>
          <a:prstGeom prst="rect">
            <a:avLst/>
          </a:prstGeom>
          <a:noFill/>
          <a:ln w="31750" cap="flat" cmpd="sng">
            <a:noFill/>
            <a:prstDash val="solid"/>
            <a:miter lim="800000"/>
            <a:headEnd type="none" w="sm" len="sm"/>
            <a:tailEnd type="none" w="lg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 extrusionH="76200" contourW="12700">
            <a:bevelT/>
            <a:extrusionClr>
              <a:schemeClr val="bg1"/>
            </a:extrusionClr>
            <a:contourClr>
              <a:schemeClr val="bg1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Caching History</a:t>
            </a:r>
            <a:endParaRPr lang="en-US" dirty="0"/>
          </a:p>
        </p:txBody>
      </p:sp>
      <p:sp>
        <p:nvSpPr>
          <p:cNvPr id="2970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Memory caching in Intel processors:</a:t>
            </a:r>
            <a:endParaRPr lang="en-US" dirty="0"/>
          </a:p>
          <a:p>
            <a:pPr lvl="1">
              <a:defRPr/>
            </a:pPr>
            <a:r>
              <a:rPr lang="en-US" dirty="0"/>
              <a:t>80386 (and earlier) - </a:t>
            </a:r>
            <a:r>
              <a:rPr lang="en-US" i="1" dirty="0"/>
              <a:t>no</a:t>
            </a:r>
            <a:r>
              <a:rPr lang="en-US" dirty="0"/>
              <a:t> internal cache</a:t>
            </a:r>
            <a:endParaRPr lang="en-US" dirty="0"/>
          </a:p>
          <a:p>
            <a:pPr lvl="1">
              <a:defRPr/>
            </a:pPr>
            <a:r>
              <a:rPr lang="en-US" dirty="0"/>
              <a:t>80486 - 8K </a:t>
            </a:r>
            <a:r>
              <a:rPr lang="en-US" i="1" dirty="0"/>
              <a:t>L1</a:t>
            </a:r>
            <a:r>
              <a:rPr lang="en-US" sz="1800" i="1" dirty="0"/>
              <a:t> (unified)</a:t>
            </a:r>
            <a:endParaRPr lang="en-US" i="1" dirty="0"/>
          </a:p>
          <a:p>
            <a:pPr lvl="1">
              <a:defRPr/>
            </a:pPr>
            <a:r>
              <a:rPr lang="en-US" dirty="0"/>
              <a:t>Pentium - 2 x 8K </a:t>
            </a:r>
            <a:r>
              <a:rPr lang="en-US" i="1" dirty="0"/>
              <a:t>L1 </a:t>
            </a:r>
            <a:r>
              <a:rPr lang="en-US" sz="1800" i="1" dirty="0"/>
              <a:t>(one for data / one for instructions)</a:t>
            </a:r>
            <a:endParaRPr lang="en-US" dirty="0"/>
          </a:p>
          <a:p>
            <a:pPr lvl="1">
              <a:defRPr/>
            </a:pPr>
            <a:r>
              <a:rPr lang="en-US" dirty="0"/>
              <a:t>Pentium Pro - </a:t>
            </a:r>
            <a:r>
              <a:rPr lang="en-GB" dirty="0"/>
              <a:t>2 x 8K </a:t>
            </a:r>
            <a:r>
              <a:rPr lang="en-GB" i="1" dirty="0"/>
              <a:t>L1</a:t>
            </a:r>
            <a:r>
              <a:rPr lang="en-GB" dirty="0"/>
              <a:t>, 256K </a:t>
            </a:r>
            <a:r>
              <a:rPr lang="en-GB" i="1" dirty="0"/>
              <a:t>L2 2-way</a:t>
            </a:r>
            <a:endParaRPr lang="en-US" i="1" dirty="0"/>
          </a:p>
          <a:p>
            <a:pPr lvl="1">
              <a:defRPr/>
            </a:pPr>
            <a:r>
              <a:rPr lang="en-US" dirty="0"/>
              <a:t>Pentium II / III - 2 x 16K </a:t>
            </a:r>
            <a:r>
              <a:rPr lang="en-US" i="1" dirty="0"/>
              <a:t>L1</a:t>
            </a:r>
            <a:r>
              <a:rPr lang="en-US" dirty="0"/>
              <a:t>, 512K </a:t>
            </a:r>
            <a:r>
              <a:rPr lang="en-US" i="1" dirty="0"/>
              <a:t>L2 4-way</a:t>
            </a:r>
            <a:endParaRPr lang="en-US" dirty="0"/>
          </a:p>
          <a:p>
            <a:pPr lvl="1">
              <a:defRPr/>
            </a:pPr>
            <a:r>
              <a:rPr lang="en-GB" dirty="0"/>
              <a:t>Pentium IV - 8K </a:t>
            </a:r>
            <a:r>
              <a:rPr lang="en-GB" i="1" dirty="0"/>
              <a:t>L1</a:t>
            </a:r>
            <a:r>
              <a:rPr lang="en-GB" dirty="0"/>
              <a:t>, 256K </a:t>
            </a:r>
            <a:r>
              <a:rPr lang="en-GB" i="1" dirty="0"/>
              <a:t>L2 8-way</a:t>
            </a:r>
            <a:r>
              <a:rPr lang="en-GB" dirty="0"/>
              <a:t>, 12K Execution Trace Cache*</a:t>
            </a:r>
            <a:endParaRPr lang="en-GB" sz="1800" dirty="0"/>
          </a:p>
          <a:p>
            <a:pPr lvl="1">
              <a:defRPr/>
            </a:pPr>
            <a:endParaRPr lang="en-GB" sz="1800" dirty="0"/>
          </a:p>
          <a:p>
            <a:pPr marL="57150">
              <a:defRPr/>
            </a:pPr>
            <a:r>
              <a:rPr lang="en-GB" sz="1400" dirty="0"/>
              <a:t>* part of Intel’s NetBurst architecture; not used in later processors</a:t>
            </a:r>
            <a:endParaRPr lang="en-GB" sz="1400" dirty="0"/>
          </a:p>
          <a:p>
            <a:pPr lvl="1">
              <a:defRPr/>
            </a:pP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576472" y="-66"/>
            <a:ext cx="1290086" cy="877259"/>
          </a:xfrm>
          <a:prstGeom prst="rect">
            <a:avLst/>
          </a:prstGeom>
          <a:noFill/>
          <a:ln w="31750" cap="flat" cmpd="sng">
            <a:noFill/>
            <a:prstDash val="solid"/>
            <a:miter lim="800000"/>
            <a:headEnd type="none" w="sm" len="sm"/>
            <a:tailEnd type="none" w="lg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 extrusionH="76200" contourW="12700">
            <a:bevelT/>
            <a:extrusionClr>
              <a:schemeClr val="bg1"/>
            </a:extrusionClr>
            <a:contourClr>
              <a:schemeClr val="bg1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7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7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7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2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Caching History</a:t>
            </a:r>
            <a:endParaRPr lang="en-US" dirty="0"/>
          </a:p>
        </p:txBody>
      </p:sp>
      <p:sp>
        <p:nvSpPr>
          <p:cNvPr id="2970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">
              <a:defRPr/>
            </a:pPr>
            <a:r>
              <a:rPr lang="en-GB" dirty="0"/>
              <a:t>In later processors, cache size varies by model and is one of the main distinguishing features between CPU models e.g.</a:t>
            </a:r>
            <a:endParaRPr lang="en-GB" dirty="0"/>
          </a:p>
          <a:p>
            <a:pPr lvl="1">
              <a:defRPr/>
            </a:pPr>
            <a:r>
              <a:rPr lang="en-GB" dirty="0"/>
              <a:t>Core i5 650</a:t>
            </a:r>
            <a:r>
              <a:rPr lang="en-GB" sz="1600" dirty="0"/>
              <a:t> (2 core) - 2 x 32K</a:t>
            </a:r>
            <a:r>
              <a:rPr lang="en-GB" sz="1600" i="1" dirty="0"/>
              <a:t> L1</a:t>
            </a:r>
            <a:r>
              <a:rPr lang="en-GB" sz="1600" dirty="0"/>
              <a:t>, 256K </a:t>
            </a:r>
            <a:r>
              <a:rPr lang="en-GB" sz="1600" i="1" dirty="0"/>
              <a:t>L2 per core </a:t>
            </a:r>
            <a:r>
              <a:rPr lang="en-GB" sz="1600" dirty="0"/>
              <a:t>plus 4MB </a:t>
            </a:r>
            <a:r>
              <a:rPr lang="en-GB" sz="1600" i="1" dirty="0"/>
              <a:t>L3</a:t>
            </a:r>
            <a:endParaRPr lang="en-GB" i="1" dirty="0"/>
          </a:p>
          <a:p>
            <a:pPr lvl="1">
              <a:defRPr/>
            </a:pPr>
            <a:r>
              <a:rPr lang="en-GB" dirty="0"/>
              <a:t>Core i5 750</a:t>
            </a:r>
            <a:r>
              <a:rPr lang="en-GB" sz="1600" dirty="0"/>
              <a:t> (4 core) - 2 x 32K</a:t>
            </a:r>
            <a:r>
              <a:rPr lang="en-GB" sz="1600" i="1" dirty="0"/>
              <a:t> L1</a:t>
            </a:r>
            <a:r>
              <a:rPr lang="en-GB" sz="1600" dirty="0"/>
              <a:t>, 256K </a:t>
            </a:r>
            <a:r>
              <a:rPr lang="en-GB" sz="1600" i="1" dirty="0"/>
              <a:t>L2 per core </a:t>
            </a:r>
            <a:r>
              <a:rPr lang="en-GB" sz="1600" dirty="0"/>
              <a:t>plus 8MB </a:t>
            </a:r>
            <a:r>
              <a:rPr lang="en-GB" sz="1600" i="1" dirty="0"/>
              <a:t>L3</a:t>
            </a:r>
            <a:endParaRPr lang="en-GB" i="1" dirty="0"/>
          </a:p>
          <a:p>
            <a:pPr lvl="1">
              <a:defRPr/>
            </a:pPr>
            <a:r>
              <a:rPr lang="en-GB" dirty="0"/>
              <a:t>Core i5 2500</a:t>
            </a:r>
            <a:r>
              <a:rPr lang="en-GB" sz="1600" dirty="0"/>
              <a:t> (4 core) - 2 x 32K</a:t>
            </a:r>
            <a:r>
              <a:rPr lang="en-GB" sz="1600" i="1" dirty="0"/>
              <a:t> L1</a:t>
            </a:r>
            <a:r>
              <a:rPr lang="en-GB" sz="1600" dirty="0"/>
              <a:t>, 256K </a:t>
            </a:r>
            <a:r>
              <a:rPr lang="en-GB" sz="1600" i="1" dirty="0"/>
              <a:t>L2 per core </a:t>
            </a:r>
            <a:r>
              <a:rPr lang="en-GB" sz="1600" dirty="0"/>
              <a:t>plus 6MB </a:t>
            </a:r>
            <a:r>
              <a:rPr lang="en-GB" sz="1600" i="1" dirty="0"/>
              <a:t>L3</a:t>
            </a:r>
            <a:endParaRPr lang="en-GB" i="1" dirty="0"/>
          </a:p>
          <a:p>
            <a:pPr lvl="1">
              <a:defRPr/>
            </a:pPr>
            <a:r>
              <a:rPr lang="en-GB" dirty="0"/>
              <a:t>Core i7 920</a:t>
            </a:r>
            <a:r>
              <a:rPr lang="en-GB" sz="1600" dirty="0"/>
              <a:t> (4 core) - 2 x 32K</a:t>
            </a:r>
            <a:r>
              <a:rPr lang="en-GB" sz="1600" i="1" dirty="0"/>
              <a:t> L1</a:t>
            </a:r>
            <a:r>
              <a:rPr lang="en-GB" sz="1600" dirty="0"/>
              <a:t>, 256K </a:t>
            </a:r>
            <a:r>
              <a:rPr lang="en-GB" sz="1600" i="1" dirty="0"/>
              <a:t>L2 per core </a:t>
            </a:r>
            <a:r>
              <a:rPr lang="en-GB" sz="1600" dirty="0"/>
              <a:t>plus 8MB </a:t>
            </a:r>
            <a:r>
              <a:rPr lang="en-GB" sz="1600" i="1" dirty="0"/>
              <a:t>L3</a:t>
            </a:r>
            <a:endParaRPr lang="en-GB" i="1" dirty="0"/>
          </a:p>
          <a:p>
            <a:pPr lvl="1">
              <a:defRPr/>
            </a:pPr>
            <a:r>
              <a:rPr lang="en-GB" dirty="0"/>
              <a:t>Core i7 970</a:t>
            </a:r>
            <a:r>
              <a:rPr lang="en-GB" sz="1600" dirty="0"/>
              <a:t> (6 core) - 2 x 32K</a:t>
            </a:r>
            <a:r>
              <a:rPr lang="en-GB" sz="1600" i="1" dirty="0"/>
              <a:t> L1</a:t>
            </a:r>
            <a:r>
              <a:rPr lang="en-GB" sz="1600" dirty="0"/>
              <a:t>, 256K </a:t>
            </a:r>
            <a:r>
              <a:rPr lang="en-GB" sz="1600" i="1" dirty="0"/>
              <a:t>L2 per core </a:t>
            </a:r>
            <a:r>
              <a:rPr lang="en-GB" sz="1600" dirty="0"/>
              <a:t>plus 12MB </a:t>
            </a:r>
            <a:r>
              <a:rPr lang="en-GB" sz="1600" i="1" dirty="0"/>
              <a:t>L3</a:t>
            </a:r>
            <a:endParaRPr lang="en-GB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505352" y="-66"/>
            <a:ext cx="1290086" cy="877259"/>
          </a:xfrm>
          <a:prstGeom prst="rect">
            <a:avLst/>
          </a:prstGeom>
          <a:noFill/>
          <a:ln w="31750" cap="flat" cmpd="sng">
            <a:noFill/>
            <a:prstDash val="solid"/>
            <a:miter lim="800000"/>
            <a:headEnd type="none" w="sm" len="sm"/>
            <a:tailEnd type="none" w="lg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 extrusionH="76200" contourW="12700">
            <a:bevelT/>
            <a:extrusionClr>
              <a:schemeClr val="bg1"/>
            </a:extrusionClr>
            <a:contourClr>
              <a:schemeClr val="bg1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2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Pentium III Cache</a:t>
            </a:r>
            <a:endParaRPr lang="en-GB" dirty="0"/>
          </a:p>
        </p:txBody>
      </p:sp>
      <p:pic>
        <p:nvPicPr>
          <p:cNvPr id="32772" name="Picture 4" descr="Pentiumcaches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" r="1455" b="1654"/>
          <a:stretch>
            <a:fillRect/>
          </a:stretch>
        </p:blipFill>
        <p:spPr>
          <a:xfrm>
            <a:off x="3190430" y="1144424"/>
            <a:ext cx="5819686" cy="5116836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pic>
        <p:nvPicPr>
          <p:cNvPr id="32771" name="Picture 3" descr="Pentium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3852" y="964788"/>
            <a:ext cx="12430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4192" y="1472101"/>
            <a:ext cx="4139461" cy="4138578"/>
          </a:xfrm>
          <a:prstGeom prst="rect">
            <a:avLst/>
          </a:prstGeom>
        </p:spPr>
      </p:pic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i="1" dirty="0"/>
              <a:t>Your</a:t>
            </a:r>
            <a:r>
              <a:rPr lang="en-GB" dirty="0"/>
              <a:t> Cache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  <p:pic>
        <p:nvPicPr>
          <p:cNvPr id="3379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1355" y="1481495"/>
            <a:ext cx="4139461" cy="4129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Oval 3"/>
          <p:cNvSpPr>
            <a:spLocks noChangeArrowheads="1"/>
          </p:cNvSpPr>
          <p:nvPr/>
        </p:nvSpPr>
        <p:spPr bwMode="auto">
          <a:xfrm>
            <a:off x="3472441" y="3753502"/>
            <a:ext cx="2751746" cy="1324598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FC0128"/>
              </a:buClr>
              <a:buSzPct val="7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C0128"/>
              </a:buClr>
              <a:buSzPct val="65000"/>
              <a:buFont typeface="Arial Unicode MS" panose="020B0604020202020204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3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Cache Definition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We can now more clearly define a cache as:</a:t>
            </a:r>
            <a:endParaRPr lang="en-GB" dirty="0"/>
          </a:p>
          <a:p>
            <a:pPr marL="400050" lvl="1" indent="0">
              <a:buNone/>
              <a:defRPr/>
            </a:pPr>
            <a:r>
              <a:rPr lang="en-GB" dirty="0"/>
              <a:t>“a </a:t>
            </a:r>
            <a:r>
              <a:rPr lang="en-GB" i="1" dirty="0"/>
              <a:t>small</a:t>
            </a:r>
            <a:r>
              <a:rPr lang="en-GB" dirty="0"/>
              <a:t> storage area located </a:t>
            </a:r>
            <a:r>
              <a:rPr lang="en-GB" i="1" dirty="0"/>
              <a:t>close</a:t>
            </a:r>
            <a:r>
              <a:rPr lang="en-GB" dirty="0"/>
              <a:t> to a processing unit, which stores recently-used data taken from a </a:t>
            </a:r>
            <a:r>
              <a:rPr lang="en-GB" i="1" dirty="0"/>
              <a:t>larger</a:t>
            </a:r>
            <a:r>
              <a:rPr lang="en-GB" dirty="0"/>
              <a:t>, but </a:t>
            </a:r>
            <a:r>
              <a:rPr lang="en-GB" i="1" dirty="0"/>
              <a:t>more distant </a:t>
            </a:r>
            <a:r>
              <a:rPr lang="en-GB" dirty="0"/>
              <a:t>and</a:t>
            </a:r>
            <a:r>
              <a:rPr lang="en-GB" i="1" dirty="0"/>
              <a:t> slower</a:t>
            </a:r>
            <a:r>
              <a:rPr lang="en-GB" dirty="0"/>
              <a:t>, storage area”</a:t>
            </a:r>
            <a:endParaRPr lang="en-GB" dirty="0"/>
          </a:p>
          <a:p>
            <a:pPr>
              <a:defRPr/>
            </a:pPr>
            <a:r>
              <a:rPr lang="en-GB" dirty="0"/>
              <a:t>This definition can apply to the CPU caches, disk caches … and to </a:t>
            </a:r>
            <a:r>
              <a:rPr lang="en-GB" i="1" dirty="0"/>
              <a:t>other</a:t>
            </a:r>
            <a:r>
              <a:rPr lang="en-GB" dirty="0"/>
              <a:t> caches that we will see later.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BUT REMEMBER 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GB" dirty="0"/>
              <a:t>The cache </a:t>
            </a:r>
            <a:r>
              <a:rPr lang="en-GB" i="1" dirty="0">
                <a:solidFill>
                  <a:srgbClr val="FF0000"/>
                </a:solidFill>
              </a:rPr>
              <a:t>does not</a:t>
            </a:r>
            <a:r>
              <a:rPr lang="en-GB" dirty="0"/>
              <a:t> speed up the calculations performed by the CPU</a:t>
            </a:r>
            <a:endParaRPr lang="en-GB" dirty="0"/>
          </a:p>
          <a:p>
            <a:pPr lvl="1">
              <a:defRPr/>
            </a:pPr>
            <a:r>
              <a:rPr lang="en-GB" dirty="0"/>
              <a:t>The cache </a:t>
            </a:r>
            <a:r>
              <a:rPr lang="en-GB" i="1" dirty="0">
                <a:solidFill>
                  <a:srgbClr val="FF0000"/>
                </a:solidFill>
              </a:rPr>
              <a:t>does not</a:t>
            </a:r>
            <a:r>
              <a:rPr lang="en-GB" dirty="0"/>
              <a:t> speed up the memory</a:t>
            </a:r>
            <a:endParaRPr lang="en-GB" dirty="0"/>
          </a:p>
          <a:p>
            <a:pPr lvl="1">
              <a:defRPr/>
            </a:pPr>
            <a:r>
              <a:rPr lang="en-GB" dirty="0"/>
              <a:t>The cache </a:t>
            </a:r>
            <a:r>
              <a:rPr lang="en-GB" i="1" dirty="0">
                <a:solidFill>
                  <a:srgbClr val="FF0000"/>
                </a:solidFill>
              </a:rPr>
              <a:t>does not</a:t>
            </a:r>
            <a:r>
              <a:rPr lang="en-GB" dirty="0"/>
              <a:t> speed up memory read or write cycles</a:t>
            </a:r>
            <a:endParaRPr lang="en-GB" dirty="0"/>
          </a:p>
          <a:p>
            <a:pPr lvl="1">
              <a:defRPr/>
            </a:pPr>
            <a:r>
              <a:rPr lang="en-GB" dirty="0"/>
              <a:t>The cache </a:t>
            </a:r>
            <a:r>
              <a:rPr lang="en-GB" i="1" dirty="0">
                <a:solidFill>
                  <a:srgbClr val="4365E2"/>
                </a:solidFill>
              </a:rPr>
              <a:t>does</a:t>
            </a:r>
            <a:r>
              <a:rPr lang="en-GB" i="1" dirty="0">
                <a:solidFill>
                  <a:srgbClr val="FF0000"/>
                </a:solidFill>
              </a:rPr>
              <a:t> </a:t>
            </a:r>
            <a:r>
              <a:rPr lang="en-GB" dirty="0"/>
              <a:t>increase the overall speed of the fetch-execute cycle by </a:t>
            </a:r>
            <a:r>
              <a:rPr lang="en-GB" i="1" dirty="0">
                <a:solidFill>
                  <a:srgbClr val="4365E2"/>
                </a:solidFill>
              </a:rPr>
              <a:t>reducing </a:t>
            </a:r>
            <a:r>
              <a:rPr lang="en-GB" dirty="0"/>
              <a:t>the number of main memory reads/writes that are required (and it does this </a:t>
            </a:r>
            <a:r>
              <a:rPr lang="en-GB" i="1" dirty="0">
                <a:solidFill>
                  <a:srgbClr val="4365E2"/>
                </a:solidFill>
              </a:rPr>
              <a:t>automatically</a:t>
            </a:r>
            <a:r>
              <a:rPr lang="en-GB" dirty="0"/>
              <a:t>)</a:t>
            </a:r>
            <a:endParaRPr lang="en-GB" dirty="0"/>
          </a:p>
          <a:p>
            <a:pPr lvl="1">
              <a:defRPr/>
            </a:pPr>
            <a:r>
              <a:rPr lang="en-GB" dirty="0"/>
              <a:t>The cache requires </a:t>
            </a:r>
            <a:r>
              <a:rPr lang="en-GB" i="1" dirty="0">
                <a:solidFill>
                  <a:srgbClr val="4365E2"/>
                </a:solidFill>
              </a:rPr>
              <a:t>no management</a:t>
            </a:r>
            <a:r>
              <a:rPr lang="en-GB" dirty="0"/>
              <a:t> by the CPU, OS or user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2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Summary</a:t>
            </a:r>
            <a:endParaRPr lang="en-GB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>
              <a:defRPr/>
            </a:pPr>
            <a:r>
              <a:rPr lang="en-GB" dirty="0"/>
              <a:t>We have </a:t>
            </a:r>
            <a:r>
              <a:rPr lang="en-GB"/>
              <a:t>seen:</a:t>
            </a:r>
            <a:endParaRPr lang="en-GB"/>
          </a:p>
          <a:p>
            <a:pPr>
              <a:defRPr/>
            </a:pPr>
            <a:endParaRPr lang="en-GB" dirty="0"/>
          </a:p>
          <a:p>
            <a:pPr marL="0" lvl="1">
              <a:defRPr/>
            </a:pPr>
            <a:r>
              <a:rPr lang="en-GB" dirty="0">
                <a:sym typeface="+mn-ea"/>
              </a:rPr>
              <a:t>cache </a:t>
            </a:r>
            <a:r>
              <a:rPr lang="en-US" altLang="en-GB" dirty="0">
                <a:sym typeface="+mn-ea"/>
              </a:rPr>
              <a:t>mapping</a:t>
            </a:r>
            <a:r>
              <a:rPr lang="en-GB" dirty="0">
                <a:sym typeface="+mn-ea"/>
              </a:rPr>
              <a:t>- how to </a:t>
            </a:r>
            <a:r>
              <a:rPr lang="en-US" altLang="en-GB" dirty="0">
                <a:sym typeface="+mn-ea"/>
              </a:rPr>
              <a:t>copy </a:t>
            </a:r>
            <a:r>
              <a:rPr lang="en-GB" dirty="0">
                <a:sym typeface="+mn-ea"/>
              </a:rPr>
              <a:t>it</a:t>
            </a:r>
            <a:endParaRPr lang="en-GB" dirty="0">
              <a:sym typeface="+mn-ea"/>
            </a:endParaRPr>
          </a:p>
          <a:p>
            <a:pPr marL="0" lvl="1">
              <a:defRPr/>
            </a:pPr>
            <a:endParaRPr lang="en-GB" dirty="0"/>
          </a:p>
          <a:p>
            <a:pPr marL="0" lvl="1">
              <a:defRPr/>
            </a:pPr>
            <a:r>
              <a:rPr lang="en-GB" dirty="0">
                <a:sym typeface="+mn-ea"/>
              </a:rPr>
              <a:t>cache </a:t>
            </a:r>
            <a:r>
              <a:rPr lang="en-US" altLang="en-GB" dirty="0">
                <a:sym typeface="+mn-ea"/>
              </a:rPr>
              <a:t>updating</a:t>
            </a:r>
            <a:r>
              <a:rPr lang="en-GB" dirty="0">
                <a:sym typeface="+mn-ea"/>
              </a:rPr>
              <a:t>- how to </a:t>
            </a:r>
            <a:r>
              <a:rPr lang="en-US" altLang="en-GB" dirty="0">
                <a:sym typeface="+mn-ea"/>
              </a:rPr>
              <a:t>overwrite </a:t>
            </a:r>
            <a:r>
              <a:rPr lang="en-GB" dirty="0">
                <a:sym typeface="+mn-ea"/>
              </a:rPr>
              <a:t>it</a:t>
            </a:r>
            <a:endParaRPr lang="en-GB" dirty="0"/>
          </a:p>
          <a:p>
            <a:pPr>
              <a:defRPr/>
            </a:pPr>
            <a:endParaRPr lang="en-GB" dirty="0"/>
          </a:p>
          <a:p>
            <a:pPr lvl="1">
              <a:defRPr/>
            </a:pPr>
            <a:r>
              <a:rPr lang="en-GB" dirty="0"/>
              <a:t>cache coherence - how to maintain it</a:t>
            </a:r>
            <a:endParaRPr lang="en-GB" dirty="0"/>
          </a:p>
          <a:p>
            <a:pPr marL="0" lvl="1" indent="0">
              <a:buNone/>
              <a:defRPr/>
            </a:pPr>
            <a:endParaRPr lang="en-GB" dirty="0"/>
          </a:p>
          <a:p>
            <a:pPr lvl="1">
              <a:defRPr/>
            </a:pPr>
            <a:r>
              <a:rPr lang="en-GB" dirty="0"/>
              <a:t>caches in the Intel processors</a:t>
            </a: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A4366-3849-4631-886C-2154D6D60AF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dii.csu.edu.cn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2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3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4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5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6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7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8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9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10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11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12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13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14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15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ags/tag16.xml><?xml version="1.0" encoding="utf-8"?>
<p:tagLst xmlns:p="http://schemas.openxmlformats.org/presentationml/2006/main">
  <p:tag name="KSO_WM_DIAGRAM_VIRTUALLY_FRAME" val="{&quot;height&quot;:313.9996062992126,&quot;left&quot;:159.95692913385827,&quot;top&quot;:152.48519685039372,&quot;width&quot;:277.8750393700787}"/>
</p:tagLst>
</file>

<file path=ppt/theme/theme1.xml><?xml version="1.0" encoding="utf-8"?>
<a:theme xmlns:a="http://schemas.openxmlformats.org/drawingml/2006/main" name="diicsu">
  <a:themeElements>
    <a:clrScheme name="University of Dundee colours">
      <a:dk1>
        <a:srgbClr val="464646"/>
      </a:dk1>
      <a:lt1>
        <a:sysClr val="window" lastClr="FFFFFF"/>
      </a:lt1>
      <a:dk2>
        <a:srgbClr val="DDD9D6"/>
      </a:dk2>
      <a:lt2>
        <a:srgbClr val="FFFFFF"/>
      </a:lt2>
      <a:accent1>
        <a:srgbClr val="4365E2"/>
      </a:accent1>
      <a:accent2>
        <a:srgbClr val="A1B2F0"/>
      </a:accent2>
      <a:accent3>
        <a:srgbClr val="FF6264"/>
      </a:accent3>
      <a:accent4>
        <a:srgbClr val="FFB0B1"/>
      </a:accent4>
      <a:accent5>
        <a:srgbClr val="01D17C"/>
      </a:accent5>
      <a:accent6>
        <a:srgbClr val="80E8BD"/>
      </a:accent6>
      <a:hlink>
        <a:srgbClr val="4365E2"/>
      </a:hlink>
      <a:folHlink>
        <a:srgbClr val="FF6264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E1AD08E6C4EC4C99DA94898F3BEEA6" ma:contentTypeVersion="12" ma:contentTypeDescription="Create a new document." ma:contentTypeScope="" ma:versionID="68e24eb073f2a7537a5c2af757b9c69f">
  <xsd:schema xmlns:xsd="http://www.w3.org/2001/XMLSchema" xmlns:xs="http://www.w3.org/2001/XMLSchema" xmlns:p="http://schemas.microsoft.com/office/2006/metadata/properties" xmlns:ns2="9d87457a-dd41-435b-9930-4d78cdfcb6d7" xmlns:ns3="58b89f83-7267-4e05-9cc9-553559b8ec9f" targetNamespace="http://schemas.microsoft.com/office/2006/metadata/properties" ma:root="true" ma:fieldsID="30ab884c2eb9986072101a8dc40ffc95" ns2:_="" ns3:_="">
    <xsd:import namespace="9d87457a-dd41-435b-9930-4d78cdfcb6d7"/>
    <xsd:import namespace="58b89f83-7267-4e05-9cc9-553559b8ec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7457a-dd41-435b-9930-4d78cdfcb6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5643730-4106-43af-9ce9-7aa0c1c95a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89f83-7267-4e05-9cc9-553559b8e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87457a-dd41-435b-9930-4d78cdfcb6d7">
      <Terms xmlns="http://schemas.microsoft.com/office/infopath/2007/PartnerControls"/>
    </lcf76f155ced4ddcb4097134ff3c332f>
    <MediaLengthInSeconds xmlns="9d87457a-dd41-435b-9930-4d78cdfcb6d7" xsi:nil="true"/>
    <SharedWithUsers xmlns="58b89f83-7267-4e05-9cc9-553559b8ec9f">
      <UserInfo>
        <DisplayName/>
        <AccountId xsi:nil="true"/>
        <AccountType/>
      </UserInfo>
    </SharedWithUsers>
  </documentManagement>
</p:properties>
</file>

<file path=customXml/itemProps17.xml><?xml version="1.0" encoding="utf-8"?>
<ds:datastoreItem xmlns:ds="http://schemas.openxmlformats.org/officeDocument/2006/customXml" ds:itemID="{21261EA0-0F14-4BEA-8976-D87F9E48EA59}">
  <ds:schemaRefs/>
</ds:datastoreItem>
</file>

<file path=customXml/itemProps18.xml><?xml version="1.0" encoding="utf-8"?>
<ds:datastoreItem xmlns:ds="http://schemas.openxmlformats.org/officeDocument/2006/customXml" ds:itemID="{A75EE14B-039E-47DB-8A40-F331DA709983}">
  <ds:schemaRefs/>
</ds:datastoreItem>
</file>

<file path=customXml/itemProps19.xml><?xml version="1.0" encoding="utf-8"?>
<ds:datastoreItem xmlns:ds="http://schemas.openxmlformats.org/officeDocument/2006/customXml" ds:itemID="{8BD38C4A-D112-4E0F-A946-9B2777BAE8C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7362</Words>
  <Application>WPS 演示</Application>
  <PresentationFormat>宽屏</PresentationFormat>
  <Paragraphs>289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Calibri</vt:lpstr>
      <vt:lpstr>Arial Unicode MS</vt:lpstr>
      <vt:lpstr>微软雅黑</vt:lpstr>
      <vt:lpstr>Arial Unicode MS</vt:lpstr>
      <vt:lpstr>Times New Roman</vt:lpstr>
      <vt:lpstr>Arial Unicode MS</vt:lpstr>
      <vt:lpstr>等线</vt:lpstr>
      <vt:lpstr>Wingdings</vt:lpstr>
      <vt:lpstr>diicsu</vt:lpstr>
      <vt:lpstr> DI22004 Computer Systems 2B</vt:lpstr>
      <vt:lpstr>Revision: the cache</vt:lpstr>
      <vt:lpstr>Some issues</vt:lpstr>
      <vt:lpstr>Cache Updating</vt:lpstr>
      <vt:lpstr>Cache sizes</vt:lpstr>
      <vt:lpstr>Which way?</vt:lpstr>
      <vt:lpstr>Cache update strategies</vt:lpstr>
      <vt:lpstr>Which way?</vt:lpstr>
      <vt:lpstr>Cache Coherence</vt:lpstr>
      <vt:lpstr>Multi-level caches</vt:lpstr>
      <vt:lpstr>Multi-level caches</vt:lpstr>
      <vt:lpstr>Cache coherence</vt:lpstr>
      <vt:lpstr>Multi-level caches</vt:lpstr>
      <vt:lpstr>Write-through</vt:lpstr>
      <vt:lpstr>Write-back</vt:lpstr>
      <vt:lpstr>External coherence</vt:lpstr>
      <vt:lpstr>MESI protocol</vt:lpstr>
      <vt:lpstr>Caches in Intel Processors</vt:lpstr>
      <vt:lpstr>The Pentium Cache </vt:lpstr>
      <vt:lpstr>The Pentium Cache </vt:lpstr>
      <vt:lpstr> Caching History</vt:lpstr>
      <vt:lpstr> Caching History</vt:lpstr>
      <vt:lpstr>Pentium III Cache</vt:lpstr>
      <vt:lpstr>Your Cache</vt:lpstr>
      <vt:lpstr>Cache Definition</vt:lpstr>
      <vt:lpstr>BUT REMEMBER …</vt:lpstr>
      <vt:lpstr>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Erin Talbot</dc:creator>
  <cp:lastModifiedBy>王磊</cp:lastModifiedBy>
  <cp:revision>388</cp:revision>
  <dcterms:created xsi:type="dcterms:W3CDTF">2016-12-19T09:45:00Z</dcterms:created>
  <dcterms:modified xsi:type="dcterms:W3CDTF">2026-03-07T13:32:40Z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0x010100C7E1AD08E6C4EC4C99DA94898F3BEEA6</vt:lpwstr>
  </property>
  <property fmtid="{D5CDD505-2E9C-101B-9397-08002B2CF9AE}" pid="3" name="Order">
    <vt:lpwstr>482900.000000000</vt:lpwstr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  <property fmtid="{D5CDD505-2E9C-101B-9397-08002B2CF9AE}" pid="13" name="ICV">
    <vt:lpwstr>F2B3F0E5E6C7465A8C9091C11898A987_12</vt:lpwstr>
  </property>
  <property fmtid="{D5CDD505-2E9C-101B-9397-08002B2CF9AE}" pid="14" name="KSOProductBuildVer">
    <vt:lpwstr>2052-12.1.0.24657</vt:lpwstr>
  </property>
</Properties>
</file>